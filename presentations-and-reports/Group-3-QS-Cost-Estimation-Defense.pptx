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61" r:id="rId1"/>
  </p:sldMasterIdLst>
  <p:notesMasterIdLst>
    <p:notesMasterId r:id="rId39"/>
  </p:notesMasterIdLst>
  <p:sldIdLst>
    <p:sldId id="256" r:id="rId2"/>
    <p:sldId id="257" r:id="rId3"/>
    <p:sldId id="259" r:id="rId4"/>
    <p:sldId id="303" r:id="rId5"/>
    <p:sldId id="261" r:id="rId6"/>
    <p:sldId id="264" r:id="rId7"/>
    <p:sldId id="266" r:id="rId8"/>
    <p:sldId id="263" r:id="rId9"/>
    <p:sldId id="270" r:id="rId10"/>
    <p:sldId id="274" r:id="rId11"/>
    <p:sldId id="271" r:id="rId12"/>
    <p:sldId id="301" r:id="rId13"/>
    <p:sldId id="316" r:id="rId14"/>
    <p:sldId id="317" r:id="rId15"/>
    <p:sldId id="272" r:id="rId16"/>
    <p:sldId id="268" r:id="rId17"/>
    <p:sldId id="295" r:id="rId18"/>
    <p:sldId id="296" r:id="rId19"/>
    <p:sldId id="315" r:id="rId20"/>
    <p:sldId id="299" r:id="rId21"/>
    <p:sldId id="280" r:id="rId22"/>
    <p:sldId id="281" r:id="rId23"/>
    <p:sldId id="310" r:id="rId24"/>
    <p:sldId id="291" r:id="rId25"/>
    <p:sldId id="283" r:id="rId26"/>
    <p:sldId id="285" r:id="rId27"/>
    <p:sldId id="287" r:id="rId28"/>
    <p:sldId id="320" r:id="rId29"/>
    <p:sldId id="279" r:id="rId30"/>
    <p:sldId id="289" r:id="rId31"/>
    <p:sldId id="305" r:id="rId32"/>
    <p:sldId id="306" r:id="rId33"/>
    <p:sldId id="319" r:id="rId34"/>
    <p:sldId id="300" r:id="rId35"/>
    <p:sldId id="304" r:id="rId36"/>
    <p:sldId id="312" r:id="rId37"/>
    <p:sldId id="314" r:id="rId38"/>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Usama Shahid" id="{0EE6E0F0-593B-4B59-AEAE-9A21FA2638B8}">
          <p14:sldIdLst>
            <p14:sldId id="256"/>
            <p14:sldId id="257"/>
            <p14:sldId id="259"/>
            <p14:sldId id="303"/>
            <p14:sldId id="261"/>
            <p14:sldId id="264"/>
            <p14:sldId id="266"/>
            <p14:sldId id="263"/>
            <p14:sldId id="270"/>
            <p14:sldId id="274"/>
            <p14:sldId id="271"/>
            <p14:sldId id="301"/>
            <p14:sldId id="316"/>
          </p14:sldIdLst>
        </p14:section>
        <p14:section name="Kh. Awais Ahmed" id="{50887ECC-E022-4154-953A-9A4967C21C2A}">
          <p14:sldIdLst>
            <p14:sldId id="317"/>
            <p14:sldId id="272"/>
            <p14:sldId id="268"/>
            <p14:sldId id="295"/>
            <p14:sldId id="296"/>
            <p14:sldId id="315"/>
            <p14:sldId id="299"/>
            <p14:sldId id="280"/>
            <p14:sldId id="281"/>
            <p14:sldId id="310"/>
            <p14:sldId id="291"/>
          </p14:sldIdLst>
        </p14:section>
        <p14:section name="Asfand Yar Tahir" id="{389DA6EB-C760-428A-943A-E4B98A07D8EE}">
          <p14:sldIdLst>
            <p14:sldId id="283"/>
            <p14:sldId id="285"/>
            <p14:sldId id="287"/>
          </p14:sldIdLst>
        </p14:section>
        <p14:section name="Fraz Saeed" id="{AC465E7C-EFF6-4710-8C05-772B5AA0C9AE}">
          <p14:sldIdLst>
            <p14:sldId id="320"/>
            <p14:sldId id="279"/>
            <p14:sldId id="289"/>
            <p14:sldId id="305"/>
            <p14:sldId id="306"/>
            <p14:sldId id="319"/>
          </p14:sldIdLst>
        </p14:section>
        <p14:section name="Hassan Farooq" id="{F78FB50D-F9E2-4B12-9888-FFAB88E2A78A}">
          <p14:sldIdLst>
            <p14:sldId id="300"/>
            <p14:sldId id="304"/>
            <p14:sldId id="312"/>
            <p14:sldId id="314"/>
          </p14:sldIdLst>
        </p14:section>
      </p14:sectionLst>
    </p:ex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EEC3C"/>
    <a:srgbClr val="1D3A00"/>
    <a:srgbClr val="6C1A00"/>
    <a:srgbClr val="003296"/>
    <a:srgbClr val="E39A39"/>
    <a:srgbClr val="FFC901"/>
    <a:srgbClr val="FE9202"/>
    <a:srgbClr val="FEA402"/>
    <a:srgbClr val="D68B1C"/>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6176" autoAdjust="0"/>
  </p:normalViewPr>
  <p:slideViewPr>
    <p:cSldViewPr>
      <p:cViewPr varScale="1">
        <p:scale>
          <a:sx n="85" d="100"/>
          <a:sy n="85" d="100"/>
        </p:scale>
        <p:origin x="966" y="-228"/>
      </p:cViewPr>
      <p:guideLst>
        <p:guide orient="horz" pos="1620"/>
        <p:guide pos="2880"/>
      </p:guideLst>
    </p:cSldViewPr>
  </p:slideViewPr>
  <p:notesTextViewPr>
    <p:cViewPr>
      <p:scale>
        <a:sx n="1" d="1"/>
        <a:sy n="1" d="1"/>
      </p:scale>
      <p:origin x="0" y="0"/>
    </p:cViewPr>
  </p:notesTextViewPr>
  <p:sorterViewPr>
    <p:cViewPr>
      <p:scale>
        <a:sx n="100" d="100"/>
        <a:sy n="100" d="100"/>
      </p:scale>
      <p:origin x="0" y="0"/>
    </p:cViewPr>
  </p:sorterViewPr>
  <p:gridSpacing cx="152705" cy="152705"/>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A95FC51-3168-432E-AD2A-CA70653E03E2}" type="datetimeFigureOut">
              <a:rPr lang="en-US" smtClean="0"/>
              <a:t>12/13/2018</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356E6D6-901E-4AF7-9C18-FAFCFF19A9A9}" type="slidenum">
              <a:rPr lang="en-US" smtClean="0"/>
              <a:t>‹#›</a:t>
            </a:fld>
            <a:endParaRPr lang="en-US"/>
          </a:p>
        </p:txBody>
      </p:sp>
    </p:spTree>
    <p:extLst>
      <p:ext uri="{BB962C8B-B14F-4D97-AF65-F5344CB8AC3E}">
        <p14:creationId xmlns:p14="http://schemas.microsoft.com/office/powerpoint/2010/main" val="26826082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4356E6D6-901E-4AF7-9C18-FAFCFF19A9A9}" type="slidenum">
              <a:rPr lang="en-US" smtClean="0"/>
              <a:t>11</a:t>
            </a:fld>
            <a:endParaRPr lang="en-US"/>
          </a:p>
        </p:txBody>
      </p:sp>
    </p:spTree>
    <p:extLst>
      <p:ext uri="{BB962C8B-B14F-4D97-AF65-F5344CB8AC3E}">
        <p14:creationId xmlns:p14="http://schemas.microsoft.com/office/powerpoint/2010/main" val="181387210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356E6D6-901E-4AF7-9C18-FAFCFF19A9A9}" type="slidenum">
              <a:rPr lang="en-US" smtClean="0"/>
              <a:t>24</a:t>
            </a:fld>
            <a:endParaRPr lang="en-US"/>
          </a:p>
        </p:txBody>
      </p:sp>
    </p:spTree>
    <p:extLst>
      <p:ext uri="{BB962C8B-B14F-4D97-AF65-F5344CB8AC3E}">
        <p14:creationId xmlns:p14="http://schemas.microsoft.com/office/powerpoint/2010/main" val="390130013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4356E6D6-901E-4AF7-9C18-FAFCFF19A9A9}" type="slidenum">
              <a:rPr lang="en-US" smtClean="0"/>
              <a:t>36</a:t>
            </a:fld>
            <a:endParaRPr lang="en-US"/>
          </a:p>
        </p:txBody>
      </p:sp>
    </p:spTree>
    <p:extLst>
      <p:ext uri="{BB962C8B-B14F-4D97-AF65-F5344CB8AC3E}">
        <p14:creationId xmlns:p14="http://schemas.microsoft.com/office/powerpoint/2010/main" val="272630184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3182138"/>
            <a:ext cx="6726063" cy="206957"/>
          </a:xfrm>
          <a:prstGeom prst="rect">
            <a:avLst/>
          </a:prstGeom>
        </p:spPr>
      </p:pic>
      <p:pic>
        <p:nvPicPr>
          <p:cNvPr id="8" name="Picture 7"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33787" y="3182884"/>
            <a:ext cx="2307831" cy="207705"/>
          </a:xfrm>
          <a:prstGeom prst="rect">
            <a:avLst/>
          </a:prstGeom>
        </p:spPr>
      </p:pic>
      <p:sp>
        <p:nvSpPr>
          <p:cNvPr id="9" name="Rectangle 8"/>
          <p:cNvSpPr/>
          <p:nvPr/>
        </p:nvSpPr>
        <p:spPr bwMode="ltGray">
          <a:xfrm>
            <a:off x="0" y="1942559"/>
            <a:ext cx="6726064" cy="1245249"/>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6833787" y="1942559"/>
            <a:ext cx="2307832" cy="124524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510241" y="2050282"/>
            <a:ext cx="6108101" cy="1029803"/>
          </a:xfrm>
        </p:spPr>
        <p:txBody>
          <a:bodyPr anchor="b">
            <a:noAutofit/>
          </a:bodyPr>
          <a:lstStyle>
            <a:lvl1pPr algn="r">
              <a:defRPr sz="4050"/>
            </a:lvl1pPr>
          </a:lstStyle>
          <a:p>
            <a:r>
              <a:rPr lang="en-US" smtClean="0"/>
              <a:t>Click to edit Master title style</a:t>
            </a:r>
            <a:endParaRPr lang="en-US" dirty="0"/>
          </a:p>
        </p:txBody>
      </p:sp>
      <p:sp>
        <p:nvSpPr>
          <p:cNvPr id="3" name="Subtitle 2"/>
          <p:cNvSpPr>
            <a:spLocks noGrp="1"/>
          </p:cNvSpPr>
          <p:nvPr>
            <p:ph type="subTitle" idx="1"/>
          </p:nvPr>
        </p:nvSpPr>
        <p:spPr>
          <a:xfrm>
            <a:off x="510241" y="3295530"/>
            <a:ext cx="6108101" cy="838265"/>
          </a:xfrm>
        </p:spPr>
        <p:txBody>
          <a:bodyPr>
            <a:normAutofit/>
          </a:bodyPr>
          <a:lstStyle>
            <a:lvl1pPr marL="0" indent="0" algn="r">
              <a:buNone/>
              <a:defRPr sz="15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53074F12-AA26-4AC8-9962-C36BB8F32554}" type="datetimeFigureOut">
              <a:rPr lang="en-US" smtClean="0"/>
              <a:pPr/>
              <a:t>12/13/2018</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6941510" y="2062753"/>
            <a:ext cx="878916" cy="1017332"/>
          </a:xfrm>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268802206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15" name="Picture 14"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477680"/>
            <a:ext cx="7828359" cy="240873"/>
          </a:xfrm>
          <a:prstGeom prst="rect">
            <a:avLst/>
          </a:prstGeom>
        </p:spPr>
      </p:pic>
      <p:pic>
        <p:nvPicPr>
          <p:cNvPr id="16" name="Picture 15" descr="HD-ShadowShort.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939370" y="1478425"/>
            <a:ext cx="1202248" cy="108203"/>
          </a:xfrm>
          <a:prstGeom prst="rect">
            <a:avLst/>
          </a:prstGeom>
        </p:spPr>
      </p:pic>
      <p:sp>
        <p:nvSpPr>
          <p:cNvPr id="17" name="Rectangle 16"/>
          <p:cNvSpPr/>
          <p:nvPr/>
        </p:nvSpPr>
        <p:spPr bwMode="ltGray">
          <a:xfrm>
            <a:off x="0" y="457200"/>
            <a:ext cx="7828359" cy="1026149"/>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 name="Rectangle 17"/>
          <p:cNvSpPr/>
          <p:nvPr/>
        </p:nvSpPr>
        <p:spPr>
          <a:xfrm>
            <a:off x="7939371" y="457200"/>
            <a:ext cx="1202248" cy="102614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53074F12-AA26-4AC8-9962-C36BB8F32554}" type="datetimeFigureOut">
              <a:rPr lang="en-US" smtClean="0"/>
              <a:pPr/>
              <a:t>12/13/2018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8026514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7" name="Picture 6"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3065180"/>
            <a:ext cx="7828359" cy="240873"/>
          </a:xfrm>
          <a:prstGeom prst="rect">
            <a:avLst/>
          </a:prstGeom>
        </p:spPr>
      </p:pic>
      <p:pic>
        <p:nvPicPr>
          <p:cNvPr id="8" name="Picture 7" descr="HD-ShadowShort.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939368" y="3065926"/>
            <a:ext cx="1202248" cy="108203"/>
          </a:xfrm>
          <a:prstGeom prst="rect">
            <a:avLst/>
          </a:prstGeom>
        </p:spPr>
      </p:pic>
      <p:sp>
        <p:nvSpPr>
          <p:cNvPr id="9" name="Rectangle 8"/>
          <p:cNvSpPr/>
          <p:nvPr/>
        </p:nvSpPr>
        <p:spPr bwMode="ltGray">
          <a:xfrm>
            <a:off x="-2" y="2044700"/>
            <a:ext cx="7828359" cy="1026149"/>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7939369" y="2044700"/>
            <a:ext cx="1202248" cy="102614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510242" y="2152421"/>
            <a:ext cx="7210395" cy="818091"/>
          </a:xfrm>
        </p:spPr>
        <p:txBody>
          <a:bodyPr anchor="ctr">
            <a:normAutofit/>
          </a:bodyPr>
          <a:lstStyle>
            <a:lvl1pPr algn="r">
              <a:defRPr sz="2700"/>
            </a:lvl1pPr>
          </a:lstStyle>
          <a:p>
            <a:r>
              <a:rPr lang="en-US" smtClean="0"/>
              <a:t>Click to edit Master title style</a:t>
            </a:r>
            <a:endParaRPr lang="en-US" dirty="0"/>
          </a:p>
        </p:txBody>
      </p:sp>
      <p:sp>
        <p:nvSpPr>
          <p:cNvPr id="3" name="Text Placeholder 2"/>
          <p:cNvSpPr>
            <a:spLocks noGrp="1"/>
          </p:cNvSpPr>
          <p:nvPr>
            <p:ph type="body" idx="1"/>
          </p:nvPr>
        </p:nvSpPr>
        <p:spPr>
          <a:xfrm>
            <a:off x="510242" y="3174129"/>
            <a:ext cx="7210395" cy="1278013"/>
          </a:xfrm>
        </p:spPr>
        <p:txBody>
          <a:bodyPr>
            <a:normAutofit/>
          </a:bodyPr>
          <a:lstStyle>
            <a:lvl1pPr marL="0" indent="0" algn="r">
              <a:buNone/>
              <a:defRPr sz="15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3074F12-AA26-4AC8-9962-C36BB8F32554}" type="datetimeFigureOut">
              <a:rPr lang="en-US" smtClean="0"/>
              <a:pPr/>
              <a:t>12/13/2018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8047092" y="2152422"/>
            <a:ext cx="865613" cy="818092"/>
          </a:xfrm>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4412110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477680"/>
            <a:ext cx="7828359" cy="240873"/>
          </a:xfrm>
          <a:prstGeom prst="rect">
            <a:avLst/>
          </a:prstGeom>
        </p:spPr>
      </p:pic>
      <p:pic>
        <p:nvPicPr>
          <p:cNvPr id="9" name="Picture 8" descr="HD-ShadowShort.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939370" y="1478425"/>
            <a:ext cx="1202248" cy="108203"/>
          </a:xfrm>
          <a:prstGeom prst="rect">
            <a:avLst/>
          </a:prstGeom>
        </p:spPr>
      </p:pic>
      <p:sp>
        <p:nvSpPr>
          <p:cNvPr id="10" name="Rectangle 9"/>
          <p:cNvSpPr/>
          <p:nvPr/>
        </p:nvSpPr>
        <p:spPr bwMode="ltGray">
          <a:xfrm>
            <a:off x="0" y="457200"/>
            <a:ext cx="7828359" cy="1026149"/>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7939371" y="457200"/>
            <a:ext cx="1202248" cy="102614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510240" y="1752655"/>
            <a:ext cx="3523769" cy="2699487"/>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195592" y="1752655"/>
            <a:ext cx="3525044" cy="2699487"/>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53074F12-AA26-4AC8-9962-C36BB8F32554}" type="datetimeFigureOut">
              <a:rPr lang="en-US" smtClean="0"/>
              <a:pPr/>
              <a:t>12/13/2018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9063085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0" name="Picture 9"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477680"/>
            <a:ext cx="7828359" cy="240873"/>
          </a:xfrm>
          <a:prstGeom prst="rect">
            <a:avLst/>
          </a:prstGeom>
        </p:spPr>
      </p:pic>
      <p:pic>
        <p:nvPicPr>
          <p:cNvPr id="11" name="Picture 10" descr="HD-ShadowShort.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939370" y="1478425"/>
            <a:ext cx="1202248" cy="108203"/>
          </a:xfrm>
          <a:prstGeom prst="rect">
            <a:avLst/>
          </a:prstGeom>
        </p:spPr>
      </p:pic>
      <p:sp>
        <p:nvSpPr>
          <p:cNvPr id="12" name="Rectangle 11"/>
          <p:cNvSpPr/>
          <p:nvPr/>
        </p:nvSpPr>
        <p:spPr bwMode="ltGray">
          <a:xfrm>
            <a:off x="0" y="457200"/>
            <a:ext cx="7828359" cy="1026149"/>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Rectangle 12"/>
          <p:cNvSpPr/>
          <p:nvPr/>
        </p:nvSpPr>
        <p:spPr>
          <a:xfrm>
            <a:off x="7939371" y="457200"/>
            <a:ext cx="1202248" cy="102614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510240" y="564922"/>
            <a:ext cx="7210397" cy="810703"/>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679763" y="1752655"/>
            <a:ext cx="3354245" cy="519851"/>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Click to edit Master text styles</a:t>
            </a:r>
          </a:p>
        </p:txBody>
      </p:sp>
      <p:sp>
        <p:nvSpPr>
          <p:cNvPr id="4" name="Content Placeholder 3"/>
          <p:cNvSpPr>
            <a:spLocks noGrp="1"/>
          </p:cNvSpPr>
          <p:nvPr>
            <p:ph sz="half" idx="2"/>
          </p:nvPr>
        </p:nvSpPr>
        <p:spPr>
          <a:xfrm>
            <a:off x="510242" y="2272507"/>
            <a:ext cx="3523766" cy="2179634"/>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365116" y="1752655"/>
            <a:ext cx="3355521" cy="519057"/>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Click to edit Master text styles</a:t>
            </a:r>
          </a:p>
        </p:txBody>
      </p:sp>
      <p:sp>
        <p:nvSpPr>
          <p:cNvPr id="6" name="Content Placeholder 5"/>
          <p:cNvSpPr>
            <a:spLocks noGrp="1"/>
          </p:cNvSpPr>
          <p:nvPr>
            <p:ph sz="quarter" idx="4"/>
          </p:nvPr>
        </p:nvSpPr>
        <p:spPr>
          <a:xfrm>
            <a:off x="4195593" y="2272507"/>
            <a:ext cx="3525044" cy="2179634"/>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53074F12-AA26-4AC8-9962-C36BB8F32554}" type="datetimeFigureOut">
              <a:rPr lang="en-US" smtClean="0"/>
              <a:pPr/>
              <a:t>12/13/2018</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23989825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6" name="Picture 5"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477680"/>
            <a:ext cx="7828359" cy="240873"/>
          </a:xfrm>
          <a:prstGeom prst="rect">
            <a:avLst/>
          </a:prstGeom>
        </p:spPr>
      </p:pic>
      <p:pic>
        <p:nvPicPr>
          <p:cNvPr id="7" name="Picture 6" descr="HD-ShadowShort.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939370" y="1478425"/>
            <a:ext cx="1202248" cy="108203"/>
          </a:xfrm>
          <a:prstGeom prst="rect">
            <a:avLst/>
          </a:prstGeom>
        </p:spPr>
      </p:pic>
      <p:sp>
        <p:nvSpPr>
          <p:cNvPr id="8" name="Rectangle 7"/>
          <p:cNvSpPr/>
          <p:nvPr/>
        </p:nvSpPr>
        <p:spPr bwMode="ltGray">
          <a:xfrm>
            <a:off x="0" y="457200"/>
            <a:ext cx="7828359" cy="1026149"/>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7939371" y="457200"/>
            <a:ext cx="1202248" cy="102614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53074F12-AA26-4AC8-9962-C36BB8F32554}" type="datetimeFigureOut">
              <a:rPr lang="en-US" smtClean="0"/>
              <a:pPr/>
              <a:t>12/13/2018</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418861950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Picture 4" descr="HD-ShadowShort.p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939370" y="1478425"/>
            <a:ext cx="1202248" cy="108203"/>
          </a:xfrm>
          <a:prstGeom prst="rect">
            <a:avLst/>
          </a:prstGeom>
        </p:spPr>
      </p:pic>
      <p:sp>
        <p:nvSpPr>
          <p:cNvPr id="6" name="Rectangle 5"/>
          <p:cNvSpPr/>
          <p:nvPr/>
        </p:nvSpPr>
        <p:spPr>
          <a:xfrm>
            <a:off x="7939371" y="457200"/>
            <a:ext cx="1202248" cy="102614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Date Placeholder 1"/>
          <p:cNvSpPr>
            <a:spLocks noGrp="1"/>
          </p:cNvSpPr>
          <p:nvPr>
            <p:ph type="dt" sz="half" idx="10"/>
          </p:nvPr>
        </p:nvSpPr>
        <p:spPr/>
        <p:txBody>
          <a:bodyPr/>
          <a:lstStyle/>
          <a:p>
            <a:fld id="{53074F12-AA26-4AC8-9962-C36BB8F32554}" type="datetimeFigureOut">
              <a:rPr lang="en-US" smtClean="0"/>
              <a:pPr/>
              <a:t>12/13/2018</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28794849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477680"/>
            <a:ext cx="7828359" cy="240873"/>
          </a:xfrm>
          <a:prstGeom prst="rect">
            <a:avLst/>
          </a:prstGeom>
        </p:spPr>
      </p:pic>
      <p:pic>
        <p:nvPicPr>
          <p:cNvPr id="9" name="Picture 8" descr="HD-ShadowShort.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939370" y="1478425"/>
            <a:ext cx="1202248" cy="108203"/>
          </a:xfrm>
          <a:prstGeom prst="rect">
            <a:avLst/>
          </a:prstGeom>
        </p:spPr>
      </p:pic>
      <p:sp>
        <p:nvSpPr>
          <p:cNvPr id="10" name="Rectangle 9"/>
          <p:cNvSpPr/>
          <p:nvPr/>
        </p:nvSpPr>
        <p:spPr bwMode="ltGray">
          <a:xfrm>
            <a:off x="0" y="457200"/>
            <a:ext cx="7828359" cy="1026149"/>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7939371" y="457200"/>
            <a:ext cx="1202248" cy="102614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510241" y="564920"/>
            <a:ext cx="7210394" cy="810705"/>
          </a:xfrm>
        </p:spPr>
        <p:txBody>
          <a:bodyPr anchor="ctr">
            <a:normAutofit/>
          </a:bodyPr>
          <a:lstStyle>
            <a:lvl1pPr>
              <a:defRPr sz="2700"/>
            </a:lvl1pPr>
          </a:lstStyle>
          <a:p>
            <a:r>
              <a:rPr lang="en-US" smtClean="0"/>
              <a:t>Click to edit Master title style</a:t>
            </a:r>
            <a:endParaRPr lang="en-US" dirty="0"/>
          </a:p>
        </p:txBody>
      </p:sp>
      <p:sp>
        <p:nvSpPr>
          <p:cNvPr id="3" name="Content Placeholder 2"/>
          <p:cNvSpPr>
            <a:spLocks noGrp="1"/>
          </p:cNvSpPr>
          <p:nvPr>
            <p:ph idx="1"/>
          </p:nvPr>
        </p:nvSpPr>
        <p:spPr>
          <a:xfrm>
            <a:off x="3514385" y="1752655"/>
            <a:ext cx="4206252" cy="2699485"/>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510241" y="1752654"/>
            <a:ext cx="2842559" cy="2699488"/>
          </a:xfrm>
        </p:spPr>
        <p:txBody>
          <a:bodyPr anchor="ct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3074F12-AA26-4AC8-9962-C36BB8F32554}" type="datetimeFigureOut">
              <a:rPr lang="en-US" smtClean="0"/>
              <a:pPr/>
              <a:t>12/13/2018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41681239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477680"/>
            <a:ext cx="7828359" cy="240873"/>
          </a:xfrm>
          <a:prstGeom prst="rect">
            <a:avLst/>
          </a:prstGeom>
        </p:spPr>
      </p:pic>
      <p:pic>
        <p:nvPicPr>
          <p:cNvPr id="9" name="Picture 8" descr="HD-ShadowShort.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939370" y="1478425"/>
            <a:ext cx="1202248" cy="108203"/>
          </a:xfrm>
          <a:prstGeom prst="rect">
            <a:avLst/>
          </a:prstGeom>
        </p:spPr>
      </p:pic>
      <p:sp>
        <p:nvSpPr>
          <p:cNvPr id="10" name="Rectangle 9"/>
          <p:cNvSpPr/>
          <p:nvPr/>
        </p:nvSpPr>
        <p:spPr bwMode="ltGray">
          <a:xfrm>
            <a:off x="0" y="457200"/>
            <a:ext cx="7828359" cy="1026149"/>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7939371" y="457200"/>
            <a:ext cx="1202248" cy="102614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510243" y="564921"/>
            <a:ext cx="7210393" cy="810704"/>
          </a:xfrm>
        </p:spPr>
        <p:txBody>
          <a:bodyPr anchor="ctr">
            <a:normAutofit/>
          </a:bodyPr>
          <a:lstStyle>
            <a:lvl1pPr>
              <a:defRPr sz="27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3651250" y="1752656"/>
            <a:ext cx="4069387" cy="2699484"/>
          </a:xfrm>
          <a:noFill/>
          <a:ln>
            <a:noFill/>
          </a:ln>
          <a:effectLst>
            <a:outerShdw blurRad="76200" dist="63500" dir="5040000" algn="tl" rotWithShape="0">
              <a:srgbClr val="000000">
                <a:alpha val="41000"/>
              </a:srgbClr>
            </a:outerShdw>
          </a:effectLst>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smtClean="0"/>
              <a:t>Click icon to add picture</a:t>
            </a:r>
            <a:endParaRPr lang="en-US" dirty="0"/>
          </a:p>
        </p:txBody>
      </p:sp>
      <p:sp>
        <p:nvSpPr>
          <p:cNvPr id="4" name="Text Placeholder 3"/>
          <p:cNvSpPr>
            <a:spLocks noGrp="1"/>
          </p:cNvSpPr>
          <p:nvPr>
            <p:ph type="body" sz="half" idx="2"/>
          </p:nvPr>
        </p:nvSpPr>
        <p:spPr>
          <a:xfrm>
            <a:off x="510242" y="1752655"/>
            <a:ext cx="2907192" cy="2699486"/>
          </a:xfrm>
        </p:spPr>
        <p:txBody>
          <a:bodyPr anchor="ct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3074F12-AA26-4AC8-9962-C36BB8F32554}" type="datetimeFigureOut">
              <a:rPr lang="en-US" smtClean="0"/>
              <a:pPr/>
              <a:t>12/13/2018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31541161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4446471"/>
            <a:ext cx="7828359" cy="240873"/>
          </a:xfrm>
          <a:prstGeom prst="rect">
            <a:avLst/>
          </a:prstGeom>
        </p:spPr>
      </p:pic>
      <p:pic>
        <p:nvPicPr>
          <p:cNvPr id="9" name="Picture 8" descr="HD-ShadowShort.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939370" y="4447216"/>
            <a:ext cx="1202248" cy="108203"/>
          </a:xfrm>
          <a:prstGeom prst="rect">
            <a:avLst/>
          </a:prstGeom>
        </p:spPr>
      </p:pic>
      <p:sp>
        <p:nvSpPr>
          <p:cNvPr id="10" name="Rectangle 9"/>
          <p:cNvSpPr/>
          <p:nvPr/>
        </p:nvSpPr>
        <p:spPr bwMode="ltGray">
          <a:xfrm>
            <a:off x="0" y="3425991"/>
            <a:ext cx="7828359" cy="1026149"/>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7939371" y="3425991"/>
            <a:ext cx="1202248" cy="102614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510242" y="3533713"/>
            <a:ext cx="7210394" cy="339788"/>
          </a:xfrm>
        </p:spPr>
        <p:txBody>
          <a:bodyPr anchor="b">
            <a:normAutofit/>
          </a:bodyPr>
          <a:lstStyle>
            <a:lvl1pPr>
              <a:defRPr sz="18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510242" y="457198"/>
            <a:ext cx="7210394" cy="2692181"/>
          </a:xfrm>
          <a:noFill/>
          <a:ln>
            <a:noFill/>
          </a:ln>
          <a:effectLst>
            <a:outerShdw blurRad="76200" dist="63500" dir="5040000" algn="tl" rotWithShape="0">
              <a:srgbClr val="000000">
                <a:alpha val="41000"/>
              </a:srgbClr>
            </a:outerShdw>
          </a:effectLst>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smtClean="0"/>
              <a:t>Click icon to add picture</a:t>
            </a:r>
            <a:endParaRPr lang="en-US" dirty="0"/>
          </a:p>
        </p:txBody>
      </p:sp>
      <p:sp>
        <p:nvSpPr>
          <p:cNvPr id="4" name="Text Placeholder 3"/>
          <p:cNvSpPr>
            <a:spLocks noGrp="1"/>
          </p:cNvSpPr>
          <p:nvPr>
            <p:ph type="body" sz="half" idx="2"/>
          </p:nvPr>
        </p:nvSpPr>
        <p:spPr>
          <a:xfrm>
            <a:off x="510239" y="3877188"/>
            <a:ext cx="7210397" cy="46722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3074F12-AA26-4AC8-9962-C36BB8F32554}" type="datetimeFigureOut">
              <a:rPr lang="en-US" smtClean="0"/>
              <a:pPr/>
              <a:t>12/13/2018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8047092" y="3533482"/>
            <a:ext cx="865613" cy="818092"/>
          </a:xfrm>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10707681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4446471"/>
            <a:ext cx="7828359" cy="240873"/>
          </a:xfrm>
          <a:prstGeom prst="rect">
            <a:avLst/>
          </a:prstGeom>
        </p:spPr>
      </p:pic>
      <p:pic>
        <p:nvPicPr>
          <p:cNvPr id="9" name="Picture 8" descr="HD-ShadowShort.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939370" y="4447216"/>
            <a:ext cx="1202248" cy="108203"/>
          </a:xfrm>
          <a:prstGeom prst="rect">
            <a:avLst/>
          </a:prstGeom>
        </p:spPr>
      </p:pic>
      <p:sp>
        <p:nvSpPr>
          <p:cNvPr id="10" name="Rectangle 9"/>
          <p:cNvSpPr/>
          <p:nvPr/>
        </p:nvSpPr>
        <p:spPr bwMode="ltGray">
          <a:xfrm>
            <a:off x="0" y="3425991"/>
            <a:ext cx="7828359" cy="1026149"/>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7939371" y="3425991"/>
            <a:ext cx="1202248" cy="102614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510241" y="457198"/>
            <a:ext cx="7210394" cy="2694563"/>
          </a:xfrm>
        </p:spPr>
        <p:txBody>
          <a:bodyPr anchor="ctr"/>
          <a:lstStyle>
            <a:lvl1pPr>
              <a:defRPr sz="2400"/>
            </a:lvl1pPr>
          </a:lstStyle>
          <a:p>
            <a:r>
              <a:rPr lang="en-US" smtClean="0"/>
              <a:t>Click to edit Master title style</a:t>
            </a:r>
            <a:endParaRPr lang="en-US" dirty="0"/>
          </a:p>
        </p:txBody>
      </p:sp>
      <p:sp>
        <p:nvSpPr>
          <p:cNvPr id="4" name="Text Placeholder 3"/>
          <p:cNvSpPr>
            <a:spLocks noGrp="1"/>
          </p:cNvSpPr>
          <p:nvPr>
            <p:ph type="body" sz="half" idx="2"/>
          </p:nvPr>
        </p:nvSpPr>
        <p:spPr>
          <a:xfrm>
            <a:off x="510242" y="3533712"/>
            <a:ext cx="7210394" cy="818092"/>
          </a:xfrm>
        </p:spPr>
        <p:txBody>
          <a:bodyPr anchor="ct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3074F12-AA26-4AC8-9962-C36BB8F32554}" type="datetimeFigureOut">
              <a:rPr lang="en-US" smtClean="0"/>
              <a:pPr/>
              <a:t>12/13/2018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8047092" y="3533712"/>
            <a:ext cx="865613" cy="818092"/>
          </a:xfrm>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22083748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1" name="Picture 10"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4446471"/>
            <a:ext cx="7828359" cy="240873"/>
          </a:xfrm>
          <a:prstGeom prst="rect">
            <a:avLst/>
          </a:prstGeom>
        </p:spPr>
      </p:pic>
      <p:pic>
        <p:nvPicPr>
          <p:cNvPr id="13" name="Picture 12" descr="HD-ShadowShort.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939370" y="4447216"/>
            <a:ext cx="1202248" cy="108203"/>
          </a:xfrm>
          <a:prstGeom prst="rect">
            <a:avLst/>
          </a:prstGeom>
        </p:spPr>
      </p:pic>
      <p:sp>
        <p:nvSpPr>
          <p:cNvPr id="14" name="Rectangle 13"/>
          <p:cNvSpPr/>
          <p:nvPr/>
        </p:nvSpPr>
        <p:spPr bwMode="ltGray">
          <a:xfrm>
            <a:off x="0" y="3425991"/>
            <a:ext cx="7828359" cy="1026149"/>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Rectangle 14"/>
          <p:cNvSpPr/>
          <p:nvPr/>
        </p:nvSpPr>
        <p:spPr>
          <a:xfrm>
            <a:off x="7939371" y="3425991"/>
            <a:ext cx="1202248" cy="102614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45892" y="457199"/>
            <a:ext cx="6539158" cy="2277046"/>
          </a:xfrm>
        </p:spPr>
        <p:txBody>
          <a:bodyPr anchor="ctr"/>
          <a:lstStyle>
            <a:lvl1pPr>
              <a:defRPr sz="2400"/>
            </a:lvl1pPr>
          </a:lstStyle>
          <a:p>
            <a:r>
              <a:rPr lang="en-US" smtClean="0"/>
              <a:t>Click to edit Master title style</a:t>
            </a:r>
            <a:endParaRPr lang="en-US" dirty="0"/>
          </a:p>
        </p:txBody>
      </p:sp>
      <p:sp>
        <p:nvSpPr>
          <p:cNvPr id="12" name="Text Placeholder 3"/>
          <p:cNvSpPr>
            <a:spLocks noGrp="1"/>
          </p:cNvSpPr>
          <p:nvPr>
            <p:ph type="body" sz="half" idx="13"/>
          </p:nvPr>
        </p:nvSpPr>
        <p:spPr>
          <a:xfrm>
            <a:off x="1051717" y="2740034"/>
            <a:ext cx="6117434" cy="411726"/>
          </a:xfrm>
        </p:spPr>
        <p:txBody>
          <a:bodyPr anchor="t">
            <a:normAutofit/>
          </a:bodyPr>
          <a:lstStyle>
            <a:lvl1pPr marL="0" indent="0">
              <a:buNone/>
              <a:defRPr sz="105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smtClean="0"/>
              <a:t>Click to edit Master text styles</a:t>
            </a:r>
          </a:p>
        </p:txBody>
      </p:sp>
      <p:sp>
        <p:nvSpPr>
          <p:cNvPr id="4" name="Text Placeholder 3"/>
          <p:cNvSpPr>
            <a:spLocks noGrp="1"/>
          </p:cNvSpPr>
          <p:nvPr>
            <p:ph type="body" sz="half" idx="2"/>
          </p:nvPr>
        </p:nvSpPr>
        <p:spPr>
          <a:xfrm>
            <a:off x="510242" y="3533712"/>
            <a:ext cx="7210394" cy="818092"/>
          </a:xfrm>
        </p:spPr>
        <p:txBody>
          <a:bodyPr anchor="ctr">
            <a:normAutofit/>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3074F12-AA26-4AC8-9962-C36BB8F32554}" type="datetimeFigureOut">
              <a:rPr lang="en-US" smtClean="0"/>
              <a:pPr/>
              <a:t>12/13/2018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8047092" y="3532444"/>
            <a:ext cx="865613" cy="818092"/>
          </a:xfrm>
        </p:spPr>
        <p:txBody>
          <a:bodyPr/>
          <a:lstStyle/>
          <a:p>
            <a:fld id="{B82CCC60-E8CD-4174-8B1A-7DF615B22EEF}" type="slidenum">
              <a:rPr lang="en-US" smtClean="0"/>
              <a:pPr/>
              <a:t>‹#›</a:t>
            </a:fld>
            <a:endParaRPr lang="en-US"/>
          </a:p>
        </p:txBody>
      </p:sp>
      <p:sp>
        <p:nvSpPr>
          <p:cNvPr id="16" name="TextBox 15"/>
          <p:cNvSpPr txBox="1"/>
          <p:nvPr/>
        </p:nvSpPr>
        <p:spPr>
          <a:xfrm>
            <a:off x="437679" y="561087"/>
            <a:ext cx="457200" cy="438582"/>
          </a:xfrm>
          <a:prstGeom prst="rect">
            <a:avLst/>
          </a:prstGeom>
        </p:spPr>
        <p:txBody>
          <a:bodyPr vert="horz" lIns="68580" tIns="34290" rIns="68580" bIns="3429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5400" dirty="0">
                <a:solidFill>
                  <a:schemeClr val="tx1"/>
                </a:solidFill>
                <a:effectLst/>
              </a:rPr>
              <a:t>“</a:t>
            </a:r>
          </a:p>
        </p:txBody>
      </p:sp>
      <p:sp>
        <p:nvSpPr>
          <p:cNvPr id="17" name="TextBox 16"/>
          <p:cNvSpPr txBox="1"/>
          <p:nvPr/>
        </p:nvSpPr>
        <p:spPr>
          <a:xfrm>
            <a:off x="7247107" y="2275143"/>
            <a:ext cx="457200" cy="438582"/>
          </a:xfrm>
          <a:prstGeom prst="rect">
            <a:avLst/>
          </a:prstGeom>
        </p:spPr>
        <p:txBody>
          <a:bodyPr vert="horz" lIns="68580" tIns="34290" rIns="68580" bIns="3429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5400" dirty="0">
                <a:solidFill>
                  <a:schemeClr val="tx1"/>
                </a:solidFill>
                <a:effectLst/>
              </a:rPr>
              <a:t>”</a:t>
            </a:r>
          </a:p>
        </p:txBody>
      </p:sp>
    </p:spTree>
    <p:extLst>
      <p:ext uri="{BB962C8B-B14F-4D97-AF65-F5344CB8AC3E}">
        <p14:creationId xmlns:p14="http://schemas.microsoft.com/office/powerpoint/2010/main" val="340546064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9" name="Picture 8"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4446471"/>
            <a:ext cx="7828359" cy="240873"/>
          </a:xfrm>
          <a:prstGeom prst="rect">
            <a:avLst/>
          </a:prstGeom>
        </p:spPr>
      </p:pic>
      <p:pic>
        <p:nvPicPr>
          <p:cNvPr id="10" name="Picture 9" descr="HD-ShadowShort.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939370" y="4447216"/>
            <a:ext cx="1202248" cy="108203"/>
          </a:xfrm>
          <a:prstGeom prst="rect">
            <a:avLst/>
          </a:prstGeom>
        </p:spPr>
      </p:pic>
      <p:sp>
        <p:nvSpPr>
          <p:cNvPr id="11" name="Rectangle 10"/>
          <p:cNvSpPr/>
          <p:nvPr/>
        </p:nvSpPr>
        <p:spPr bwMode="ltGray">
          <a:xfrm>
            <a:off x="0" y="3425991"/>
            <a:ext cx="7828359" cy="1026149"/>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Rectangle 11"/>
          <p:cNvSpPr/>
          <p:nvPr/>
        </p:nvSpPr>
        <p:spPr>
          <a:xfrm>
            <a:off x="7939371" y="3425991"/>
            <a:ext cx="1202248" cy="102614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510239" y="3533712"/>
            <a:ext cx="7210397" cy="441401"/>
          </a:xfrm>
        </p:spPr>
        <p:txBody>
          <a:bodyPr anchor="b"/>
          <a:lstStyle>
            <a:lvl1pPr>
              <a:defRPr sz="2400"/>
            </a:lvl1pPr>
          </a:lstStyle>
          <a:p>
            <a:r>
              <a:rPr lang="en-US" smtClean="0"/>
              <a:t>Click to edit Master title style</a:t>
            </a:r>
            <a:endParaRPr lang="en-US" dirty="0"/>
          </a:p>
        </p:txBody>
      </p:sp>
      <p:sp>
        <p:nvSpPr>
          <p:cNvPr id="4" name="Text Placeholder 3"/>
          <p:cNvSpPr>
            <a:spLocks noGrp="1"/>
          </p:cNvSpPr>
          <p:nvPr>
            <p:ph type="body" sz="half" idx="2"/>
          </p:nvPr>
        </p:nvSpPr>
        <p:spPr>
          <a:xfrm>
            <a:off x="510240" y="3975112"/>
            <a:ext cx="7210397" cy="376691"/>
          </a:xfrm>
        </p:spPr>
        <p:txBody>
          <a:bodyPr anchor="t"/>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3074F12-AA26-4AC8-9962-C36BB8F32554}" type="datetimeFigureOut">
              <a:rPr lang="en-US" smtClean="0"/>
              <a:pPr/>
              <a:t>12/13/2018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8047092" y="3532444"/>
            <a:ext cx="865613" cy="818092"/>
          </a:xfrm>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258137079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pic>
        <p:nvPicPr>
          <p:cNvPr id="13" name="Picture 12"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477680"/>
            <a:ext cx="7828359" cy="240873"/>
          </a:xfrm>
          <a:prstGeom prst="rect">
            <a:avLst/>
          </a:prstGeom>
        </p:spPr>
      </p:pic>
      <p:pic>
        <p:nvPicPr>
          <p:cNvPr id="14" name="Picture 13" descr="HD-ShadowShort.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939370" y="1478425"/>
            <a:ext cx="1202248" cy="108203"/>
          </a:xfrm>
          <a:prstGeom prst="rect">
            <a:avLst/>
          </a:prstGeom>
        </p:spPr>
      </p:pic>
      <p:sp>
        <p:nvSpPr>
          <p:cNvPr id="16" name="Rectangle 15"/>
          <p:cNvSpPr/>
          <p:nvPr/>
        </p:nvSpPr>
        <p:spPr bwMode="ltGray">
          <a:xfrm>
            <a:off x="0" y="457200"/>
            <a:ext cx="7828359" cy="1026149"/>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Rectangle 16"/>
          <p:cNvSpPr/>
          <p:nvPr/>
        </p:nvSpPr>
        <p:spPr>
          <a:xfrm>
            <a:off x="7939371" y="457200"/>
            <a:ext cx="1202248" cy="102614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Title 1"/>
          <p:cNvSpPr>
            <a:spLocks noGrp="1"/>
          </p:cNvSpPr>
          <p:nvPr>
            <p:ph type="title"/>
          </p:nvPr>
        </p:nvSpPr>
        <p:spPr>
          <a:xfrm>
            <a:off x="501917" y="564921"/>
            <a:ext cx="7218720" cy="810704"/>
          </a:xfrm>
        </p:spPr>
        <p:txBody>
          <a:bodyPr/>
          <a:lstStyle/>
          <a:p>
            <a:r>
              <a:rPr lang="en-US" smtClean="0"/>
              <a:t>Click to edit Master title style</a:t>
            </a:r>
            <a:endParaRPr lang="en-US" dirty="0"/>
          </a:p>
        </p:txBody>
      </p:sp>
      <p:sp>
        <p:nvSpPr>
          <p:cNvPr id="7" name="Text Placeholder 2"/>
          <p:cNvSpPr>
            <a:spLocks noGrp="1"/>
          </p:cNvSpPr>
          <p:nvPr>
            <p:ph type="body" idx="1"/>
          </p:nvPr>
        </p:nvSpPr>
        <p:spPr>
          <a:xfrm>
            <a:off x="495709" y="1752655"/>
            <a:ext cx="2302526" cy="432197"/>
          </a:xfrm>
        </p:spPr>
        <p:txBody>
          <a:bodyPr anchor="b">
            <a:noAutofit/>
          </a:bodyPr>
          <a:lstStyle>
            <a:lvl1pPr marL="0" indent="0">
              <a:buNone/>
              <a:defRPr sz="1800" b="0">
                <a:solidFill>
                  <a:schemeClr val="tx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Click to edit Master text styles</a:t>
            </a:r>
          </a:p>
        </p:txBody>
      </p:sp>
      <p:sp>
        <p:nvSpPr>
          <p:cNvPr id="8" name="Text Placeholder 3"/>
          <p:cNvSpPr>
            <a:spLocks noGrp="1"/>
          </p:cNvSpPr>
          <p:nvPr>
            <p:ph type="body" sz="half" idx="15"/>
          </p:nvPr>
        </p:nvSpPr>
        <p:spPr>
          <a:xfrm>
            <a:off x="510241" y="2267005"/>
            <a:ext cx="2287277" cy="2185135"/>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smtClean="0"/>
              <a:t>Click to edit Master text styles</a:t>
            </a:r>
          </a:p>
        </p:txBody>
      </p:sp>
      <p:sp>
        <p:nvSpPr>
          <p:cNvPr id="9" name="Text Placeholder 4"/>
          <p:cNvSpPr>
            <a:spLocks noGrp="1"/>
          </p:cNvSpPr>
          <p:nvPr>
            <p:ph type="body" sz="quarter" idx="3"/>
          </p:nvPr>
        </p:nvSpPr>
        <p:spPr>
          <a:xfrm>
            <a:off x="2967019" y="1752655"/>
            <a:ext cx="2297430" cy="432197"/>
          </a:xfrm>
        </p:spPr>
        <p:txBody>
          <a:bodyPr anchor="b">
            <a:noAutofit/>
          </a:bodyPr>
          <a:lstStyle>
            <a:lvl1pPr marL="0" indent="0">
              <a:buNone/>
              <a:defRPr sz="1800" b="0">
                <a:solidFill>
                  <a:schemeClr val="tx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Click to edit Master text styles</a:t>
            </a:r>
          </a:p>
        </p:txBody>
      </p:sp>
      <p:sp>
        <p:nvSpPr>
          <p:cNvPr id="10" name="Text Placeholder 3"/>
          <p:cNvSpPr>
            <a:spLocks noGrp="1"/>
          </p:cNvSpPr>
          <p:nvPr>
            <p:ph type="body" sz="half" idx="16"/>
          </p:nvPr>
        </p:nvSpPr>
        <p:spPr>
          <a:xfrm>
            <a:off x="2959103" y="2267005"/>
            <a:ext cx="2297430" cy="2185135"/>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smtClean="0"/>
              <a:t>Click to edit Master text styles</a:t>
            </a:r>
          </a:p>
        </p:txBody>
      </p:sp>
      <p:sp>
        <p:nvSpPr>
          <p:cNvPr id="11" name="Text Placeholder 4"/>
          <p:cNvSpPr>
            <a:spLocks noGrp="1"/>
          </p:cNvSpPr>
          <p:nvPr>
            <p:ph type="body" sz="quarter" idx="13"/>
          </p:nvPr>
        </p:nvSpPr>
        <p:spPr>
          <a:xfrm>
            <a:off x="5418117" y="1752655"/>
            <a:ext cx="2302519" cy="432197"/>
          </a:xfrm>
        </p:spPr>
        <p:txBody>
          <a:bodyPr anchor="b">
            <a:noAutofit/>
          </a:bodyPr>
          <a:lstStyle>
            <a:lvl1pPr marL="0" indent="0">
              <a:buNone/>
              <a:defRPr sz="1800" b="0">
                <a:solidFill>
                  <a:schemeClr val="tx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Click to edit Master text styles</a:t>
            </a:r>
          </a:p>
        </p:txBody>
      </p:sp>
      <p:sp>
        <p:nvSpPr>
          <p:cNvPr id="12" name="Text Placeholder 3"/>
          <p:cNvSpPr>
            <a:spLocks noGrp="1"/>
          </p:cNvSpPr>
          <p:nvPr>
            <p:ph type="body" sz="half" idx="17"/>
          </p:nvPr>
        </p:nvSpPr>
        <p:spPr>
          <a:xfrm>
            <a:off x="5418117" y="2267005"/>
            <a:ext cx="2302519" cy="2185135"/>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smtClean="0"/>
              <a:t>Click to edit Master text styles</a:t>
            </a:r>
          </a:p>
        </p:txBody>
      </p:sp>
      <p:sp>
        <p:nvSpPr>
          <p:cNvPr id="3" name="Date Placeholder 2"/>
          <p:cNvSpPr>
            <a:spLocks noGrp="1"/>
          </p:cNvSpPr>
          <p:nvPr>
            <p:ph type="dt" sz="half" idx="10"/>
          </p:nvPr>
        </p:nvSpPr>
        <p:spPr/>
        <p:txBody>
          <a:bodyPr/>
          <a:lstStyle/>
          <a:p>
            <a:fld id="{53074F12-AA26-4AC8-9962-C36BB8F32554}" type="datetimeFigureOut">
              <a:rPr lang="en-US" smtClean="0"/>
              <a:pPr/>
              <a:t>12/13/2018</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30824397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15" name="Picture 14"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477680"/>
            <a:ext cx="7828359" cy="240873"/>
          </a:xfrm>
          <a:prstGeom prst="rect">
            <a:avLst/>
          </a:prstGeom>
        </p:spPr>
      </p:pic>
      <p:pic>
        <p:nvPicPr>
          <p:cNvPr id="16" name="Picture 15" descr="HD-ShadowShort.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939370" y="1478425"/>
            <a:ext cx="1202248" cy="108203"/>
          </a:xfrm>
          <a:prstGeom prst="rect">
            <a:avLst/>
          </a:prstGeom>
        </p:spPr>
      </p:pic>
      <p:sp>
        <p:nvSpPr>
          <p:cNvPr id="17" name="Rectangle 16"/>
          <p:cNvSpPr/>
          <p:nvPr/>
        </p:nvSpPr>
        <p:spPr bwMode="ltGray">
          <a:xfrm>
            <a:off x="0" y="457200"/>
            <a:ext cx="7828359" cy="1026149"/>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 name="Rectangle 17"/>
          <p:cNvSpPr/>
          <p:nvPr/>
        </p:nvSpPr>
        <p:spPr>
          <a:xfrm>
            <a:off x="7939371" y="457200"/>
            <a:ext cx="1202248" cy="102614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0" name="Title 1"/>
          <p:cNvSpPr>
            <a:spLocks noGrp="1"/>
          </p:cNvSpPr>
          <p:nvPr>
            <p:ph type="title"/>
          </p:nvPr>
        </p:nvSpPr>
        <p:spPr>
          <a:xfrm>
            <a:off x="510242" y="564921"/>
            <a:ext cx="7210395" cy="810704"/>
          </a:xfrm>
        </p:spPr>
        <p:txBody>
          <a:bodyPr/>
          <a:lstStyle/>
          <a:p>
            <a:r>
              <a:rPr lang="en-US" smtClean="0"/>
              <a:t>Click to edit Master title style</a:t>
            </a:r>
            <a:endParaRPr lang="en-US" dirty="0"/>
          </a:p>
        </p:txBody>
      </p:sp>
      <p:sp>
        <p:nvSpPr>
          <p:cNvPr id="19" name="Text Placeholder 2"/>
          <p:cNvSpPr>
            <a:spLocks noGrp="1"/>
          </p:cNvSpPr>
          <p:nvPr>
            <p:ph type="body" idx="1"/>
          </p:nvPr>
        </p:nvSpPr>
        <p:spPr>
          <a:xfrm>
            <a:off x="510239" y="3223127"/>
            <a:ext cx="2287279" cy="432197"/>
          </a:xfrm>
        </p:spPr>
        <p:txBody>
          <a:bodyPr anchor="b">
            <a:noAutofit/>
          </a:bodyPr>
          <a:lstStyle>
            <a:lvl1pPr marL="0" indent="0">
              <a:buNone/>
              <a:defRPr sz="1800" b="0">
                <a:solidFill>
                  <a:schemeClr val="tx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Click to edit Master text styles</a:t>
            </a:r>
          </a:p>
        </p:txBody>
      </p:sp>
      <p:sp>
        <p:nvSpPr>
          <p:cNvPr id="20" name="Picture Placeholder 2"/>
          <p:cNvSpPr>
            <a:spLocks noGrp="1" noChangeAspect="1"/>
          </p:cNvSpPr>
          <p:nvPr>
            <p:ph type="pic" idx="15"/>
          </p:nvPr>
        </p:nvSpPr>
        <p:spPr>
          <a:xfrm>
            <a:off x="510239" y="1752655"/>
            <a:ext cx="2287279" cy="1143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smtClean="0"/>
              <a:t>Click icon to add picture</a:t>
            </a:r>
            <a:endParaRPr lang="en-US" dirty="0"/>
          </a:p>
        </p:txBody>
      </p:sp>
      <p:sp>
        <p:nvSpPr>
          <p:cNvPr id="21" name="Text Placeholder 3"/>
          <p:cNvSpPr>
            <a:spLocks noGrp="1"/>
          </p:cNvSpPr>
          <p:nvPr>
            <p:ph type="body" sz="half" idx="18"/>
          </p:nvPr>
        </p:nvSpPr>
        <p:spPr>
          <a:xfrm>
            <a:off x="510239" y="3655324"/>
            <a:ext cx="2287279" cy="796817"/>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smtClean="0"/>
              <a:t>Click to edit Master text styles</a:t>
            </a:r>
          </a:p>
        </p:txBody>
      </p:sp>
      <p:sp>
        <p:nvSpPr>
          <p:cNvPr id="22" name="Text Placeholder 4"/>
          <p:cNvSpPr>
            <a:spLocks noGrp="1"/>
          </p:cNvSpPr>
          <p:nvPr>
            <p:ph type="body" sz="quarter" idx="3"/>
          </p:nvPr>
        </p:nvSpPr>
        <p:spPr>
          <a:xfrm>
            <a:off x="2959103" y="3223127"/>
            <a:ext cx="2297430" cy="432197"/>
          </a:xfrm>
        </p:spPr>
        <p:txBody>
          <a:bodyPr anchor="b">
            <a:noAutofit/>
          </a:bodyPr>
          <a:lstStyle>
            <a:lvl1pPr marL="0" indent="0">
              <a:buNone/>
              <a:defRPr sz="1800" b="0">
                <a:solidFill>
                  <a:schemeClr val="tx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Click to edit Master text styles</a:t>
            </a:r>
          </a:p>
        </p:txBody>
      </p:sp>
      <p:sp>
        <p:nvSpPr>
          <p:cNvPr id="23" name="Picture Placeholder 2"/>
          <p:cNvSpPr>
            <a:spLocks noGrp="1" noChangeAspect="1"/>
          </p:cNvSpPr>
          <p:nvPr>
            <p:ph type="pic" idx="21"/>
          </p:nvPr>
        </p:nvSpPr>
        <p:spPr>
          <a:xfrm>
            <a:off x="2959103" y="1752655"/>
            <a:ext cx="2297430" cy="1143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smtClean="0"/>
              <a:t>Click icon to add picture</a:t>
            </a:r>
            <a:endParaRPr lang="en-US" dirty="0"/>
          </a:p>
        </p:txBody>
      </p:sp>
      <p:sp>
        <p:nvSpPr>
          <p:cNvPr id="24" name="Text Placeholder 3"/>
          <p:cNvSpPr>
            <a:spLocks noGrp="1"/>
          </p:cNvSpPr>
          <p:nvPr>
            <p:ph type="body" sz="half" idx="19"/>
          </p:nvPr>
        </p:nvSpPr>
        <p:spPr>
          <a:xfrm>
            <a:off x="2958088" y="3655323"/>
            <a:ext cx="2300473" cy="796817"/>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smtClean="0"/>
              <a:t>Click to edit Master text styles</a:t>
            </a:r>
          </a:p>
        </p:txBody>
      </p:sp>
      <p:sp>
        <p:nvSpPr>
          <p:cNvPr id="25" name="Text Placeholder 4"/>
          <p:cNvSpPr>
            <a:spLocks noGrp="1"/>
          </p:cNvSpPr>
          <p:nvPr>
            <p:ph type="body" sz="quarter" idx="13"/>
          </p:nvPr>
        </p:nvSpPr>
        <p:spPr>
          <a:xfrm>
            <a:off x="5423009" y="3223127"/>
            <a:ext cx="2297629" cy="432197"/>
          </a:xfrm>
        </p:spPr>
        <p:txBody>
          <a:bodyPr anchor="b">
            <a:noAutofit/>
          </a:bodyPr>
          <a:lstStyle>
            <a:lvl1pPr marL="0" indent="0">
              <a:buNone/>
              <a:defRPr sz="1800" b="0">
                <a:solidFill>
                  <a:schemeClr val="tx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Click to edit Master text styles</a:t>
            </a:r>
          </a:p>
        </p:txBody>
      </p:sp>
      <p:sp>
        <p:nvSpPr>
          <p:cNvPr id="26" name="Picture Placeholder 2"/>
          <p:cNvSpPr>
            <a:spLocks noGrp="1" noChangeAspect="1"/>
          </p:cNvSpPr>
          <p:nvPr>
            <p:ph type="pic" idx="22"/>
          </p:nvPr>
        </p:nvSpPr>
        <p:spPr>
          <a:xfrm>
            <a:off x="5423008" y="1752655"/>
            <a:ext cx="2297629" cy="1143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smtClean="0"/>
              <a:t>Click icon to add picture</a:t>
            </a:r>
            <a:endParaRPr lang="en-US" dirty="0"/>
          </a:p>
        </p:txBody>
      </p:sp>
      <p:sp>
        <p:nvSpPr>
          <p:cNvPr id="27" name="Text Placeholder 3"/>
          <p:cNvSpPr>
            <a:spLocks noGrp="1"/>
          </p:cNvSpPr>
          <p:nvPr>
            <p:ph type="body" sz="half" idx="20"/>
          </p:nvPr>
        </p:nvSpPr>
        <p:spPr>
          <a:xfrm>
            <a:off x="5422915" y="3655321"/>
            <a:ext cx="2300672" cy="796817"/>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smtClean="0"/>
              <a:t>Click to edit Master text styles</a:t>
            </a:r>
          </a:p>
        </p:txBody>
      </p:sp>
      <p:sp>
        <p:nvSpPr>
          <p:cNvPr id="3" name="Date Placeholder 2"/>
          <p:cNvSpPr>
            <a:spLocks noGrp="1"/>
          </p:cNvSpPr>
          <p:nvPr>
            <p:ph type="dt" sz="half" idx="10"/>
          </p:nvPr>
        </p:nvSpPr>
        <p:spPr/>
        <p:txBody>
          <a:bodyPr/>
          <a:lstStyle/>
          <a:p>
            <a:fld id="{53074F12-AA26-4AC8-9962-C36BB8F32554}" type="datetimeFigureOut">
              <a:rPr lang="en-US" smtClean="0"/>
              <a:pPr/>
              <a:t>12/13/2018</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400196857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7" name="Picture 6"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477680"/>
            <a:ext cx="7828359" cy="240873"/>
          </a:xfrm>
          <a:prstGeom prst="rect">
            <a:avLst/>
          </a:prstGeom>
        </p:spPr>
      </p:pic>
      <p:pic>
        <p:nvPicPr>
          <p:cNvPr id="8" name="Picture 7" descr="HD-ShadowShort.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939370" y="1478425"/>
            <a:ext cx="1202248" cy="108203"/>
          </a:xfrm>
          <a:prstGeom prst="rect">
            <a:avLst/>
          </a:prstGeom>
        </p:spPr>
      </p:pic>
      <p:sp>
        <p:nvSpPr>
          <p:cNvPr id="9" name="Rectangle 8"/>
          <p:cNvSpPr/>
          <p:nvPr/>
        </p:nvSpPr>
        <p:spPr bwMode="ltGray">
          <a:xfrm>
            <a:off x="0" y="457200"/>
            <a:ext cx="7828359" cy="1026149"/>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7939371" y="457200"/>
            <a:ext cx="1202248" cy="102614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lvl1pPr algn="r">
              <a:defRPr/>
            </a:lvl1p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53074F12-AA26-4AC8-9962-C36BB8F32554}" type="datetimeFigureOut">
              <a:rPr lang="en-US" smtClean="0"/>
              <a:pPr/>
              <a:t>12/13/2018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200434523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p:nvPr/>
        </p:nvSpPr>
        <p:spPr bwMode="ltGray">
          <a:xfrm rot="5400000">
            <a:off x="6087155" y="1402046"/>
            <a:ext cx="3830241" cy="1026149"/>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rot="5400000">
            <a:off x="7401152" y="4029302"/>
            <a:ext cx="1202248" cy="102614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7596923" y="457198"/>
            <a:ext cx="805352" cy="326532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510241" y="457198"/>
            <a:ext cx="6652503" cy="3994942"/>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a:xfrm>
            <a:off x="5105344" y="4452141"/>
            <a:ext cx="2057400" cy="273844"/>
          </a:xfrm>
        </p:spPr>
        <p:txBody>
          <a:bodyPr/>
          <a:lstStyle/>
          <a:p>
            <a:fld id="{53074F12-AA26-4AC8-9962-C36BB8F32554}" type="datetimeFigureOut">
              <a:rPr lang="en-US" smtClean="0"/>
              <a:pPr/>
              <a:t>12/13/2018</a:t>
            </a:fld>
            <a:endParaRPr lang="en-US"/>
          </a:p>
        </p:txBody>
      </p:sp>
      <p:sp>
        <p:nvSpPr>
          <p:cNvPr id="5" name="Footer Placeholder 4"/>
          <p:cNvSpPr>
            <a:spLocks noGrp="1"/>
          </p:cNvSpPr>
          <p:nvPr>
            <p:ph type="ftr" sz="quarter" idx="11"/>
          </p:nvPr>
        </p:nvSpPr>
        <p:spPr>
          <a:xfrm>
            <a:off x="510241" y="4452141"/>
            <a:ext cx="4595104" cy="273844"/>
          </a:xfrm>
        </p:spPr>
        <p:txBody>
          <a:bodyPr/>
          <a:lstStyle/>
          <a:p>
            <a:endParaRPr lang="en-US"/>
          </a:p>
        </p:txBody>
      </p:sp>
      <p:sp>
        <p:nvSpPr>
          <p:cNvPr id="6" name="Slide Number Placeholder 5"/>
          <p:cNvSpPr>
            <a:spLocks noGrp="1"/>
          </p:cNvSpPr>
          <p:nvPr>
            <p:ph type="sldNum" sz="quarter" idx="12"/>
          </p:nvPr>
        </p:nvSpPr>
        <p:spPr>
          <a:xfrm>
            <a:off x="7573163" y="4048975"/>
            <a:ext cx="865613" cy="818092"/>
          </a:xfrm>
        </p:spPr>
        <p:txBody>
          <a:bodyPr anchor="t"/>
          <a:lstStyle>
            <a:lvl1pPr algn="ctr">
              <a:defRPr/>
            </a:lvl1pPr>
          </a:lstStyle>
          <a:p>
            <a:fld id="{B82CCC60-E8CD-4174-8B1A-7DF615B22EEF}" type="slidenum">
              <a:rPr lang="en-US" smtClean="0"/>
              <a:pPr/>
              <a:t>‹#›</a:t>
            </a:fld>
            <a:endParaRPr lang="en-US"/>
          </a:p>
        </p:txBody>
      </p:sp>
      <p:pic>
        <p:nvPicPr>
          <p:cNvPr id="9" name="Picture 8" descr="E:\websites\free-power-point-templates\2012\logos.png">
            <a:extLst>
              <a:ext uri="{FF2B5EF4-FFF2-40B4-BE49-F238E27FC236}">
                <a16:creationId xmlns:a16="http://schemas.microsoft.com/office/drawing/2014/main" xmlns="" id="{8D62971F-577F-4CAC-9088-CCFF676EE314}"/>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tretch>
            <a:fillRect/>
          </a:stretch>
        </p:blipFill>
        <p:spPr bwMode="auto">
          <a:xfrm>
            <a:off x="3918306" y="2326213"/>
            <a:ext cx="1463784" cy="526961"/>
          </a:xfrm>
          <a:prstGeom prst="rect">
            <a:avLst/>
          </a:prstGeom>
          <a:noFill/>
          <a:ln>
            <a:no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471680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6" descr="hashOverlay-FullResolve.png"/>
          <p:cNvPicPr>
            <a:picLocks noChangeAspect="1"/>
          </p:cNvPicPr>
          <p:nvPr/>
        </p:nvPicPr>
        <p:blipFill>
          <a:blip r:embed="rId19">
            <a:alphaModFix amt="10000"/>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
        <p:nvSpPr>
          <p:cNvPr id="2" name="Title Placeholder 1"/>
          <p:cNvSpPr>
            <a:spLocks noGrp="1"/>
          </p:cNvSpPr>
          <p:nvPr>
            <p:ph type="title"/>
          </p:nvPr>
        </p:nvSpPr>
        <p:spPr>
          <a:xfrm>
            <a:off x="510241" y="564921"/>
            <a:ext cx="7210396" cy="810704"/>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510241" y="1752655"/>
            <a:ext cx="7210396" cy="2699487"/>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5663236" y="4452141"/>
            <a:ext cx="2057400" cy="273844"/>
          </a:xfrm>
          <a:prstGeom prst="rect">
            <a:avLst/>
          </a:prstGeom>
        </p:spPr>
        <p:txBody>
          <a:bodyPr vert="horz" lIns="91440" tIns="45720" rIns="91440" bIns="45720" rtlCol="0" anchor="ctr"/>
          <a:lstStyle>
            <a:lvl1pPr algn="r">
              <a:defRPr sz="788">
                <a:solidFill>
                  <a:schemeClr val="tx1">
                    <a:tint val="75000"/>
                  </a:schemeClr>
                </a:solidFill>
              </a:defRPr>
            </a:lvl1pPr>
          </a:lstStyle>
          <a:p>
            <a:fld id="{53074F12-AA26-4AC8-9962-C36BB8F32554}" type="datetimeFigureOut">
              <a:rPr lang="en-US" smtClean="0"/>
              <a:pPr/>
              <a:t>12/13/2018</a:t>
            </a:fld>
            <a:endParaRPr lang="en-US"/>
          </a:p>
        </p:txBody>
      </p:sp>
      <p:sp>
        <p:nvSpPr>
          <p:cNvPr id="5" name="Footer Placeholder 4"/>
          <p:cNvSpPr>
            <a:spLocks noGrp="1"/>
          </p:cNvSpPr>
          <p:nvPr>
            <p:ph type="ftr" sz="quarter" idx="3"/>
          </p:nvPr>
        </p:nvSpPr>
        <p:spPr>
          <a:xfrm>
            <a:off x="510241" y="4452141"/>
            <a:ext cx="5152995" cy="273844"/>
          </a:xfrm>
          <a:prstGeom prst="rect">
            <a:avLst/>
          </a:prstGeom>
        </p:spPr>
        <p:txBody>
          <a:bodyPr vert="horz" lIns="91440" tIns="45720" rIns="91440" bIns="45720" rtlCol="0" anchor="ctr"/>
          <a:lstStyle>
            <a:lvl1pPr algn="l">
              <a:defRPr sz="788">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047092" y="564921"/>
            <a:ext cx="865613" cy="818092"/>
          </a:xfrm>
          <a:prstGeom prst="rect">
            <a:avLst/>
          </a:prstGeom>
        </p:spPr>
        <p:txBody>
          <a:bodyPr vert="horz" lIns="91440" tIns="45720" rIns="91440" bIns="45720" rtlCol="0" anchor="ctr"/>
          <a:lstStyle>
            <a:lvl1pPr algn="l">
              <a:defRPr sz="2700">
                <a:solidFill>
                  <a:schemeClr val="tx1">
                    <a:tint val="75000"/>
                  </a:schemeClr>
                </a:solidFill>
              </a:defRPr>
            </a:lvl1pPr>
          </a:lstStyle>
          <a:p>
            <a:fld id="{B82CCC60-E8CD-4174-8B1A-7DF615B22EEF}" type="slidenum">
              <a:rPr lang="en-US" smtClean="0"/>
              <a:pPr/>
              <a:t>‹#›</a:t>
            </a:fld>
            <a:endParaRPr lang="en-US"/>
          </a:p>
        </p:txBody>
      </p:sp>
      <p:sp>
        <p:nvSpPr>
          <p:cNvPr id="8" name="TextBox 7">
            <a:extLst>
              <a:ext uri="{FF2B5EF4-FFF2-40B4-BE49-F238E27FC236}">
                <a16:creationId xmlns:a16="http://schemas.microsoft.com/office/drawing/2014/main" xmlns="" id="{714B3CA3-D31F-4276-8F0D-AF0979925276}"/>
              </a:ext>
            </a:extLst>
          </p:cNvPr>
          <p:cNvSpPr txBox="1"/>
          <p:nvPr userDrawn="1"/>
        </p:nvSpPr>
        <p:spPr>
          <a:xfrm>
            <a:off x="-9150" y="5213747"/>
            <a:ext cx="8389625" cy="523220"/>
          </a:xfrm>
          <a:prstGeom prst="rect">
            <a:avLst/>
          </a:prstGeom>
          <a:noFill/>
        </p:spPr>
        <p:txBody>
          <a:bodyPr wrap="square" rtlCol="0">
            <a:spAutoFit/>
          </a:bodyPr>
          <a:lstStyle/>
          <a:p>
            <a:r>
              <a:rPr lang="en-US" sz="1400">
                <a:solidFill>
                  <a:schemeClr val="bg1">
                    <a:lumMod val="65000"/>
                  </a:schemeClr>
                </a:solidFill>
              </a:rPr>
              <a:t>This presentation uses a free template provided by FPPT.com</a:t>
            </a:r>
          </a:p>
          <a:p>
            <a:r>
              <a:rPr lang="en-US" sz="1400">
                <a:solidFill>
                  <a:schemeClr val="bg1">
                    <a:lumMod val="65000"/>
                  </a:schemeClr>
                </a:solidFill>
              </a:rPr>
              <a:t>www.free-power-point-templates.com</a:t>
            </a:r>
          </a:p>
        </p:txBody>
      </p:sp>
    </p:spTree>
    <p:extLst>
      <p:ext uri="{BB962C8B-B14F-4D97-AF65-F5344CB8AC3E}">
        <p14:creationId xmlns:p14="http://schemas.microsoft.com/office/powerpoint/2010/main" val="3846718064"/>
      </p:ext>
    </p:extLst>
  </p:cSld>
  <p:clrMap bg1="dk1" tx1="lt1" bg2="dk2" tx2="lt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 id="2147483674" r:id="rId13"/>
    <p:sldLayoutId id="2147483675" r:id="rId14"/>
    <p:sldLayoutId id="2147483676" r:id="rId15"/>
    <p:sldLayoutId id="2147483677" r:id="rId16"/>
    <p:sldLayoutId id="2147483678" r:id="rId17"/>
  </p:sldLayoutIdLst>
  <p:txStyles>
    <p:titleStyle>
      <a:lvl1pPr algn="l" defTabSz="685800" rtl="0" eaLnBrk="1" latinLnBrk="0" hangingPunct="1">
        <a:lnSpc>
          <a:spcPct val="90000"/>
        </a:lnSpc>
        <a:spcBef>
          <a:spcPct val="0"/>
        </a:spcBef>
        <a:buNone/>
        <a:defRPr sz="27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18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20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2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0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0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0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0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7294" y="891995"/>
            <a:ext cx="8246070" cy="2290576"/>
          </a:xfrm>
        </p:spPr>
        <p:txBody>
          <a:bodyPr>
            <a:normAutofit/>
          </a:bodyPr>
          <a:lstStyle/>
          <a:p>
            <a:pPr algn="l"/>
            <a:r>
              <a:rPr lang="en-US" sz="4400" dirty="0"/>
              <a:t>Quantity Surveying &amp; Cost</a:t>
            </a:r>
            <a:br>
              <a:rPr lang="en-US" sz="4400" dirty="0"/>
            </a:br>
            <a:r>
              <a:rPr lang="en-US" sz="4400" dirty="0" smtClean="0"/>
              <a:t>Estimation</a:t>
            </a:r>
            <a:endParaRPr lang="en-US" sz="4400" dirty="0"/>
          </a:p>
        </p:txBody>
      </p:sp>
    </p:spTree>
    <p:extLst>
      <p:ext uri="{BB962C8B-B14F-4D97-AF65-F5344CB8AC3E}">
        <p14:creationId xmlns:p14="http://schemas.microsoft.com/office/powerpoint/2010/main" val="36392037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LASHARI CONSTRUCTION ESTIMATORS</a:t>
            </a:r>
            <a:endParaRPr lang="en-US" dirty="0"/>
          </a:p>
        </p:txBody>
      </p:sp>
      <p:sp>
        <p:nvSpPr>
          <p:cNvPr id="3" name="Content Placeholder 2"/>
          <p:cNvSpPr>
            <a:spLocks noGrp="1"/>
          </p:cNvSpPr>
          <p:nvPr>
            <p:ph idx="1"/>
          </p:nvPr>
        </p:nvSpPr>
        <p:spPr/>
        <p:txBody>
          <a:bodyPr>
            <a:normAutofit fontScale="92500" lnSpcReduction="20000"/>
          </a:bodyPr>
          <a:lstStyle/>
          <a:p>
            <a:pPr marL="514350" indent="-514350">
              <a:buFont typeface="+mj-lt"/>
              <a:buAutoNum type="arabicPeriod"/>
            </a:pPr>
            <a:r>
              <a:rPr lang="en-US" sz="3200" b="1" dirty="0" smtClean="0">
                <a:solidFill>
                  <a:schemeClr val="bg1"/>
                </a:solidFill>
              </a:rPr>
              <a:t>M. </a:t>
            </a:r>
            <a:r>
              <a:rPr lang="en-US" sz="3200" b="1" dirty="0" err="1" smtClean="0">
                <a:solidFill>
                  <a:schemeClr val="bg1"/>
                </a:solidFill>
              </a:rPr>
              <a:t>Asfand</a:t>
            </a:r>
            <a:r>
              <a:rPr lang="en-US" sz="3200" b="1" dirty="0" smtClean="0">
                <a:solidFill>
                  <a:schemeClr val="bg1"/>
                </a:solidFill>
              </a:rPr>
              <a:t> </a:t>
            </a:r>
            <a:r>
              <a:rPr lang="en-US" sz="3200" b="1" dirty="0" err="1" smtClean="0">
                <a:solidFill>
                  <a:schemeClr val="bg1"/>
                </a:solidFill>
              </a:rPr>
              <a:t>Yar</a:t>
            </a:r>
            <a:r>
              <a:rPr lang="en-US" sz="3200" b="1" dirty="0" smtClean="0">
                <a:solidFill>
                  <a:schemeClr val="bg1"/>
                </a:solidFill>
              </a:rPr>
              <a:t> Tahir Khan (Leader)</a:t>
            </a:r>
            <a:endParaRPr lang="en-US" sz="3200" b="1" dirty="0">
              <a:solidFill>
                <a:schemeClr val="bg1"/>
              </a:solidFill>
            </a:endParaRPr>
          </a:p>
          <a:p>
            <a:pPr marL="514350" indent="-514350">
              <a:buFont typeface="+mj-lt"/>
              <a:buAutoNum type="arabicPeriod"/>
            </a:pPr>
            <a:r>
              <a:rPr lang="en-US" sz="3200" b="1" dirty="0" err="1" smtClean="0">
                <a:solidFill>
                  <a:schemeClr val="bg1"/>
                </a:solidFill>
              </a:rPr>
              <a:t>Kh</a:t>
            </a:r>
            <a:r>
              <a:rPr lang="en-US" sz="3200" b="1" dirty="0" smtClean="0">
                <a:solidFill>
                  <a:schemeClr val="bg1"/>
                </a:solidFill>
              </a:rPr>
              <a:t>. </a:t>
            </a:r>
            <a:r>
              <a:rPr lang="en-US" sz="3200" b="1" dirty="0" err="1" smtClean="0">
                <a:solidFill>
                  <a:schemeClr val="bg1"/>
                </a:solidFill>
              </a:rPr>
              <a:t>Awais</a:t>
            </a:r>
            <a:r>
              <a:rPr lang="en-US" sz="3200" b="1" dirty="0" smtClean="0">
                <a:solidFill>
                  <a:schemeClr val="bg1"/>
                </a:solidFill>
              </a:rPr>
              <a:t> Ahmed</a:t>
            </a:r>
            <a:endParaRPr lang="en-US" sz="3200" b="1" dirty="0">
              <a:solidFill>
                <a:schemeClr val="bg1"/>
              </a:solidFill>
            </a:endParaRPr>
          </a:p>
          <a:p>
            <a:pPr marL="514350" indent="-514350">
              <a:buFont typeface="+mj-lt"/>
              <a:buAutoNum type="arabicPeriod"/>
            </a:pPr>
            <a:r>
              <a:rPr lang="en-US" sz="3200" b="1" dirty="0" smtClean="0">
                <a:solidFill>
                  <a:schemeClr val="bg1"/>
                </a:solidFill>
              </a:rPr>
              <a:t>Mohammad Usama Shahid</a:t>
            </a:r>
            <a:endParaRPr lang="en-US" sz="3200" b="1" dirty="0">
              <a:solidFill>
                <a:schemeClr val="bg1"/>
              </a:solidFill>
            </a:endParaRPr>
          </a:p>
          <a:p>
            <a:pPr marL="514350" indent="-514350">
              <a:buFont typeface="+mj-lt"/>
              <a:buAutoNum type="arabicPeriod"/>
            </a:pPr>
            <a:r>
              <a:rPr lang="en-US" sz="3200" b="1" dirty="0" err="1" smtClean="0">
                <a:solidFill>
                  <a:schemeClr val="bg1"/>
                </a:solidFill>
              </a:rPr>
              <a:t>Fraz</a:t>
            </a:r>
            <a:r>
              <a:rPr lang="en-US" sz="3200" b="1" dirty="0" smtClean="0">
                <a:solidFill>
                  <a:schemeClr val="bg1"/>
                </a:solidFill>
              </a:rPr>
              <a:t> Saeed</a:t>
            </a:r>
            <a:endParaRPr lang="en-US" sz="3200" b="1" dirty="0">
              <a:solidFill>
                <a:schemeClr val="bg1"/>
              </a:solidFill>
            </a:endParaRPr>
          </a:p>
          <a:p>
            <a:pPr marL="514350" indent="-514350">
              <a:buFont typeface="+mj-lt"/>
              <a:buAutoNum type="arabicPeriod"/>
            </a:pPr>
            <a:r>
              <a:rPr lang="en-US" sz="3200" b="1" dirty="0" smtClean="0">
                <a:solidFill>
                  <a:schemeClr val="bg1"/>
                </a:solidFill>
              </a:rPr>
              <a:t>Hassan Farooq</a:t>
            </a:r>
            <a:endParaRPr lang="en-US" sz="3200" b="1" dirty="0">
              <a:solidFill>
                <a:schemeClr val="bg1"/>
              </a:solidFill>
            </a:endParaRPr>
          </a:p>
          <a:p>
            <a:pPr marL="514350" indent="-514350">
              <a:buFont typeface="+mj-lt"/>
              <a:buAutoNum type="arabicPeriod"/>
            </a:pPr>
            <a:r>
              <a:rPr lang="en-US" sz="3200" b="1" dirty="0" err="1" smtClean="0">
                <a:solidFill>
                  <a:schemeClr val="bg1"/>
                </a:solidFill>
              </a:rPr>
              <a:t>Qudees</a:t>
            </a:r>
            <a:r>
              <a:rPr lang="en-US" sz="3200" b="1" dirty="0" smtClean="0">
                <a:solidFill>
                  <a:schemeClr val="bg1"/>
                </a:solidFill>
              </a:rPr>
              <a:t> Tariq </a:t>
            </a:r>
            <a:r>
              <a:rPr lang="en-US" sz="3200" b="1" dirty="0" err="1" smtClean="0">
                <a:solidFill>
                  <a:schemeClr val="bg1"/>
                </a:solidFill>
              </a:rPr>
              <a:t>Kiani</a:t>
            </a:r>
            <a:endParaRPr lang="en-US" sz="3200" dirty="0">
              <a:solidFill>
                <a:schemeClr val="bg1"/>
              </a:solidFill>
            </a:endParaRPr>
          </a:p>
          <a:p>
            <a:endParaRPr lang="en-US" dirty="0">
              <a:solidFill>
                <a:schemeClr val="bg1"/>
              </a:solidFill>
            </a:endParaRPr>
          </a:p>
        </p:txBody>
      </p:sp>
    </p:spTree>
    <p:extLst>
      <p:ext uri="{BB962C8B-B14F-4D97-AF65-F5344CB8AC3E}">
        <p14:creationId xmlns:p14="http://schemas.microsoft.com/office/powerpoint/2010/main" val="410330949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510241" y="586585"/>
            <a:ext cx="7210396" cy="810704"/>
          </a:xfrm>
        </p:spPr>
        <p:txBody>
          <a:bodyPr>
            <a:normAutofit/>
          </a:bodyPr>
          <a:lstStyle/>
          <a:p>
            <a:pPr algn="ctr"/>
            <a:r>
              <a:rPr lang="en-GB" dirty="0"/>
              <a:t>Objective</a:t>
            </a:r>
            <a:endParaRPr lang="en-US" dirty="0"/>
          </a:p>
        </p:txBody>
      </p:sp>
      <p:sp>
        <p:nvSpPr>
          <p:cNvPr id="5" name="Content Placeholder 4"/>
          <p:cNvSpPr>
            <a:spLocks noGrp="1"/>
          </p:cNvSpPr>
          <p:nvPr>
            <p:ph idx="1"/>
          </p:nvPr>
        </p:nvSpPr>
        <p:spPr/>
        <p:txBody>
          <a:bodyPr>
            <a:normAutofit/>
          </a:bodyPr>
          <a:lstStyle/>
          <a:p>
            <a:pPr marL="0" indent="0">
              <a:buNone/>
            </a:pPr>
            <a:endParaRPr lang="en-US" b="1" dirty="0"/>
          </a:p>
          <a:p>
            <a:r>
              <a:rPr lang="en-US" sz="3000" b="1" dirty="0" smtClean="0"/>
              <a:t>Performing a detailed estimate of cost and quantities required to build a one story, 10 </a:t>
            </a:r>
            <a:r>
              <a:rPr lang="en-US" sz="3000" b="1" dirty="0" err="1" smtClean="0"/>
              <a:t>marla</a:t>
            </a:r>
            <a:r>
              <a:rPr lang="en-US" sz="3000" b="1" dirty="0" smtClean="0"/>
              <a:t> house in </a:t>
            </a:r>
            <a:r>
              <a:rPr lang="en-US" sz="3000" b="1" dirty="0" err="1" smtClean="0"/>
              <a:t>Bahria</a:t>
            </a:r>
            <a:r>
              <a:rPr lang="en-US" sz="3000" b="1" dirty="0" smtClean="0"/>
              <a:t> Enclave, </a:t>
            </a:r>
            <a:r>
              <a:rPr lang="en-US" sz="3000" b="1" dirty="0" err="1" smtClean="0"/>
              <a:t>Bahria</a:t>
            </a:r>
            <a:r>
              <a:rPr lang="en-US" sz="3000" b="1" dirty="0" smtClean="0"/>
              <a:t> Town, Rawalpindi.</a:t>
            </a:r>
          </a:p>
          <a:p>
            <a:pPr marL="0" indent="0">
              <a:buNone/>
            </a:pPr>
            <a:endParaRPr lang="en-GB" dirty="0"/>
          </a:p>
          <a:p>
            <a:endParaRPr lang="en-US" b="1" dirty="0"/>
          </a:p>
        </p:txBody>
      </p:sp>
    </p:spTree>
    <p:extLst>
      <p:ext uri="{BB962C8B-B14F-4D97-AF65-F5344CB8AC3E}">
        <p14:creationId xmlns:p14="http://schemas.microsoft.com/office/powerpoint/2010/main" val="110163387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55437AC-F4E5-4431-85E4-D92ACF314ABF}"/>
              </a:ext>
            </a:extLst>
          </p:cNvPr>
          <p:cNvSpPr>
            <a:spLocks noGrp="1"/>
          </p:cNvSpPr>
          <p:nvPr>
            <p:ph type="title"/>
          </p:nvPr>
        </p:nvSpPr>
        <p:spPr/>
        <p:txBody>
          <a:bodyPr>
            <a:normAutofit/>
          </a:bodyPr>
          <a:lstStyle/>
          <a:p>
            <a:r>
              <a:rPr lang="en-US" dirty="0" smtClean="0"/>
              <a:t>Project Contents</a:t>
            </a:r>
            <a:endParaRPr lang="en-US" dirty="0"/>
          </a:p>
        </p:txBody>
      </p:sp>
      <p:sp>
        <p:nvSpPr>
          <p:cNvPr id="3" name="Content Placeholder 2">
            <a:extLst>
              <a:ext uri="{FF2B5EF4-FFF2-40B4-BE49-F238E27FC236}">
                <a16:creationId xmlns:a16="http://schemas.microsoft.com/office/drawing/2014/main" xmlns="" id="{45CA827E-A37F-4BB0-A0CC-D17D3CFE8394}"/>
              </a:ext>
            </a:extLst>
          </p:cNvPr>
          <p:cNvSpPr>
            <a:spLocks noGrp="1"/>
          </p:cNvSpPr>
          <p:nvPr>
            <p:ph idx="1"/>
          </p:nvPr>
        </p:nvSpPr>
        <p:spPr/>
        <p:txBody>
          <a:bodyPr>
            <a:normAutofit/>
          </a:bodyPr>
          <a:lstStyle/>
          <a:p>
            <a:r>
              <a:rPr lang="en-US" b="1" dirty="0" smtClean="0"/>
              <a:t>Structural Drawings, Plans and Sectional Details</a:t>
            </a:r>
          </a:p>
          <a:p>
            <a:r>
              <a:rPr lang="en-US" b="1" dirty="0" smtClean="0"/>
              <a:t>Quantity Take-off Sheets </a:t>
            </a:r>
            <a:endParaRPr lang="en-US" b="1" dirty="0"/>
          </a:p>
          <a:p>
            <a:r>
              <a:rPr lang="en-US" b="1" dirty="0" smtClean="0"/>
              <a:t>Summary Sheets </a:t>
            </a:r>
          </a:p>
          <a:p>
            <a:r>
              <a:rPr lang="en-US" b="1" dirty="0" smtClean="0"/>
              <a:t>Report</a:t>
            </a:r>
            <a:endParaRPr lang="en-US" b="1" dirty="0"/>
          </a:p>
          <a:p>
            <a:r>
              <a:rPr lang="en-US" b="1" dirty="0"/>
              <a:t>Bill of Quantities (BOQ)</a:t>
            </a:r>
          </a:p>
          <a:p>
            <a:pPr marL="0" indent="0">
              <a:buNone/>
            </a:pPr>
            <a:endParaRPr lang="en-US" dirty="0"/>
          </a:p>
        </p:txBody>
      </p:sp>
    </p:spTree>
    <p:extLst>
      <p:ext uri="{BB962C8B-B14F-4D97-AF65-F5344CB8AC3E}">
        <p14:creationId xmlns:p14="http://schemas.microsoft.com/office/powerpoint/2010/main" val="3812881553"/>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59785" y="655945"/>
            <a:ext cx="7210396" cy="810704"/>
          </a:xfrm>
        </p:spPr>
        <p:txBody>
          <a:bodyPr>
            <a:normAutofit/>
          </a:bodyPr>
          <a:lstStyle/>
          <a:p>
            <a:r>
              <a:rPr lang="en-US" dirty="0" smtClean="0"/>
              <a:t>Plan view of the house to be built</a:t>
            </a:r>
            <a:endParaRPr lang="en-US" dirty="0"/>
          </a:p>
        </p:txBody>
      </p:sp>
      <p:sp>
        <p:nvSpPr>
          <p:cNvPr id="3" name="Content Placeholder 2"/>
          <p:cNvSpPr>
            <a:spLocks noGrp="1"/>
          </p:cNvSpPr>
          <p:nvPr>
            <p:ph idx="1"/>
          </p:nvPr>
        </p:nvSpPr>
        <p:spPr/>
        <p:txBody>
          <a:bodyPr/>
          <a:lstStyle/>
          <a:p>
            <a:pPr marL="0" indent="0">
              <a:buNone/>
            </a:pPr>
            <a:endParaRPr lang="en-US" dirty="0"/>
          </a:p>
          <a:p>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66301" y="1412664"/>
            <a:ext cx="5898275" cy="3730836"/>
          </a:xfrm>
          <a:prstGeom prst="rect">
            <a:avLst/>
          </a:prstGeom>
        </p:spPr>
      </p:pic>
    </p:spTree>
    <p:extLst>
      <p:ext uri="{BB962C8B-B14F-4D97-AF65-F5344CB8AC3E}">
        <p14:creationId xmlns:p14="http://schemas.microsoft.com/office/powerpoint/2010/main" val="111118068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30D6D42-6CAC-48BC-A74C-77774350B08E}"/>
              </a:ext>
            </a:extLst>
          </p:cNvPr>
          <p:cNvSpPr>
            <a:spLocks noGrp="1"/>
          </p:cNvSpPr>
          <p:nvPr>
            <p:ph type="title"/>
          </p:nvPr>
        </p:nvSpPr>
        <p:spPr/>
        <p:txBody>
          <a:bodyPr>
            <a:normAutofit/>
          </a:bodyPr>
          <a:lstStyle/>
          <a:p>
            <a:r>
              <a:rPr lang="en-GB" dirty="0"/>
              <a:t>Project </a:t>
            </a:r>
            <a:r>
              <a:rPr lang="en-GB" dirty="0" smtClean="0"/>
              <a:t>details</a:t>
            </a:r>
            <a:endParaRPr lang="en-GB" dirty="0"/>
          </a:p>
        </p:txBody>
      </p:sp>
      <p:sp>
        <p:nvSpPr>
          <p:cNvPr id="3" name="Content Placeholder 2">
            <a:extLst>
              <a:ext uri="{FF2B5EF4-FFF2-40B4-BE49-F238E27FC236}">
                <a16:creationId xmlns:a16="http://schemas.microsoft.com/office/drawing/2014/main" xmlns="" id="{E50C6A61-85C4-4A28-A272-B7BC5C55D10E}"/>
              </a:ext>
            </a:extLst>
          </p:cNvPr>
          <p:cNvSpPr>
            <a:spLocks noGrp="1"/>
          </p:cNvSpPr>
          <p:nvPr>
            <p:ph idx="1"/>
          </p:nvPr>
        </p:nvSpPr>
        <p:spPr/>
        <p:txBody>
          <a:bodyPr>
            <a:normAutofit/>
          </a:bodyPr>
          <a:lstStyle/>
          <a:p>
            <a:pPr marL="0" indent="0">
              <a:buNone/>
            </a:pPr>
            <a:endParaRPr lang="en-GB" dirty="0"/>
          </a:p>
          <a:p>
            <a:r>
              <a:rPr lang="en-GB" dirty="0" smtClean="0"/>
              <a:t>Ground floor covered area = 1801.739 </a:t>
            </a:r>
            <a:r>
              <a:rPr lang="en-GB" dirty="0" err="1" smtClean="0"/>
              <a:t>sft</a:t>
            </a:r>
            <a:endParaRPr lang="en-GB" dirty="0" smtClean="0"/>
          </a:p>
          <a:p>
            <a:r>
              <a:rPr lang="en-US" dirty="0"/>
              <a:t>Masonry </a:t>
            </a:r>
            <a:r>
              <a:rPr lang="en-US" dirty="0" smtClean="0"/>
              <a:t>structure</a:t>
            </a:r>
          </a:p>
          <a:p>
            <a:r>
              <a:rPr lang="en-US" dirty="0" smtClean="0"/>
              <a:t>Raft footing </a:t>
            </a:r>
            <a:endParaRPr lang="en-US" dirty="0"/>
          </a:p>
          <a:p>
            <a:r>
              <a:rPr lang="en-US" dirty="0" smtClean="0"/>
              <a:t>It consists of 2 Bedrooms with attached dressing room and bathroom, a T.V. Lounge, a Kitchen with W/Kit, a Drawing Room, an Entrance Lobby and a Powder Room.</a:t>
            </a:r>
            <a:endParaRPr lang="en-US" dirty="0"/>
          </a:p>
        </p:txBody>
      </p:sp>
    </p:spTree>
    <p:extLst>
      <p:ext uri="{BB962C8B-B14F-4D97-AF65-F5344CB8AC3E}">
        <p14:creationId xmlns:p14="http://schemas.microsoft.com/office/powerpoint/2010/main" val="384258090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FD23EE8-11B9-43A0-99E8-079A92E683F1}"/>
              </a:ext>
            </a:extLst>
          </p:cNvPr>
          <p:cNvSpPr>
            <a:spLocks noGrp="1"/>
          </p:cNvSpPr>
          <p:nvPr>
            <p:ph type="title"/>
          </p:nvPr>
        </p:nvSpPr>
        <p:spPr/>
        <p:txBody>
          <a:bodyPr>
            <a:normAutofit/>
          </a:bodyPr>
          <a:lstStyle/>
          <a:p>
            <a:r>
              <a:rPr lang="en-US" dirty="0" smtClean="0"/>
              <a:t>Calculated items</a:t>
            </a:r>
            <a:endParaRPr lang="en-GB" dirty="0"/>
          </a:p>
        </p:txBody>
      </p:sp>
      <p:sp>
        <p:nvSpPr>
          <p:cNvPr id="3" name="Content Placeholder 2">
            <a:extLst>
              <a:ext uri="{FF2B5EF4-FFF2-40B4-BE49-F238E27FC236}">
                <a16:creationId xmlns:a16="http://schemas.microsoft.com/office/drawing/2014/main" xmlns="" id="{028281F1-D630-4204-A0FB-54DCCD7D61E5}"/>
              </a:ext>
            </a:extLst>
          </p:cNvPr>
          <p:cNvSpPr>
            <a:spLocks noGrp="1"/>
          </p:cNvSpPr>
          <p:nvPr>
            <p:ph idx="1"/>
          </p:nvPr>
        </p:nvSpPr>
        <p:spPr>
          <a:xfrm>
            <a:off x="510241" y="1752655"/>
            <a:ext cx="3756349" cy="3262375"/>
          </a:xfrm>
        </p:spPr>
        <p:txBody>
          <a:bodyPr>
            <a:noAutofit/>
          </a:bodyPr>
          <a:lstStyle/>
          <a:p>
            <a:r>
              <a:rPr lang="en-GB" sz="1400" dirty="0"/>
              <a:t>Excavation </a:t>
            </a:r>
            <a:r>
              <a:rPr lang="en-GB" sz="1400" dirty="0" smtClean="0"/>
              <a:t>(</a:t>
            </a:r>
            <a:r>
              <a:rPr lang="en-GB" sz="1400" dirty="0" err="1" smtClean="0"/>
              <a:t>bcf</a:t>
            </a:r>
            <a:r>
              <a:rPr lang="en-GB" sz="1400" dirty="0" smtClean="0"/>
              <a:t>)</a:t>
            </a:r>
            <a:endParaRPr lang="en-GB" sz="1400" dirty="0"/>
          </a:p>
          <a:p>
            <a:r>
              <a:rPr lang="en-GB" sz="1400" dirty="0" smtClean="0"/>
              <a:t>Foundation- Raft and Boundary Wall Foundation </a:t>
            </a:r>
          </a:p>
          <a:p>
            <a:r>
              <a:rPr lang="en-GB" sz="1400" dirty="0"/>
              <a:t>Backfilling (</a:t>
            </a:r>
            <a:r>
              <a:rPr lang="en-GB" sz="1400" dirty="0" err="1" smtClean="0"/>
              <a:t>ccf</a:t>
            </a:r>
            <a:r>
              <a:rPr lang="en-GB" sz="1400" dirty="0" smtClean="0"/>
              <a:t>)</a:t>
            </a:r>
            <a:endParaRPr lang="en-GB" sz="1400" dirty="0"/>
          </a:p>
          <a:p>
            <a:r>
              <a:rPr lang="en-GB" sz="1400" dirty="0" smtClean="0"/>
              <a:t>DPC in foundation</a:t>
            </a:r>
            <a:endParaRPr lang="en-GB" sz="1400" dirty="0"/>
          </a:p>
          <a:p>
            <a:r>
              <a:rPr lang="en-GB" sz="1400" dirty="0"/>
              <a:t>Plinth protection</a:t>
            </a:r>
          </a:p>
          <a:p>
            <a:r>
              <a:rPr lang="en-GB" sz="1400" dirty="0" smtClean="0"/>
              <a:t>Masonry </a:t>
            </a:r>
            <a:r>
              <a:rPr lang="en-GB" sz="1400" dirty="0"/>
              <a:t>(</a:t>
            </a:r>
            <a:r>
              <a:rPr lang="en-GB" sz="1400" dirty="0" err="1"/>
              <a:t>cft</a:t>
            </a:r>
            <a:r>
              <a:rPr lang="en-GB" sz="1400" dirty="0"/>
              <a:t>)</a:t>
            </a:r>
          </a:p>
          <a:p>
            <a:r>
              <a:rPr lang="en-GB" sz="1400" dirty="0" smtClean="0"/>
              <a:t>Concrete (P.C.C. and R.C.C.)-(</a:t>
            </a:r>
            <a:r>
              <a:rPr lang="en-GB" sz="1400" dirty="0"/>
              <a:t>beams and lintels) (</a:t>
            </a:r>
            <a:r>
              <a:rPr lang="en-GB" sz="1400" dirty="0" err="1"/>
              <a:t>cft</a:t>
            </a:r>
            <a:r>
              <a:rPr lang="en-GB" sz="1400" dirty="0" smtClean="0"/>
              <a:t>)</a:t>
            </a:r>
            <a:endParaRPr lang="en-GB" sz="1400" dirty="0"/>
          </a:p>
        </p:txBody>
      </p:sp>
      <p:sp>
        <p:nvSpPr>
          <p:cNvPr id="4" name="TextBox 3"/>
          <p:cNvSpPr txBox="1"/>
          <p:nvPr/>
        </p:nvSpPr>
        <p:spPr>
          <a:xfrm>
            <a:off x="4724705" y="1752654"/>
            <a:ext cx="4123035" cy="2677656"/>
          </a:xfrm>
          <a:prstGeom prst="rect">
            <a:avLst/>
          </a:prstGeom>
          <a:noFill/>
        </p:spPr>
        <p:txBody>
          <a:bodyPr wrap="square" rtlCol="0">
            <a:spAutoFit/>
          </a:bodyPr>
          <a:lstStyle/>
          <a:p>
            <a:pPr marL="285750" indent="-285750">
              <a:buFont typeface="Arial" panose="020B0604020202020204" pitchFamily="34" charset="0"/>
              <a:buChar char="•"/>
            </a:pPr>
            <a:r>
              <a:rPr lang="en-GB" sz="1400" dirty="0"/>
              <a:t>Steel- (Beams, Slab, Foundation and Parapet Wall)</a:t>
            </a:r>
          </a:p>
          <a:p>
            <a:pPr marL="285750" indent="-285750">
              <a:buFont typeface="Arial" panose="020B0604020202020204" pitchFamily="34" charset="0"/>
              <a:buChar char="•"/>
            </a:pPr>
            <a:r>
              <a:rPr lang="en-GB" sz="1400" dirty="0"/>
              <a:t>Flooring and Roofing</a:t>
            </a:r>
          </a:p>
          <a:p>
            <a:pPr marL="285750" indent="-285750">
              <a:buFont typeface="Arial" panose="020B0604020202020204" pitchFamily="34" charset="0"/>
              <a:buChar char="•"/>
            </a:pPr>
            <a:r>
              <a:rPr lang="en-GB" sz="1400" dirty="0"/>
              <a:t>Roof slab </a:t>
            </a:r>
            <a:r>
              <a:rPr lang="en-GB" sz="1400" dirty="0" smtClean="0"/>
              <a:t>concrete</a:t>
            </a:r>
            <a:endParaRPr lang="en-GB" sz="1400" dirty="0"/>
          </a:p>
          <a:p>
            <a:pPr marL="285750" indent="-285750">
              <a:buFont typeface="Arial" panose="020B0604020202020204" pitchFamily="34" charset="0"/>
              <a:buChar char="•"/>
            </a:pPr>
            <a:r>
              <a:rPr lang="en-GB" sz="1400" dirty="0"/>
              <a:t>Plaster (</a:t>
            </a:r>
            <a:r>
              <a:rPr lang="en-GB" sz="1400" dirty="0" err="1"/>
              <a:t>sft</a:t>
            </a:r>
            <a:r>
              <a:rPr lang="en-GB" sz="1400" dirty="0"/>
              <a:t>)</a:t>
            </a:r>
          </a:p>
          <a:p>
            <a:pPr marL="285750" indent="-285750">
              <a:buFont typeface="Arial" panose="020B0604020202020204" pitchFamily="34" charset="0"/>
              <a:buChar char="•"/>
            </a:pPr>
            <a:r>
              <a:rPr lang="en-GB" sz="1400" dirty="0"/>
              <a:t>Skirting (</a:t>
            </a:r>
            <a:r>
              <a:rPr lang="en-GB" sz="1400" dirty="0" err="1"/>
              <a:t>rft</a:t>
            </a:r>
            <a:r>
              <a:rPr lang="en-GB" sz="1400" dirty="0"/>
              <a:t> and </a:t>
            </a:r>
            <a:r>
              <a:rPr lang="en-GB" sz="1400" dirty="0" err="1"/>
              <a:t>sft</a:t>
            </a:r>
            <a:r>
              <a:rPr lang="en-GB" sz="1400" dirty="0"/>
              <a:t>)</a:t>
            </a:r>
          </a:p>
          <a:p>
            <a:pPr marL="285750" indent="-285750">
              <a:buFont typeface="Arial" panose="020B0604020202020204" pitchFamily="34" charset="0"/>
              <a:buChar char="•"/>
            </a:pPr>
            <a:r>
              <a:rPr lang="en-GB" sz="1400" dirty="0"/>
              <a:t>Paint (</a:t>
            </a:r>
            <a:r>
              <a:rPr lang="en-GB" sz="1400" dirty="0" err="1"/>
              <a:t>sft</a:t>
            </a:r>
            <a:r>
              <a:rPr lang="en-GB" sz="1400" dirty="0"/>
              <a:t>)</a:t>
            </a:r>
          </a:p>
          <a:p>
            <a:pPr marL="285750" indent="-285750">
              <a:buFont typeface="Arial" panose="020B0604020202020204" pitchFamily="34" charset="0"/>
              <a:buChar char="•"/>
            </a:pPr>
            <a:r>
              <a:rPr lang="en-GB" sz="1400" dirty="0"/>
              <a:t>Tiles</a:t>
            </a:r>
          </a:p>
          <a:p>
            <a:pPr marL="285750" indent="-285750">
              <a:buFont typeface="Arial" panose="020B0604020202020204" pitchFamily="34" charset="0"/>
              <a:buChar char="•"/>
            </a:pPr>
            <a:r>
              <a:rPr lang="en-US" sz="1400" dirty="0"/>
              <a:t>Wood work and Varnishing in Doors</a:t>
            </a:r>
          </a:p>
          <a:p>
            <a:pPr marL="285750" indent="-285750">
              <a:buFont typeface="Arial" panose="020B0604020202020204" pitchFamily="34" charset="0"/>
              <a:buChar char="•"/>
            </a:pPr>
            <a:r>
              <a:rPr lang="en-US" sz="1400" dirty="0" err="1"/>
              <a:t>Aluminium</a:t>
            </a:r>
            <a:r>
              <a:rPr lang="en-US" sz="1400" dirty="0"/>
              <a:t> frame in Windows</a:t>
            </a:r>
          </a:p>
          <a:p>
            <a:pPr marL="285750" indent="-285750">
              <a:buFont typeface="Arial" panose="020B0604020202020204" pitchFamily="34" charset="0"/>
              <a:buChar char="•"/>
            </a:pPr>
            <a:r>
              <a:rPr lang="en-US" sz="1400" dirty="0"/>
              <a:t>Gate, Ramp and Stairs to Ground Floor </a:t>
            </a:r>
            <a:endParaRPr lang="en-GB" sz="1400" dirty="0"/>
          </a:p>
          <a:p>
            <a:endParaRPr lang="en-GB" sz="1400" dirty="0"/>
          </a:p>
        </p:txBody>
      </p:sp>
    </p:spTree>
    <p:extLst>
      <p:ext uri="{BB962C8B-B14F-4D97-AF65-F5344CB8AC3E}">
        <p14:creationId xmlns:p14="http://schemas.microsoft.com/office/powerpoint/2010/main" val="202627335"/>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9B0BF56-B50B-4E1F-9249-E203B9CF6D79}"/>
              </a:ext>
            </a:extLst>
          </p:cNvPr>
          <p:cNvSpPr>
            <a:spLocks noGrp="1"/>
          </p:cNvSpPr>
          <p:nvPr>
            <p:ph type="title"/>
          </p:nvPr>
        </p:nvSpPr>
        <p:spPr>
          <a:xfrm>
            <a:off x="296260" y="1960930"/>
            <a:ext cx="2751871" cy="2070074"/>
          </a:xfrm>
        </p:spPr>
        <p:txBody>
          <a:bodyPr>
            <a:normAutofit/>
          </a:bodyPr>
          <a:lstStyle/>
          <a:p>
            <a:r>
              <a:rPr lang="en-US" dirty="0"/>
              <a:t>Assumptions</a:t>
            </a:r>
            <a:endParaRPr lang="en-GB" dirty="0"/>
          </a:p>
        </p:txBody>
      </p:sp>
      <p:sp>
        <p:nvSpPr>
          <p:cNvPr id="3" name="Content Placeholder 2">
            <a:extLst>
              <a:ext uri="{FF2B5EF4-FFF2-40B4-BE49-F238E27FC236}">
                <a16:creationId xmlns:a16="http://schemas.microsoft.com/office/drawing/2014/main" xmlns="" id="{CD8EAF25-67FD-46C5-A643-F9E2254BB36C}"/>
              </a:ext>
            </a:extLst>
          </p:cNvPr>
          <p:cNvSpPr>
            <a:spLocks noGrp="1"/>
          </p:cNvSpPr>
          <p:nvPr>
            <p:ph idx="1"/>
          </p:nvPr>
        </p:nvSpPr>
        <p:spPr>
          <a:xfrm>
            <a:off x="2434130" y="1540230"/>
            <a:ext cx="6566314" cy="3464861"/>
          </a:xfrm>
        </p:spPr>
        <p:txBody>
          <a:bodyPr anchor="ctr">
            <a:normAutofit/>
          </a:bodyPr>
          <a:lstStyle/>
          <a:p>
            <a:pPr marL="971550" lvl="1" indent="-514350">
              <a:lnSpc>
                <a:spcPct val="90000"/>
              </a:lnSpc>
              <a:buAutoNum type="arabicPeriod"/>
            </a:pPr>
            <a:r>
              <a:rPr lang="en-US" sz="1800" dirty="0" smtClean="0">
                <a:solidFill>
                  <a:srgbClr val="000000"/>
                </a:solidFill>
              </a:rPr>
              <a:t>The plan was originally meant for a 2 story house with basement, which was reduced to a single story building.</a:t>
            </a:r>
          </a:p>
          <a:p>
            <a:pPr marL="971550" lvl="1" indent="-514350">
              <a:lnSpc>
                <a:spcPct val="90000"/>
              </a:lnSpc>
              <a:buAutoNum type="arabicPeriod"/>
            </a:pPr>
            <a:r>
              <a:rPr lang="en-US" sz="1800" dirty="0" smtClean="0">
                <a:solidFill>
                  <a:srgbClr val="000000"/>
                </a:solidFill>
              </a:rPr>
              <a:t>Foundations details were consequently modified reasonably to suit the above assumption.</a:t>
            </a:r>
          </a:p>
          <a:p>
            <a:pPr marL="971550" lvl="1" indent="-514350">
              <a:lnSpc>
                <a:spcPct val="90000"/>
              </a:lnSpc>
              <a:buAutoNum type="arabicPeriod"/>
            </a:pPr>
            <a:r>
              <a:rPr lang="en-US" sz="1800" dirty="0" smtClean="0">
                <a:solidFill>
                  <a:srgbClr val="000000"/>
                </a:solidFill>
              </a:rPr>
              <a:t>The type of paint was assumed.</a:t>
            </a:r>
          </a:p>
          <a:p>
            <a:pPr marL="971550" lvl="1" indent="-514350">
              <a:lnSpc>
                <a:spcPct val="90000"/>
              </a:lnSpc>
              <a:buAutoNum type="arabicPeriod"/>
            </a:pPr>
            <a:r>
              <a:rPr lang="en-US" sz="1800" dirty="0" smtClean="0">
                <a:solidFill>
                  <a:srgbClr val="000000"/>
                </a:solidFill>
              </a:rPr>
              <a:t>RCC </a:t>
            </a:r>
            <a:r>
              <a:rPr lang="en-US" sz="1800" dirty="0">
                <a:solidFill>
                  <a:srgbClr val="000000"/>
                </a:solidFill>
              </a:rPr>
              <a:t>for beam lintels and slabs (1:2:4</a:t>
            </a:r>
            <a:r>
              <a:rPr lang="en-US" sz="1800" dirty="0" smtClean="0">
                <a:solidFill>
                  <a:srgbClr val="000000"/>
                </a:solidFill>
              </a:rPr>
              <a:t>)</a:t>
            </a:r>
          </a:p>
          <a:p>
            <a:pPr marL="971550" lvl="1" indent="-514350">
              <a:lnSpc>
                <a:spcPct val="90000"/>
              </a:lnSpc>
              <a:buFont typeface="Arial" pitchFamily="34" charset="0"/>
              <a:buAutoNum type="arabicPeriod"/>
            </a:pPr>
            <a:r>
              <a:rPr lang="en-US" sz="1800" dirty="0">
                <a:solidFill>
                  <a:srgbClr val="000000"/>
                </a:solidFill>
              </a:rPr>
              <a:t>Skirting Height </a:t>
            </a:r>
            <a:r>
              <a:rPr lang="en-US" sz="1800" dirty="0" smtClean="0">
                <a:solidFill>
                  <a:srgbClr val="000000"/>
                </a:solidFill>
              </a:rPr>
              <a:t>was assumed to be 3”</a:t>
            </a:r>
            <a:endParaRPr lang="en-US" sz="1800" dirty="0">
              <a:solidFill>
                <a:srgbClr val="000000"/>
              </a:solidFill>
            </a:endParaRPr>
          </a:p>
          <a:p>
            <a:pPr marL="971550" lvl="1" indent="-514350">
              <a:lnSpc>
                <a:spcPct val="90000"/>
              </a:lnSpc>
              <a:buAutoNum type="arabicPeriod"/>
            </a:pPr>
            <a:r>
              <a:rPr lang="en-US" sz="1800" dirty="0" smtClean="0">
                <a:solidFill>
                  <a:srgbClr val="000000"/>
                </a:solidFill>
              </a:rPr>
              <a:t>Plinth protection details were assumed.</a:t>
            </a:r>
            <a:endParaRPr lang="en-US" sz="1800" dirty="0">
              <a:solidFill>
                <a:srgbClr val="000000"/>
              </a:solidFill>
            </a:endParaRPr>
          </a:p>
          <a:p>
            <a:pPr marL="971550" lvl="1" indent="-514350">
              <a:lnSpc>
                <a:spcPct val="90000"/>
              </a:lnSpc>
              <a:buAutoNum type="arabicPeriod"/>
            </a:pPr>
            <a:r>
              <a:rPr lang="en-US" sz="1800" dirty="0" smtClean="0">
                <a:solidFill>
                  <a:srgbClr val="000000"/>
                </a:solidFill>
              </a:rPr>
              <a:t>Tiling details were assumed.</a:t>
            </a:r>
            <a:endParaRPr lang="en-US" sz="1800" dirty="0">
              <a:solidFill>
                <a:srgbClr val="000000"/>
              </a:solidFill>
            </a:endParaRPr>
          </a:p>
          <a:p>
            <a:pPr marL="971550" lvl="1" indent="-514350">
              <a:lnSpc>
                <a:spcPct val="90000"/>
              </a:lnSpc>
              <a:buAutoNum type="arabicPeriod"/>
            </a:pPr>
            <a:r>
              <a:rPr lang="en-US" sz="1800" dirty="0" smtClean="0">
                <a:solidFill>
                  <a:srgbClr val="000000"/>
                </a:solidFill>
              </a:rPr>
              <a:t>Architectural details of windows and doors were assumed.</a:t>
            </a:r>
            <a:endParaRPr lang="en-GB" sz="1800" dirty="0">
              <a:solidFill>
                <a:srgbClr val="000000"/>
              </a:solidFill>
            </a:endParaRPr>
          </a:p>
        </p:txBody>
      </p:sp>
    </p:spTree>
    <p:extLst>
      <p:ext uri="{BB962C8B-B14F-4D97-AF65-F5344CB8AC3E}">
        <p14:creationId xmlns:p14="http://schemas.microsoft.com/office/powerpoint/2010/main" val="1676056959"/>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CA2982C-0644-49AE-BA37-C73CB5C17BA7}"/>
              </a:ext>
            </a:extLst>
          </p:cNvPr>
          <p:cNvSpPr>
            <a:spLocks noGrp="1"/>
          </p:cNvSpPr>
          <p:nvPr>
            <p:ph type="title"/>
          </p:nvPr>
        </p:nvSpPr>
        <p:spPr>
          <a:xfrm>
            <a:off x="527129" y="586585"/>
            <a:ext cx="8704185" cy="1068935"/>
          </a:xfrm>
        </p:spPr>
        <p:txBody>
          <a:bodyPr>
            <a:normAutofit/>
          </a:bodyPr>
          <a:lstStyle/>
          <a:p>
            <a:r>
              <a:rPr lang="en-GB" sz="3100" dirty="0"/>
              <a:t>Steel</a:t>
            </a:r>
            <a:r>
              <a:rPr lang="en-GB" dirty="0"/>
              <a:t>  </a:t>
            </a:r>
            <a:br>
              <a:rPr lang="en-GB" dirty="0"/>
            </a:br>
            <a:endParaRPr lang="en-GB" dirty="0"/>
          </a:p>
        </p:txBody>
      </p:sp>
      <p:sp>
        <p:nvSpPr>
          <p:cNvPr id="3" name="Content Placeholder 2">
            <a:extLst>
              <a:ext uri="{FF2B5EF4-FFF2-40B4-BE49-F238E27FC236}">
                <a16:creationId xmlns:a16="http://schemas.microsoft.com/office/drawing/2014/main" xmlns="" id="{F174923F-CFE8-43E4-B1E9-34A1B09EAD3F}"/>
              </a:ext>
            </a:extLst>
          </p:cNvPr>
          <p:cNvSpPr>
            <a:spLocks noGrp="1"/>
          </p:cNvSpPr>
          <p:nvPr>
            <p:ph idx="1"/>
          </p:nvPr>
        </p:nvSpPr>
        <p:spPr/>
        <p:txBody>
          <a:bodyPr/>
          <a:lstStyle/>
          <a:p>
            <a:r>
              <a:rPr lang="en-US" dirty="0" smtClean="0"/>
              <a:t>Roof Slab</a:t>
            </a:r>
            <a:endParaRPr lang="en-GB" dirty="0"/>
          </a:p>
          <a:p>
            <a:r>
              <a:rPr lang="en-GB" dirty="0"/>
              <a:t>Beams</a:t>
            </a:r>
          </a:p>
          <a:p>
            <a:r>
              <a:rPr lang="en-US" dirty="0" smtClean="0"/>
              <a:t>Lintels	</a:t>
            </a:r>
          </a:p>
          <a:p>
            <a:r>
              <a:rPr lang="en-US" dirty="0" smtClean="0"/>
              <a:t>Foundation</a:t>
            </a:r>
          </a:p>
          <a:p>
            <a:r>
              <a:rPr lang="en-US" dirty="0" smtClean="0"/>
              <a:t>Column</a:t>
            </a:r>
          </a:p>
          <a:p>
            <a:pPr marL="0" indent="0">
              <a:buNone/>
            </a:pPr>
            <a:endParaRPr lang="en-GB" dirty="0"/>
          </a:p>
          <a:p>
            <a:pPr marL="0" indent="0">
              <a:buNone/>
            </a:pPr>
            <a:endParaRPr lang="en-GB" dirty="0"/>
          </a:p>
          <a:p>
            <a:pPr marL="0" indent="0">
              <a:buNone/>
            </a:pPr>
            <a:endParaRPr lang="en-GB" dirty="0"/>
          </a:p>
          <a:p>
            <a:endParaRPr lang="en-GB" dirty="0"/>
          </a:p>
          <a:p>
            <a:endParaRPr lang="en-GB" dirty="0"/>
          </a:p>
        </p:txBody>
      </p:sp>
    </p:spTree>
    <p:extLst>
      <p:ext uri="{BB962C8B-B14F-4D97-AF65-F5344CB8AC3E}">
        <p14:creationId xmlns:p14="http://schemas.microsoft.com/office/powerpoint/2010/main" val="1904146352"/>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017407F-DA0F-49D2-9B86-B0E2A2891C84}"/>
              </a:ext>
            </a:extLst>
          </p:cNvPr>
          <p:cNvSpPr>
            <a:spLocks noGrp="1"/>
          </p:cNvSpPr>
          <p:nvPr>
            <p:ph type="title"/>
          </p:nvPr>
        </p:nvSpPr>
        <p:spPr>
          <a:xfrm>
            <a:off x="119154" y="430027"/>
            <a:ext cx="5369076" cy="1017942"/>
          </a:xfrm>
        </p:spPr>
        <p:txBody>
          <a:bodyPr>
            <a:normAutofit/>
          </a:bodyPr>
          <a:lstStyle/>
          <a:p>
            <a:pPr>
              <a:lnSpc>
                <a:spcPct val="90000"/>
              </a:lnSpc>
            </a:pPr>
            <a:r>
              <a:rPr lang="en-US" sz="3300" dirty="0" smtClean="0">
                <a:solidFill>
                  <a:srgbClr val="FFFFFF"/>
                </a:solidFill>
              </a:rPr>
              <a:t>Steel in Roof Slab</a:t>
            </a:r>
            <a:endParaRPr lang="en-GB" sz="3300" dirty="0">
              <a:solidFill>
                <a:srgbClr val="FFFFFF"/>
              </a:solidFill>
            </a:endParaRPr>
          </a:p>
        </p:txBody>
      </p:sp>
      <p:sp>
        <p:nvSpPr>
          <p:cNvPr id="3" name="Content Placeholder 2">
            <a:extLst>
              <a:ext uri="{FF2B5EF4-FFF2-40B4-BE49-F238E27FC236}">
                <a16:creationId xmlns:a16="http://schemas.microsoft.com/office/drawing/2014/main" xmlns="" id="{02A62F59-77E0-4E0B-98D0-B77112699950}"/>
              </a:ext>
            </a:extLst>
          </p:cNvPr>
          <p:cNvSpPr>
            <a:spLocks noGrp="1"/>
          </p:cNvSpPr>
          <p:nvPr>
            <p:ph idx="1"/>
          </p:nvPr>
        </p:nvSpPr>
        <p:spPr>
          <a:xfrm>
            <a:off x="-161855" y="1536444"/>
            <a:ext cx="2419293" cy="1513796"/>
          </a:xfrm>
        </p:spPr>
        <p:txBody>
          <a:bodyPr anchor="t">
            <a:normAutofit/>
          </a:bodyPr>
          <a:lstStyle/>
          <a:p>
            <a:pPr marL="0" indent="0">
              <a:lnSpc>
                <a:spcPct val="90000"/>
              </a:lnSpc>
              <a:buNone/>
            </a:pPr>
            <a:endParaRPr lang="en-GB" sz="1300" b="1" dirty="0">
              <a:solidFill>
                <a:srgbClr val="FFFFFF"/>
              </a:solidFill>
            </a:endParaRPr>
          </a:p>
          <a:p>
            <a:pPr marL="0" indent="0">
              <a:lnSpc>
                <a:spcPct val="90000"/>
              </a:lnSpc>
              <a:buNone/>
            </a:pPr>
            <a:r>
              <a:rPr lang="en-US" sz="1600" b="1" dirty="0" smtClean="0">
                <a:solidFill>
                  <a:srgbClr val="FFFFFF"/>
                </a:solidFill>
              </a:rPr>
              <a:t>     #3--- 8245 </a:t>
            </a:r>
            <a:r>
              <a:rPr lang="en-US" sz="1600" b="1" dirty="0" err="1" smtClean="0">
                <a:solidFill>
                  <a:srgbClr val="FFFFFF"/>
                </a:solidFill>
              </a:rPr>
              <a:t>ft</a:t>
            </a:r>
            <a:r>
              <a:rPr lang="en-US" sz="1600" b="1" dirty="0" smtClean="0">
                <a:solidFill>
                  <a:srgbClr val="FFFFFF"/>
                </a:solidFill>
              </a:rPr>
              <a:t/>
            </a:r>
            <a:br>
              <a:rPr lang="en-US" sz="1600" b="1" dirty="0" smtClean="0">
                <a:solidFill>
                  <a:srgbClr val="FFFFFF"/>
                </a:solidFill>
              </a:rPr>
            </a:br>
            <a:endParaRPr lang="en-US" sz="1600" b="1" dirty="0" smtClean="0">
              <a:solidFill>
                <a:srgbClr val="FFFFFF"/>
              </a:solidFill>
            </a:endParaRPr>
          </a:p>
          <a:p>
            <a:pPr marL="0" indent="0">
              <a:lnSpc>
                <a:spcPct val="90000"/>
              </a:lnSpc>
              <a:buNone/>
            </a:pPr>
            <a:r>
              <a:rPr lang="en-US" sz="1600" b="1" dirty="0" smtClean="0">
                <a:solidFill>
                  <a:srgbClr val="FFFFFF"/>
                </a:solidFill>
              </a:rPr>
              <a:t>     #4--- 3003 </a:t>
            </a:r>
            <a:r>
              <a:rPr lang="en-US" sz="1600" b="1" dirty="0" err="1" smtClean="0">
                <a:solidFill>
                  <a:srgbClr val="FFFFFF"/>
                </a:solidFill>
              </a:rPr>
              <a:t>ft</a:t>
            </a:r>
            <a:endParaRPr lang="en-US" sz="1600" b="1" dirty="0" smtClean="0">
              <a:solidFill>
                <a:srgbClr val="FFFFFF"/>
              </a:solidFill>
            </a:endParaRPr>
          </a:p>
          <a:p>
            <a:pPr marL="0" indent="0">
              <a:lnSpc>
                <a:spcPct val="90000"/>
              </a:lnSpc>
              <a:buNone/>
            </a:pPr>
            <a:endParaRPr lang="en-US" sz="1300" b="1" dirty="0">
              <a:solidFill>
                <a:srgbClr val="FFFFFF"/>
              </a:solidFill>
            </a:endParaRPr>
          </a:p>
          <a:p>
            <a:pPr>
              <a:lnSpc>
                <a:spcPct val="90000"/>
              </a:lnSpc>
            </a:pPr>
            <a:endParaRPr lang="en-GB" sz="1300" dirty="0">
              <a:solidFill>
                <a:srgbClr val="FFFFFF"/>
              </a:solidFill>
            </a:endParaRPr>
          </a:p>
          <a:p>
            <a:pPr>
              <a:lnSpc>
                <a:spcPct val="90000"/>
              </a:lnSpc>
            </a:pPr>
            <a:endParaRPr lang="en-GB" sz="1300" dirty="0">
              <a:solidFill>
                <a:srgbClr val="FFFFFF"/>
              </a:solidFill>
            </a:endParaRPr>
          </a:p>
          <a:p>
            <a:pPr marL="0" indent="0">
              <a:lnSpc>
                <a:spcPct val="90000"/>
              </a:lnSpc>
              <a:buNone/>
            </a:pPr>
            <a:endParaRPr lang="en-GB" sz="1300" dirty="0">
              <a:solidFill>
                <a:srgbClr val="FFFFFF"/>
              </a:solidFill>
            </a:endParaRPr>
          </a:p>
          <a:p>
            <a:pPr>
              <a:lnSpc>
                <a:spcPct val="90000"/>
              </a:lnSpc>
            </a:pPr>
            <a:endParaRPr lang="en-GB" sz="1300" dirty="0">
              <a:solidFill>
                <a:srgbClr val="FFFFFF"/>
              </a:solidFill>
            </a:endParaRPr>
          </a:p>
          <a:p>
            <a:pPr>
              <a:lnSpc>
                <a:spcPct val="90000"/>
              </a:lnSpc>
            </a:pPr>
            <a:endParaRPr lang="en-GB" sz="1300" dirty="0">
              <a:solidFill>
                <a:srgbClr val="FFFFFF"/>
              </a:solidFill>
            </a:endParaRPr>
          </a:p>
        </p:txBody>
      </p:sp>
      <p:cxnSp>
        <p:nvCxnSpPr>
          <p:cNvPr id="18" name="Straight Connector 17">
            <a:extLst>
              <a:ext uri="{FF2B5EF4-FFF2-40B4-BE49-F238E27FC236}">
                <a16:creationId xmlns:a16="http://schemas.microsoft.com/office/drawing/2014/main" xmlns="" id="{AAFEA932-2DF1-410C-A00A-7A1E7DBF7511}"/>
              </a:ext>
              <a:ext uri="{C183D7F6-B498-43B3-948B-1728B52AA6E4}">
                <adec:decorative xmlns:adec="http://schemas.microsoft.com/office/drawing/2017/decorative" xmlns=""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xmlns="" val="1"/>
              </p:ext>
            </p:extLst>
          </p:nvPr>
        </p:nvCxnSpPr>
        <p:spPr>
          <a:xfrm>
            <a:off x="4072573" y="1979267"/>
            <a:ext cx="3421831" cy="0"/>
          </a:xfrm>
          <a:prstGeom prst="line">
            <a:avLst/>
          </a:prstGeom>
          <a:ln w="22225">
            <a:solidFill>
              <a:srgbClr val="E7E6E6"/>
            </a:solidFill>
          </a:ln>
        </p:spPr>
        <p:style>
          <a:lnRef idx="1">
            <a:schemeClr val="accent1"/>
          </a:lnRef>
          <a:fillRef idx="0">
            <a:schemeClr val="accent1"/>
          </a:fillRef>
          <a:effectRef idx="0">
            <a:schemeClr val="accent1"/>
          </a:effectRef>
          <a:fontRef idx="minor">
            <a:schemeClr val="tx1"/>
          </a:fontRef>
        </p:style>
      </p:cxnSp>
      <p:graphicFrame>
        <p:nvGraphicFramePr>
          <p:cNvPr id="4" name="Table 3"/>
          <p:cNvGraphicFramePr>
            <a:graphicFrameLocks noGrp="1"/>
          </p:cNvGraphicFramePr>
          <p:nvPr>
            <p:extLst>
              <p:ext uri="{D42A27DB-BD31-4B8C-83A1-F6EECF244321}">
                <p14:modId xmlns:p14="http://schemas.microsoft.com/office/powerpoint/2010/main" val="4019202173"/>
              </p:ext>
            </p:extLst>
          </p:nvPr>
        </p:nvGraphicFramePr>
        <p:xfrm>
          <a:off x="5946344" y="358697"/>
          <a:ext cx="2784775" cy="4371686"/>
        </p:xfrm>
        <a:graphic>
          <a:graphicData uri="http://schemas.openxmlformats.org/drawingml/2006/table">
            <a:tbl>
              <a:tblPr>
                <a:tableStyleId>{5C22544A-7EE6-4342-B048-85BDC9FD1C3A}</a:tableStyleId>
              </a:tblPr>
              <a:tblGrid>
                <a:gridCol w="1225661"/>
                <a:gridCol w="865173"/>
                <a:gridCol w="693941"/>
              </a:tblGrid>
              <a:tr h="126828">
                <a:tc>
                  <a:txBody>
                    <a:bodyPr/>
                    <a:lstStyle/>
                    <a:p>
                      <a:pPr algn="l" fontAlgn="b"/>
                      <a:r>
                        <a:rPr lang="en-GB" sz="600" u="none" strike="noStrike" dirty="0">
                          <a:effectLst/>
                        </a:rPr>
                        <a:t>Room</a:t>
                      </a:r>
                      <a:endParaRPr lang="en-GB" sz="600" b="1" i="0" u="none" strike="noStrike" dirty="0">
                        <a:solidFill>
                          <a:srgbClr val="000000"/>
                        </a:solidFill>
                        <a:effectLst/>
                        <a:latin typeface="Calibri" panose="020F0502020204030204" pitchFamily="34" charset="0"/>
                      </a:endParaRPr>
                    </a:p>
                  </a:txBody>
                  <a:tcPr marL="4849" marR="4849" marT="4849" marB="0" anchor="b"/>
                </a:tc>
                <a:tc>
                  <a:txBody>
                    <a:bodyPr/>
                    <a:lstStyle/>
                    <a:p>
                      <a:pPr algn="l" fontAlgn="b"/>
                      <a:r>
                        <a:rPr lang="en-GB" sz="600" u="none" strike="noStrike">
                          <a:effectLst/>
                        </a:rPr>
                        <a:t>#3 Bar (ft)</a:t>
                      </a:r>
                      <a:endParaRPr lang="en-GB" sz="600" b="1" i="0" u="none" strike="noStrike">
                        <a:solidFill>
                          <a:srgbClr val="000000"/>
                        </a:solidFill>
                        <a:effectLst/>
                        <a:latin typeface="Calibri" panose="020F0502020204030204" pitchFamily="34" charset="0"/>
                      </a:endParaRPr>
                    </a:p>
                  </a:txBody>
                  <a:tcPr marL="4849" marR="4849" marT="4849" marB="0" anchor="b"/>
                </a:tc>
                <a:tc>
                  <a:txBody>
                    <a:bodyPr/>
                    <a:lstStyle/>
                    <a:p>
                      <a:pPr algn="l" fontAlgn="b"/>
                      <a:r>
                        <a:rPr lang="en-GB" sz="600" u="none" strike="noStrike">
                          <a:effectLst/>
                        </a:rPr>
                        <a:t>#4 Bars (ft)</a:t>
                      </a:r>
                      <a:endParaRPr lang="en-GB" sz="600" b="1" i="0" u="none" strike="noStrike">
                        <a:solidFill>
                          <a:srgbClr val="000000"/>
                        </a:solidFill>
                        <a:effectLst/>
                        <a:latin typeface="Calibri" panose="020F0502020204030204" pitchFamily="34" charset="0"/>
                      </a:endParaRPr>
                    </a:p>
                  </a:txBody>
                  <a:tcPr marL="4849" marR="4849" marT="4849" marB="0" anchor="b"/>
                </a:tc>
              </a:tr>
              <a:tr h="126828">
                <a:tc>
                  <a:txBody>
                    <a:bodyPr/>
                    <a:lstStyle/>
                    <a:p>
                      <a:pPr algn="l" fontAlgn="b"/>
                      <a:r>
                        <a:rPr lang="en-GB" sz="600" u="none" strike="noStrike">
                          <a:effectLst/>
                        </a:rPr>
                        <a:t>Dressing Room </a:t>
                      </a:r>
                      <a:endParaRPr lang="en-GB" sz="600" b="0" i="0" u="none" strike="noStrike">
                        <a:solidFill>
                          <a:srgbClr val="000000"/>
                        </a:solidFill>
                        <a:effectLst/>
                        <a:latin typeface="Calibri" panose="020F0502020204030204" pitchFamily="34" charset="0"/>
                      </a:endParaRPr>
                    </a:p>
                  </a:txBody>
                  <a:tcPr marL="4849" marR="4849" marT="4849" marB="0" anchor="b"/>
                </a:tc>
                <a:tc>
                  <a:txBody>
                    <a:bodyPr/>
                    <a:lstStyle/>
                    <a:p>
                      <a:pPr algn="r" fontAlgn="b"/>
                      <a:r>
                        <a:rPr lang="en-GB" sz="600" u="none" strike="noStrike">
                          <a:effectLst/>
                        </a:rPr>
                        <a:t>100.61</a:t>
                      </a:r>
                      <a:endParaRPr lang="en-GB" sz="600" b="0" i="0" u="none" strike="noStrike">
                        <a:solidFill>
                          <a:srgbClr val="000000"/>
                        </a:solidFill>
                        <a:effectLst/>
                        <a:latin typeface="Calibri" panose="020F0502020204030204" pitchFamily="34" charset="0"/>
                      </a:endParaRPr>
                    </a:p>
                  </a:txBody>
                  <a:tcPr marL="4849" marR="4849" marT="4849" marB="0" anchor="b"/>
                </a:tc>
                <a:tc>
                  <a:txBody>
                    <a:bodyPr/>
                    <a:lstStyle/>
                    <a:p>
                      <a:pPr algn="l" fontAlgn="b"/>
                      <a:endParaRPr lang="en-GB" sz="600" b="0" i="0" u="none" strike="noStrike">
                        <a:solidFill>
                          <a:srgbClr val="000000"/>
                        </a:solidFill>
                        <a:effectLst/>
                        <a:latin typeface="Calibri" panose="020F0502020204030204" pitchFamily="34" charset="0"/>
                      </a:endParaRPr>
                    </a:p>
                  </a:txBody>
                  <a:tcPr marL="4849" marR="4849" marT="4849" marB="0" anchor="b"/>
                </a:tc>
              </a:tr>
              <a:tr h="126828">
                <a:tc>
                  <a:txBody>
                    <a:bodyPr/>
                    <a:lstStyle/>
                    <a:p>
                      <a:pPr algn="l" fontAlgn="b"/>
                      <a:endParaRPr lang="en-GB" sz="600" b="0" i="0" u="none" strike="noStrike">
                        <a:solidFill>
                          <a:srgbClr val="000000"/>
                        </a:solidFill>
                        <a:effectLst/>
                        <a:latin typeface="Calibri" panose="020F0502020204030204" pitchFamily="34" charset="0"/>
                      </a:endParaRPr>
                    </a:p>
                  </a:txBody>
                  <a:tcPr marL="4849" marR="4849" marT="4849" marB="0" anchor="b"/>
                </a:tc>
                <a:tc>
                  <a:txBody>
                    <a:bodyPr/>
                    <a:lstStyle/>
                    <a:p>
                      <a:pPr algn="r" fontAlgn="b"/>
                      <a:r>
                        <a:rPr lang="en-GB" sz="600" u="none" strike="noStrike">
                          <a:effectLst/>
                        </a:rPr>
                        <a:t>43.3125</a:t>
                      </a:r>
                      <a:endParaRPr lang="en-GB" sz="600" b="0" i="0" u="none" strike="noStrike">
                        <a:solidFill>
                          <a:srgbClr val="000000"/>
                        </a:solidFill>
                        <a:effectLst/>
                        <a:latin typeface="Calibri" panose="020F0502020204030204" pitchFamily="34" charset="0"/>
                      </a:endParaRPr>
                    </a:p>
                  </a:txBody>
                  <a:tcPr marL="4849" marR="4849" marT="4849" marB="0" anchor="b"/>
                </a:tc>
                <a:tc>
                  <a:txBody>
                    <a:bodyPr/>
                    <a:lstStyle/>
                    <a:p>
                      <a:pPr algn="l" fontAlgn="b"/>
                      <a:endParaRPr lang="en-GB" sz="600" b="0" i="0" u="none" strike="noStrike">
                        <a:solidFill>
                          <a:srgbClr val="000000"/>
                        </a:solidFill>
                        <a:effectLst/>
                        <a:latin typeface="Calibri" panose="020F0502020204030204" pitchFamily="34" charset="0"/>
                      </a:endParaRPr>
                    </a:p>
                  </a:txBody>
                  <a:tcPr marL="4849" marR="4849" marT="4849" marB="0" anchor="b"/>
                </a:tc>
              </a:tr>
              <a:tr h="126828">
                <a:tc>
                  <a:txBody>
                    <a:bodyPr/>
                    <a:lstStyle/>
                    <a:p>
                      <a:pPr algn="l" fontAlgn="b"/>
                      <a:endParaRPr lang="en-GB" sz="600" b="0" i="0" u="none" strike="noStrike">
                        <a:solidFill>
                          <a:srgbClr val="000000"/>
                        </a:solidFill>
                        <a:effectLst/>
                        <a:latin typeface="Calibri" panose="020F0502020204030204" pitchFamily="34" charset="0"/>
                      </a:endParaRPr>
                    </a:p>
                  </a:txBody>
                  <a:tcPr marL="4849" marR="4849" marT="4849" marB="0" anchor="b"/>
                </a:tc>
                <a:tc>
                  <a:txBody>
                    <a:bodyPr/>
                    <a:lstStyle/>
                    <a:p>
                      <a:pPr algn="r" fontAlgn="b"/>
                      <a:r>
                        <a:rPr lang="en-GB" sz="600" u="none" strike="noStrike">
                          <a:effectLst/>
                        </a:rPr>
                        <a:t>82.5</a:t>
                      </a:r>
                      <a:endParaRPr lang="en-GB" sz="600" b="0" i="0" u="none" strike="noStrike">
                        <a:solidFill>
                          <a:srgbClr val="000000"/>
                        </a:solidFill>
                        <a:effectLst/>
                        <a:latin typeface="Calibri" panose="020F0502020204030204" pitchFamily="34" charset="0"/>
                      </a:endParaRPr>
                    </a:p>
                  </a:txBody>
                  <a:tcPr marL="4849" marR="4849" marT="4849" marB="0" anchor="b"/>
                </a:tc>
                <a:tc>
                  <a:txBody>
                    <a:bodyPr/>
                    <a:lstStyle/>
                    <a:p>
                      <a:pPr algn="l" fontAlgn="b"/>
                      <a:endParaRPr lang="en-GB" sz="600" b="0" i="0" u="none" strike="noStrike">
                        <a:solidFill>
                          <a:srgbClr val="000000"/>
                        </a:solidFill>
                        <a:effectLst/>
                        <a:latin typeface="Calibri" panose="020F0502020204030204" pitchFamily="34" charset="0"/>
                      </a:endParaRPr>
                    </a:p>
                  </a:txBody>
                  <a:tcPr marL="4849" marR="4849" marT="4849" marB="0" anchor="b"/>
                </a:tc>
              </a:tr>
              <a:tr h="126828">
                <a:tc>
                  <a:txBody>
                    <a:bodyPr/>
                    <a:lstStyle/>
                    <a:p>
                      <a:pPr algn="l" fontAlgn="b"/>
                      <a:endParaRPr lang="en-GB" sz="600" b="0" i="0" u="none" strike="noStrike">
                        <a:solidFill>
                          <a:srgbClr val="000000"/>
                        </a:solidFill>
                        <a:effectLst/>
                        <a:latin typeface="Calibri" panose="020F0502020204030204" pitchFamily="34" charset="0"/>
                      </a:endParaRPr>
                    </a:p>
                  </a:txBody>
                  <a:tcPr marL="4849" marR="4849" marT="4849" marB="0" anchor="b"/>
                </a:tc>
                <a:tc>
                  <a:txBody>
                    <a:bodyPr/>
                    <a:lstStyle/>
                    <a:p>
                      <a:pPr algn="l" fontAlgn="b"/>
                      <a:endParaRPr lang="en-GB" sz="600" b="0" i="0" u="none" strike="noStrike">
                        <a:solidFill>
                          <a:srgbClr val="000000"/>
                        </a:solidFill>
                        <a:effectLst/>
                        <a:latin typeface="Calibri" panose="020F0502020204030204" pitchFamily="34" charset="0"/>
                      </a:endParaRPr>
                    </a:p>
                  </a:txBody>
                  <a:tcPr marL="4849" marR="4849" marT="4849" marB="0" anchor="b"/>
                </a:tc>
                <a:tc>
                  <a:txBody>
                    <a:bodyPr/>
                    <a:lstStyle/>
                    <a:p>
                      <a:pPr algn="l" fontAlgn="b"/>
                      <a:endParaRPr lang="en-GB" sz="600" b="0" i="0" u="none" strike="noStrike">
                        <a:solidFill>
                          <a:srgbClr val="000000"/>
                        </a:solidFill>
                        <a:effectLst/>
                        <a:latin typeface="Calibri" panose="020F0502020204030204" pitchFamily="34" charset="0"/>
                      </a:endParaRPr>
                    </a:p>
                  </a:txBody>
                  <a:tcPr marL="4849" marR="4849" marT="4849" marB="0" anchor="b"/>
                </a:tc>
              </a:tr>
              <a:tr h="126828">
                <a:tc>
                  <a:txBody>
                    <a:bodyPr/>
                    <a:lstStyle/>
                    <a:p>
                      <a:pPr algn="l" fontAlgn="b"/>
                      <a:r>
                        <a:rPr lang="en-GB" sz="600" u="none" strike="noStrike">
                          <a:effectLst/>
                        </a:rPr>
                        <a:t>Bathroom</a:t>
                      </a:r>
                      <a:endParaRPr lang="en-GB" sz="600" b="0" i="0" u="none" strike="noStrike">
                        <a:solidFill>
                          <a:srgbClr val="000000"/>
                        </a:solidFill>
                        <a:effectLst/>
                        <a:latin typeface="Calibri" panose="020F0502020204030204" pitchFamily="34" charset="0"/>
                      </a:endParaRPr>
                    </a:p>
                  </a:txBody>
                  <a:tcPr marL="4849" marR="4849" marT="4849" marB="0" anchor="b"/>
                </a:tc>
                <a:tc>
                  <a:txBody>
                    <a:bodyPr/>
                    <a:lstStyle/>
                    <a:p>
                      <a:pPr algn="r" fontAlgn="b"/>
                      <a:r>
                        <a:rPr lang="en-GB" sz="600" u="none" strike="noStrike">
                          <a:effectLst/>
                        </a:rPr>
                        <a:t>137.291</a:t>
                      </a:r>
                      <a:endParaRPr lang="en-GB" sz="600" b="0" i="0" u="none" strike="noStrike">
                        <a:solidFill>
                          <a:srgbClr val="000000"/>
                        </a:solidFill>
                        <a:effectLst/>
                        <a:latin typeface="Calibri" panose="020F0502020204030204" pitchFamily="34" charset="0"/>
                      </a:endParaRPr>
                    </a:p>
                  </a:txBody>
                  <a:tcPr marL="4849" marR="4849" marT="4849" marB="0" anchor="b"/>
                </a:tc>
                <a:tc>
                  <a:txBody>
                    <a:bodyPr/>
                    <a:lstStyle/>
                    <a:p>
                      <a:pPr algn="l" fontAlgn="b"/>
                      <a:endParaRPr lang="en-GB" sz="600" b="0" i="0" u="none" strike="noStrike">
                        <a:solidFill>
                          <a:srgbClr val="000000"/>
                        </a:solidFill>
                        <a:effectLst/>
                        <a:latin typeface="Calibri" panose="020F0502020204030204" pitchFamily="34" charset="0"/>
                      </a:endParaRPr>
                    </a:p>
                  </a:txBody>
                  <a:tcPr marL="4849" marR="4849" marT="4849" marB="0" anchor="b"/>
                </a:tc>
              </a:tr>
              <a:tr h="126828">
                <a:tc>
                  <a:txBody>
                    <a:bodyPr/>
                    <a:lstStyle/>
                    <a:p>
                      <a:pPr algn="l" fontAlgn="b"/>
                      <a:endParaRPr lang="en-GB" sz="600" b="0" i="0" u="none" strike="noStrike">
                        <a:solidFill>
                          <a:srgbClr val="000000"/>
                        </a:solidFill>
                        <a:effectLst/>
                        <a:latin typeface="Calibri" panose="020F0502020204030204" pitchFamily="34" charset="0"/>
                      </a:endParaRPr>
                    </a:p>
                  </a:txBody>
                  <a:tcPr marL="4849" marR="4849" marT="4849" marB="0" anchor="b"/>
                </a:tc>
                <a:tc>
                  <a:txBody>
                    <a:bodyPr/>
                    <a:lstStyle/>
                    <a:p>
                      <a:pPr algn="r" fontAlgn="b"/>
                      <a:r>
                        <a:rPr lang="en-GB" sz="600" u="none" strike="noStrike">
                          <a:effectLst/>
                        </a:rPr>
                        <a:t>43.75</a:t>
                      </a:r>
                      <a:endParaRPr lang="en-GB" sz="600" b="0" i="0" u="none" strike="noStrike">
                        <a:solidFill>
                          <a:srgbClr val="000000"/>
                        </a:solidFill>
                        <a:effectLst/>
                        <a:latin typeface="Calibri" panose="020F0502020204030204" pitchFamily="34" charset="0"/>
                      </a:endParaRPr>
                    </a:p>
                  </a:txBody>
                  <a:tcPr marL="4849" marR="4849" marT="4849" marB="0" anchor="b"/>
                </a:tc>
                <a:tc>
                  <a:txBody>
                    <a:bodyPr/>
                    <a:lstStyle/>
                    <a:p>
                      <a:pPr algn="l" fontAlgn="b"/>
                      <a:endParaRPr lang="en-GB" sz="600" b="0" i="0" u="none" strike="noStrike">
                        <a:solidFill>
                          <a:srgbClr val="000000"/>
                        </a:solidFill>
                        <a:effectLst/>
                        <a:latin typeface="Calibri" panose="020F0502020204030204" pitchFamily="34" charset="0"/>
                      </a:endParaRPr>
                    </a:p>
                  </a:txBody>
                  <a:tcPr marL="4849" marR="4849" marT="4849" marB="0" anchor="b"/>
                </a:tc>
              </a:tr>
              <a:tr h="126828">
                <a:tc>
                  <a:txBody>
                    <a:bodyPr/>
                    <a:lstStyle/>
                    <a:p>
                      <a:pPr algn="l" fontAlgn="b"/>
                      <a:endParaRPr lang="en-GB" sz="600" b="0" i="0" u="none" strike="noStrike">
                        <a:solidFill>
                          <a:srgbClr val="000000"/>
                        </a:solidFill>
                        <a:effectLst/>
                        <a:latin typeface="Calibri" panose="020F0502020204030204" pitchFamily="34" charset="0"/>
                      </a:endParaRPr>
                    </a:p>
                  </a:txBody>
                  <a:tcPr marL="4849" marR="4849" marT="4849" marB="0" anchor="b"/>
                </a:tc>
                <a:tc>
                  <a:txBody>
                    <a:bodyPr/>
                    <a:lstStyle/>
                    <a:p>
                      <a:pPr algn="l" fontAlgn="b"/>
                      <a:endParaRPr lang="en-GB" sz="600" b="0" i="0" u="none" strike="noStrike">
                        <a:solidFill>
                          <a:srgbClr val="000000"/>
                        </a:solidFill>
                        <a:effectLst/>
                        <a:latin typeface="Calibri" panose="020F0502020204030204" pitchFamily="34" charset="0"/>
                      </a:endParaRPr>
                    </a:p>
                  </a:txBody>
                  <a:tcPr marL="4849" marR="4849" marT="4849" marB="0" anchor="b"/>
                </a:tc>
                <a:tc>
                  <a:txBody>
                    <a:bodyPr/>
                    <a:lstStyle/>
                    <a:p>
                      <a:pPr algn="l" fontAlgn="b"/>
                      <a:endParaRPr lang="en-GB" sz="600" b="0" i="0" u="none" strike="noStrike">
                        <a:solidFill>
                          <a:srgbClr val="000000"/>
                        </a:solidFill>
                        <a:effectLst/>
                        <a:latin typeface="Calibri" panose="020F0502020204030204" pitchFamily="34" charset="0"/>
                      </a:endParaRPr>
                    </a:p>
                  </a:txBody>
                  <a:tcPr marL="4849" marR="4849" marT="4849" marB="0" anchor="b"/>
                </a:tc>
              </a:tr>
              <a:tr h="126828">
                <a:tc>
                  <a:txBody>
                    <a:bodyPr/>
                    <a:lstStyle/>
                    <a:p>
                      <a:pPr algn="l" fontAlgn="b"/>
                      <a:r>
                        <a:rPr lang="en-GB" sz="600" u="none" strike="noStrike">
                          <a:effectLst/>
                        </a:rPr>
                        <a:t>Bathroom</a:t>
                      </a:r>
                      <a:endParaRPr lang="en-GB" sz="600" b="0" i="0" u="none" strike="noStrike">
                        <a:solidFill>
                          <a:srgbClr val="000000"/>
                        </a:solidFill>
                        <a:effectLst/>
                        <a:latin typeface="Calibri" panose="020F0502020204030204" pitchFamily="34" charset="0"/>
                      </a:endParaRPr>
                    </a:p>
                  </a:txBody>
                  <a:tcPr marL="4849" marR="4849" marT="4849" marB="0" anchor="b"/>
                </a:tc>
                <a:tc>
                  <a:txBody>
                    <a:bodyPr/>
                    <a:lstStyle/>
                    <a:p>
                      <a:pPr algn="r" fontAlgn="b"/>
                      <a:r>
                        <a:rPr lang="en-GB" sz="600" u="none" strike="noStrike">
                          <a:effectLst/>
                        </a:rPr>
                        <a:t>91.4375</a:t>
                      </a:r>
                      <a:endParaRPr lang="en-GB" sz="600" b="0" i="0" u="none" strike="noStrike">
                        <a:solidFill>
                          <a:srgbClr val="000000"/>
                        </a:solidFill>
                        <a:effectLst/>
                        <a:latin typeface="Calibri" panose="020F0502020204030204" pitchFamily="34" charset="0"/>
                      </a:endParaRPr>
                    </a:p>
                  </a:txBody>
                  <a:tcPr marL="4849" marR="4849" marT="4849" marB="0" anchor="b"/>
                </a:tc>
                <a:tc>
                  <a:txBody>
                    <a:bodyPr/>
                    <a:lstStyle/>
                    <a:p>
                      <a:pPr algn="l" fontAlgn="b"/>
                      <a:endParaRPr lang="en-GB" sz="600" b="0" i="0" u="none" strike="noStrike">
                        <a:solidFill>
                          <a:srgbClr val="000000"/>
                        </a:solidFill>
                        <a:effectLst/>
                        <a:latin typeface="Calibri" panose="020F0502020204030204" pitchFamily="34" charset="0"/>
                      </a:endParaRPr>
                    </a:p>
                  </a:txBody>
                  <a:tcPr marL="4849" marR="4849" marT="4849" marB="0" anchor="b"/>
                </a:tc>
              </a:tr>
              <a:tr h="126828">
                <a:tc>
                  <a:txBody>
                    <a:bodyPr/>
                    <a:lstStyle/>
                    <a:p>
                      <a:pPr algn="l" fontAlgn="b"/>
                      <a:endParaRPr lang="en-GB" sz="600" b="0" i="0" u="none" strike="noStrike">
                        <a:solidFill>
                          <a:srgbClr val="000000"/>
                        </a:solidFill>
                        <a:effectLst/>
                        <a:latin typeface="Calibri" panose="020F0502020204030204" pitchFamily="34" charset="0"/>
                      </a:endParaRPr>
                    </a:p>
                  </a:txBody>
                  <a:tcPr marL="4849" marR="4849" marT="4849" marB="0" anchor="b"/>
                </a:tc>
                <a:tc>
                  <a:txBody>
                    <a:bodyPr/>
                    <a:lstStyle/>
                    <a:p>
                      <a:pPr algn="r" fontAlgn="b"/>
                      <a:r>
                        <a:rPr lang="en-GB" sz="600" u="none" strike="noStrike">
                          <a:effectLst/>
                        </a:rPr>
                        <a:t>121.97</a:t>
                      </a:r>
                      <a:endParaRPr lang="en-GB" sz="600" b="0" i="0" u="none" strike="noStrike">
                        <a:solidFill>
                          <a:srgbClr val="000000"/>
                        </a:solidFill>
                        <a:effectLst/>
                        <a:latin typeface="Calibri" panose="020F0502020204030204" pitchFamily="34" charset="0"/>
                      </a:endParaRPr>
                    </a:p>
                  </a:txBody>
                  <a:tcPr marL="4849" marR="4849" marT="4849" marB="0" anchor="b"/>
                </a:tc>
                <a:tc>
                  <a:txBody>
                    <a:bodyPr/>
                    <a:lstStyle/>
                    <a:p>
                      <a:pPr algn="l" fontAlgn="b"/>
                      <a:endParaRPr lang="en-GB" sz="600" b="0" i="0" u="none" strike="noStrike">
                        <a:solidFill>
                          <a:srgbClr val="000000"/>
                        </a:solidFill>
                        <a:effectLst/>
                        <a:latin typeface="Calibri" panose="020F0502020204030204" pitchFamily="34" charset="0"/>
                      </a:endParaRPr>
                    </a:p>
                  </a:txBody>
                  <a:tcPr marL="4849" marR="4849" marT="4849" marB="0" anchor="b"/>
                </a:tc>
              </a:tr>
              <a:tr h="126828">
                <a:tc>
                  <a:txBody>
                    <a:bodyPr/>
                    <a:lstStyle/>
                    <a:p>
                      <a:pPr algn="l" fontAlgn="b"/>
                      <a:endParaRPr lang="en-GB" sz="600" b="0" i="0" u="none" strike="noStrike">
                        <a:solidFill>
                          <a:srgbClr val="000000"/>
                        </a:solidFill>
                        <a:effectLst/>
                        <a:latin typeface="Calibri" panose="020F0502020204030204" pitchFamily="34" charset="0"/>
                      </a:endParaRPr>
                    </a:p>
                  </a:txBody>
                  <a:tcPr marL="4849" marR="4849" marT="4849" marB="0" anchor="b"/>
                </a:tc>
                <a:tc>
                  <a:txBody>
                    <a:bodyPr/>
                    <a:lstStyle/>
                    <a:p>
                      <a:pPr algn="r" fontAlgn="b"/>
                      <a:r>
                        <a:rPr lang="en-GB" sz="600" u="none" strike="noStrike">
                          <a:effectLst/>
                        </a:rPr>
                        <a:t>38.8125</a:t>
                      </a:r>
                      <a:endParaRPr lang="en-GB" sz="600" b="0" i="0" u="none" strike="noStrike">
                        <a:solidFill>
                          <a:srgbClr val="000000"/>
                        </a:solidFill>
                        <a:effectLst/>
                        <a:latin typeface="Calibri" panose="020F0502020204030204" pitchFamily="34" charset="0"/>
                      </a:endParaRPr>
                    </a:p>
                  </a:txBody>
                  <a:tcPr marL="4849" marR="4849" marT="4849" marB="0" anchor="b"/>
                </a:tc>
                <a:tc>
                  <a:txBody>
                    <a:bodyPr/>
                    <a:lstStyle/>
                    <a:p>
                      <a:pPr algn="l" fontAlgn="b"/>
                      <a:endParaRPr lang="en-GB" sz="600" b="0" i="0" u="none" strike="noStrike">
                        <a:solidFill>
                          <a:srgbClr val="000000"/>
                        </a:solidFill>
                        <a:effectLst/>
                        <a:latin typeface="Calibri" panose="020F0502020204030204" pitchFamily="34" charset="0"/>
                      </a:endParaRPr>
                    </a:p>
                  </a:txBody>
                  <a:tcPr marL="4849" marR="4849" marT="4849" marB="0" anchor="b"/>
                </a:tc>
              </a:tr>
              <a:tr h="126828">
                <a:tc>
                  <a:txBody>
                    <a:bodyPr/>
                    <a:lstStyle/>
                    <a:p>
                      <a:pPr algn="l" fontAlgn="b"/>
                      <a:endParaRPr lang="en-GB" sz="600" b="0" i="0" u="none" strike="noStrike">
                        <a:solidFill>
                          <a:srgbClr val="000000"/>
                        </a:solidFill>
                        <a:effectLst/>
                        <a:latin typeface="Calibri" panose="020F0502020204030204" pitchFamily="34" charset="0"/>
                      </a:endParaRPr>
                    </a:p>
                  </a:txBody>
                  <a:tcPr marL="4849" marR="4849" marT="4849" marB="0" anchor="b"/>
                </a:tc>
                <a:tc>
                  <a:txBody>
                    <a:bodyPr/>
                    <a:lstStyle/>
                    <a:p>
                      <a:pPr algn="l" fontAlgn="b"/>
                      <a:endParaRPr lang="en-GB" sz="600" b="0" i="0" u="none" strike="noStrike">
                        <a:solidFill>
                          <a:srgbClr val="000000"/>
                        </a:solidFill>
                        <a:effectLst/>
                        <a:latin typeface="Calibri" panose="020F0502020204030204" pitchFamily="34" charset="0"/>
                      </a:endParaRPr>
                    </a:p>
                  </a:txBody>
                  <a:tcPr marL="4849" marR="4849" marT="4849" marB="0" anchor="b"/>
                </a:tc>
                <a:tc>
                  <a:txBody>
                    <a:bodyPr/>
                    <a:lstStyle/>
                    <a:p>
                      <a:pPr algn="l" fontAlgn="b"/>
                      <a:endParaRPr lang="en-GB" sz="600" b="0" i="0" u="none" strike="noStrike">
                        <a:solidFill>
                          <a:srgbClr val="000000"/>
                        </a:solidFill>
                        <a:effectLst/>
                        <a:latin typeface="Calibri" panose="020F0502020204030204" pitchFamily="34" charset="0"/>
                      </a:endParaRPr>
                    </a:p>
                  </a:txBody>
                  <a:tcPr marL="4849" marR="4849" marT="4849" marB="0" anchor="b"/>
                </a:tc>
              </a:tr>
              <a:tr h="80297">
                <a:tc>
                  <a:txBody>
                    <a:bodyPr/>
                    <a:lstStyle/>
                    <a:p>
                      <a:pPr algn="l" fontAlgn="b"/>
                      <a:r>
                        <a:rPr lang="en-GB" sz="600" u="none" strike="noStrike">
                          <a:effectLst/>
                        </a:rPr>
                        <a:t>T.V. Lounge</a:t>
                      </a:r>
                      <a:endParaRPr lang="en-GB" sz="600" b="0" i="0" u="none" strike="noStrike">
                        <a:solidFill>
                          <a:srgbClr val="000000"/>
                        </a:solidFill>
                        <a:effectLst/>
                        <a:latin typeface="Calibri" panose="020F0502020204030204" pitchFamily="34" charset="0"/>
                      </a:endParaRPr>
                    </a:p>
                  </a:txBody>
                  <a:tcPr marL="4849" marR="4849" marT="4849" marB="0" anchor="b"/>
                </a:tc>
                <a:tc>
                  <a:txBody>
                    <a:bodyPr/>
                    <a:lstStyle/>
                    <a:p>
                      <a:pPr algn="l" fontAlgn="b"/>
                      <a:endParaRPr lang="en-GB" sz="600" b="0" i="0" u="none" strike="noStrike">
                        <a:solidFill>
                          <a:srgbClr val="000000"/>
                        </a:solidFill>
                        <a:effectLst/>
                        <a:latin typeface="Calibri" panose="020F0502020204030204" pitchFamily="34" charset="0"/>
                      </a:endParaRPr>
                    </a:p>
                  </a:txBody>
                  <a:tcPr marL="4849" marR="4849" marT="4849" marB="0" anchor="b"/>
                </a:tc>
                <a:tc>
                  <a:txBody>
                    <a:bodyPr/>
                    <a:lstStyle/>
                    <a:p>
                      <a:pPr algn="r" fontAlgn="b"/>
                      <a:r>
                        <a:rPr lang="en-GB" sz="600" u="none" strike="noStrike">
                          <a:effectLst/>
                        </a:rPr>
                        <a:t>405.4167</a:t>
                      </a:r>
                      <a:endParaRPr lang="en-GB" sz="600" b="0" i="0" u="none" strike="noStrike">
                        <a:solidFill>
                          <a:srgbClr val="000000"/>
                        </a:solidFill>
                        <a:effectLst/>
                        <a:latin typeface="Calibri" panose="020F0502020204030204" pitchFamily="34" charset="0"/>
                      </a:endParaRPr>
                    </a:p>
                  </a:txBody>
                  <a:tcPr marL="4849" marR="4849" marT="4849" marB="0" anchor="b"/>
                </a:tc>
              </a:tr>
              <a:tr h="126828">
                <a:tc>
                  <a:txBody>
                    <a:bodyPr/>
                    <a:lstStyle/>
                    <a:p>
                      <a:pPr algn="l" fontAlgn="b"/>
                      <a:endParaRPr lang="en-GB" sz="600" b="0" i="0" u="none" strike="noStrike">
                        <a:solidFill>
                          <a:srgbClr val="000000"/>
                        </a:solidFill>
                        <a:effectLst/>
                        <a:latin typeface="Calibri" panose="020F0502020204030204" pitchFamily="34" charset="0"/>
                      </a:endParaRPr>
                    </a:p>
                  </a:txBody>
                  <a:tcPr marL="4849" marR="4849" marT="4849" marB="0" anchor="b"/>
                </a:tc>
                <a:tc>
                  <a:txBody>
                    <a:bodyPr/>
                    <a:lstStyle/>
                    <a:p>
                      <a:pPr algn="l" fontAlgn="b"/>
                      <a:endParaRPr lang="en-GB" sz="600" b="0" i="0" u="none" strike="noStrike">
                        <a:solidFill>
                          <a:srgbClr val="000000"/>
                        </a:solidFill>
                        <a:effectLst/>
                        <a:latin typeface="Calibri" panose="020F0502020204030204" pitchFamily="34" charset="0"/>
                      </a:endParaRPr>
                    </a:p>
                  </a:txBody>
                  <a:tcPr marL="4849" marR="4849" marT="4849" marB="0" anchor="b"/>
                </a:tc>
                <a:tc>
                  <a:txBody>
                    <a:bodyPr/>
                    <a:lstStyle/>
                    <a:p>
                      <a:pPr algn="r" fontAlgn="b"/>
                      <a:r>
                        <a:rPr lang="en-GB" sz="600" u="none" strike="noStrike">
                          <a:effectLst/>
                        </a:rPr>
                        <a:t>227.5</a:t>
                      </a:r>
                      <a:endParaRPr lang="en-GB" sz="600" b="0" i="0" u="none" strike="noStrike">
                        <a:solidFill>
                          <a:srgbClr val="000000"/>
                        </a:solidFill>
                        <a:effectLst/>
                        <a:latin typeface="Calibri" panose="020F0502020204030204" pitchFamily="34" charset="0"/>
                      </a:endParaRPr>
                    </a:p>
                  </a:txBody>
                  <a:tcPr marL="4849" marR="4849" marT="4849" marB="0" anchor="b"/>
                </a:tc>
              </a:tr>
              <a:tr h="126828">
                <a:tc>
                  <a:txBody>
                    <a:bodyPr/>
                    <a:lstStyle/>
                    <a:p>
                      <a:pPr algn="l" fontAlgn="b"/>
                      <a:endParaRPr lang="en-GB" sz="600" b="0" i="0" u="none" strike="noStrike">
                        <a:solidFill>
                          <a:srgbClr val="000000"/>
                        </a:solidFill>
                        <a:effectLst/>
                        <a:latin typeface="Calibri" panose="020F0502020204030204" pitchFamily="34" charset="0"/>
                      </a:endParaRPr>
                    </a:p>
                  </a:txBody>
                  <a:tcPr marL="4849" marR="4849" marT="4849" marB="0" anchor="b"/>
                </a:tc>
                <a:tc>
                  <a:txBody>
                    <a:bodyPr/>
                    <a:lstStyle/>
                    <a:p>
                      <a:pPr algn="l" fontAlgn="b"/>
                      <a:endParaRPr lang="en-GB" sz="600" b="0" i="0" u="none" strike="noStrike">
                        <a:solidFill>
                          <a:srgbClr val="000000"/>
                        </a:solidFill>
                        <a:effectLst/>
                        <a:latin typeface="Calibri" panose="020F0502020204030204" pitchFamily="34" charset="0"/>
                      </a:endParaRPr>
                    </a:p>
                  </a:txBody>
                  <a:tcPr marL="4849" marR="4849" marT="4849" marB="0" anchor="b"/>
                </a:tc>
                <a:tc>
                  <a:txBody>
                    <a:bodyPr/>
                    <a:lstStyle/>
                    <a:p>
                      <a:pPr algn="r" fontAlgn="b"/>
                      <a:r>
                        <a:rPr lang="en-GB" sz="600" u="none" strike="noStrike">
                          <a:effectLst/>
                        </a:rPr>
                        <a:t>398.25</a:t>
                      </a:r>
                      <a:endParaRPr lang="en-GB" sz="600" b="0" i="0" u="none" strike="noStrike">
                        <a:solidFill>
                          <a:srgbClr val="000000"/>
                        </a:solidFill>
                        <a:effectLst/>
                        <a:latin typeface="Calibri" panose="020F0502020204030204" pitchFamily="34" charset="0"/>
                      </a:endParaRPr>
                    </a:p>
                  </a:txBody>
                  <a:tcPr marL="4849" marR="4849" marT="4849" marB="0" anchor="b"/>
                </a:tc>
              </a:tr>
              <a:tr h="126828">
                <a:tc>
                  <a:txBody>
                    <a:bodyPr/>
                    <a:lstStyle/>
                    <a:p>
                      <a:pPr algn="l" fontAlgn="b"/>
                      <a:endParaRPr lang="en-GB" sz="600" b="0" i="0" u="none" strike="noStrike">
                        <a:solidFill>
                          <a:srgbClr val="000000"/>
                        </a:solidFill>
                        <a:effectLst/>
                        <a:latin typeface="Calibri" panose="020F0502020204030204" pitchFamily="34" charset="0"/>
                      </a:endParaRPr>
                    </a:p>
                  </a:txBody>
                  <a:tcPr marL="4849" marR="4849" marT="4849" marB="0" anchor="b"/>
                </a:tc>
                <a:tc>
                  <a:txBody>
                    <a:bodyPr/>
                    <a:lstStyle/>
                    <a:p>
                      <a:pPr algn="l" fontAlgn="b"/>
                      <a:endParaRPr lang="en-GB" sz="600" b="0" i="0" u="none" strike="noStrike">
                        <a:solidFill>
                          <a:srgbClr val="000000"/>
                        </a:solidFill>
                        <a:effectLst/>
                        <a:latin typeface="Calibri" panose="020F0502020204030204" pitchFamily="34" charset="0"/>
                      </a:endParaRPr>
                    </a:p>
                  </a:txBody>
                  <a:tcPr marL="4849" marR="4849" marT="4849" marB="0" anchor="b"/>
                </a:tc>
                <a:tc>
                  <a:txBody>
                    <a:bodyPr/>
                    <a:lstStyle/>
                    <a:p>
                      <a:pPr algn="r" fontAlgn="b"/>
                      <a:r>
                        <a:rPr lang="en-GB" sz="600" u="none" strike="noStrike">
                          <a:effectLst/>
                        </a:rPr>
                        <a:t>432</a:t>
                      </a:r>
                      <a:endParaRPr lang="en-GB" sz="600" b="0" i="0" u="none" strike="noStrike">
                        <a:solidFill>
                          <a:srgbClr val="000000"/>
                        </a:solidFill>
                        <a:effectLst/>
                        <a:latin typeface="Calibri" panose="020F0502020204030204" pitchFamily="34" charset="0"/>
                      </a:endParaRPr>
                    </a:p>
                  </a:txBody>
                  <a:tcPr marL="4849" marR="4849" marT="4849" marB="0" anchor="b"/>
                </a:tc>
              </a:tr>
              <a:tr h="126828">
                <a:tc>
                  <a:txBody>
                    <a:bodyPr/>
                    <a:lstStyle/>
                    <a:p>
                      <a:pPr algn="l" fontAlgn="b"/>
                      <a:endParaRPr lang="en-GB" sz="600" b="0" i="0" u="none" strike="noStrike" dirty="0">
                        <a:solidFill>
                          <a:srgbClr val="000000"/>
                        </a:solidFill>
                        <a:effectLst/>
                        <a:latin typeface="Calibri" panose="020F0502020204030204" pitchFamily="34" charset="0"/>
                      </a:endParaRPr>
                    </a:p>
                  </a:txBody>
                  <a:tcPr marL="4849" marR="4849" marT="4849" marB="0" anchor="b"/>
                </a:tc>
                <a:tc>
                  <a:txBody>
                    <a:bodyPr/>
                    <a:lstStyle/>
                    <a:p>
                      <a:pPr algn="l" fontAlgn="b"/>
                      <a:endParaRPr lang="en-GB" sz="600" b="0" i="0" u="none" strike="noStrike">
                        <a:solidFill>
                          <a:srgbClr val="000000"/>
                        </a:solidFill>
                        <a:effectLst/>
                        <a:latin typeface="Calibri" panose="020F0502020204030204" pitchFamily="34" charset="0"/>
                      </a:endParaRPr>
                    </a:p>
                  </a:txBody>
                  <a:tcPr marL="4849" marR="4849" marT="4849" marB="0" anchor="b"/>
                </a:tc>
                <a:tc>
                  <a:txBody>
                    <a:bodyPr/>
                    <a:lstStyle/>
                    <a:p>
                      <a:pPr algn="l" fontAlgn="b"/>
                      <a:endParaRPr lang="en-GB" sz="600" b="0" i="0" u="none" strike="noStrike">
                        <a:solidFill>
                          <a:srgbClr val="000000"/>
                        </a:solidFill>
                        <a:effectLst/>
                        <a:latin typeface="Calibri" panose="020F0502020204030204" pitchFamily="34" charset="0"/>
                      </a:endParaRPr>
                    </a:p>
                  </a:txBody>
                  <a:tcPr marL="4849" marR="4849" marT="4849" marB="0" anchor="b"/>
                </a:tc>
              </a:tr>
              <a:tr h="126828">
                <a:tc>
                  <a:txBody>
                    <a:bodyPr/>
                    <a:lstStyle/>
                    <a:p>
                      <a:pPr algn="l" fontAlgn="b"/>
                      <a:r>
                        <a:rPr lang="en-GB" sz="600" u="none" strike="noStrike">
                          <a:effectLst/>
                        </a:rPr>
                        <a:t>Bedroom and Dressing</a:t>
                      </a:r>
                      <a:endParaRPr lang="en-GB" sz="600" b="0" i="0" u="none" strike="noStrike">
                        <a:solidFill>
                          <a:srgbClr val="000000"/>
                        </a:solidFill>
                        <a:effectLst/>
                        <a:latin typeface="Calibri" panose="020F0502020204030204" pitchFamily="34" charset="0"/>
                      </a:endParaRPr>
                    </a:p>
                  </a:txBody>
                  <a:tcPr marL="4849" marR="4849" marT="4849" marB="0" anchor="b"/>
                </a:tc>
                <a:tc>
                  <a:txBody>
                    <a:bodyPr/>
                    <a:lstStyle/>
                    <a:p>
                      <a:pPr algn="r" fontAlgn="b"/>
                      <a:r>
                        <a:rPr lang="en-GB" sz="600" u="none" strike="noStrike" dirty="0">
                          <a:effectLst/>
                        </a:rPr>
                        <a:t>1805.375</a:t>
                      </a:r>
                      <a:endParaRPr lang="en-GB" sz="600" b="0" i="0" u="none" strike="noStrike" dirty="0">
                        <a:solidFill>
                          <a:srgbClr val="000000"/>
                        </a:solidFill>
                        <a:effectLst/>
                        <a:latin typeface="Calibri" panose="020F0502020204030204" pitchFamily="34" charset="0"/>
                      </a:endParaRPr>
                    </a:p>
                  </a:txBody>
                  <a:tcPr marL="4849" marR="4849" marT="4849" marB="0" anchor="b"/>
                </a:tc>
                <a:tc>
                  <a:txBody>
                    <a:bodyPr/>
                    <a:lstStyle/>
                    <a:p>
                      <a:pPr algn="l" fontAlgn="b"/>
                      <a:endParaRPr lang="en-GB" sz="600" b="0" i="0" u="none" strike="noStrike">
                        <a:solidFill>
                          <a:srgbClr val="000000"/>
                        </a:solidFill>
                        <a:effectLst/>
                        <a:latin typeface="Calibri" panose="020F0502020204030204" pitchFamily="34" charset="0"/>
                      </a:endParaRPr>
                    </a:p>
                  </a:txBody>
                  <a:tcPr marL="4849" marR="4849" marT="4849" marB="0" anchor="b"/>
                </a:tc>
              </a:tr>
              <a:tr h="0">
                <a:tc>
                  <a:txBody>
                    <a:bodyPr/>
                    <a:lstStyle/>
                    <a:p>
                      <a:pPr algn="l" fontAlgn="b"/>
                      <a:endParaRPr lang="en-GB" sz="600" b="0" i="0" u="none" strike="noStrike" dirty="0">
                        <a:solidFill>
                          <a:srgbClr val="000000"/>
                        </a:solidFill>
                        <a:effectLst/>
                        <a:latin typeface="Calibri" panose="020F0502020204030204" pitchFamily="34" charset="0"/>
                      </a:endParaRPr>
                    </a:p>
                  </a:txBody>
                  <a:tcPr marL="4849" marR="4849" marT="4849" marB="0" anchor="b"/>
                </a:tc>
                <a:tc>
                  <a:txBody>
                    <a:bodyPr/>
                    <a:lstStyle/>
                    <a:p>
                      <a:pPr algn="l" fontAlgn="b"/>
                      <a:endParaRPr lang="en-GB" sz="600" b="0" i="0" u="none" strike="noStrike">
                        <a:solidFill>
                          <a:srgbClr val="000000"/>
                        </a:solidFill>
                        <a:effectLst/>
                        <a:latin typeface="Calibri" panose="020F0502020204030204" pitchFamily="34" charset="0"/>
                      </a:endParaRPr>
                    </a:p>
                  </a:txBody>
                  <a:tcPr marL="4849" marR="4849" marT="4849" marB="0" anchor="b"/>
                </a:tc>
                <a:tc>
                  <a:txBody>
                    <a:bodyPr/>
                    <a:lstStyle/>
                    <a:p>
                      <a:pPr algn="l" fontAlgn="b"/>
                      <a:endParaRPr lang="en-GB" sz="600" b="0" i="0" u="none" strike="noStrike" dirty="0">
                        <a:solidFill>
                          <a:srgbClr val="000000"/>
                        </a:solidFill>
                        <a:effectLst/>
                        <a:latin typeface="Calibri" panose="020F0502020204030204" pitchFamily="34" charset="0"/>
                      </a:endParaRPr>
                    </a:p>
                  </a:txBody>
                  <a:tcPr marL="4849" marR="4849" marT="4849" marB="0" anchor="b"/>
                </a:tc>
              </a:tr>
              <a:tr h="126828">
                <a:tc>
                  <a:txBody>
                    <a:bodyPr/>
                    <a:lstStyle/>
                    <a:p>
                      <a:pPr algn="l" fontAlgn="b"/>
                      <a:r>
                        <a:rPr lang="en-GB" sz="600" u="none" strike="noStrike">
                          <a:effectLst/>
                        </a:rPr>
                        <a:t>Drawing Room</a:t>
                      </a:r>
                      <a:endParaRPr lang="en-GB" sz="600" b="0" i="0" u="none" strike="noStrike">
                        <a:solidFill>
                          <a:srgbClr val="000000"/>
                        </a:solidFill>
                        <a:effectLst/>
                        <a:latin typeface="Calibri" panose="020F0502020204030204" pitchFamily="34" charset="0"/>
                      </a:endParaRPr>
                    </a:p>
                  </a:txBody>
                  <a:tcPr marL="4849" marR="4849" marT="4849" marB="0" anchor="b"/>
                </a:tc>
                <a:tc>
                  <a:txBody>
                    <a:bodyPr/>
                    <a:lstStyle/>
                    <a:p>
                      <a:pPr algn="l" fontAlgn="b"/>
                      <a:endParaRPr lang="en-GB" sz="600" b="0" i="0" u="none" strike="noStrike">
                        <a:solidFill>
                          <a:srgbClr val="000000"/>
                        </a:solidFill>
                        <a:effectLst/>
                        <a:latin typeface="Calibri" panose="020F0502020204030204" pitchFamily="34" charset="0"/>
                      </a:endParaRPr>
                    </a:p>
                  </a:txBody>
                  <a:tcPr marL="4849" marR="4849" marT="4849" marB="0" anchor="b"/>
                </a:tc>
                <a:tc>
                  <a:txBody>
                    <a:bodyPr/>
                    <a:lstStyle/>
                    <a:p>
                      <a:pPr algn="r" fontAlgn="b"/>
                      <a:r>
                        <a:rPr lang="en-GB" sz="600" u="none" strike="noStrike" dirty="0">
                          <a:effectLst/>
                        </a:rPr>
                        <a:t>886</a:t>
                      </a:r>
                      <a:endParaRPr lang="en-GB" sz="600" b="0" i="0" u="none" strike="noStrike" dirty="0">
                        <a:solidFill>
                          <a:srgbClr val="000000"/>
                        </a:solidFill>
                        <a:effectLst/>
                        <a:latin typeface="Calibri" panose="020F0502020204030204" pitchFamily="34" charset="0"/>
                      </a:endParaRPr>
                    </a:p>
                  </a:txBody>
                  <a:tcPr marL="4849" marR="4849" marT="4849" marB="0" anchor="b"/>
                </a:tc>
              </a:tr>
              <a:tr h="126828">
                <a:tc>
                  <a:txBody>
                    <a:bodyPr/>
                    <a:lstStyle/>
                    <a:p>
                      <a:pPr algn="l" fontAlgn="b"/>
                      <a:endParaRPr lang="en-GB" sz="600" b="0" i="0" u="none" strike="noStrike">
                        <a:solidFill>
                          <a:srgbClr val="000000"/>
                        </a:solidFill>
                        <a:effectLst/>
                        <a:latin typeface="Calibri" panose="020F0502020204030204" pitchFamily="34" charset="0"/>
                      </a:endParaRPr>
                    </a:p>
                  </a:txBody>
                  <a:tcPr marL="4849" marR="4849" marT="4849" marB="0" anchor="b"/>
                </a:tc>
                <a:tc>
                  <a:txBody>
                    <a:bodyPr/>
                    <a:lstStyle/>
                    <a:p>
                      <a:pPr algn="l" fontAlgn="b"/>
                      <a:endParaRPr lang="en-GB" sz="600" b="0" i="0" u="none" strike="noStrike">
                        <a:solidFill>
                          <a:srgbClr val="000000"/>
                        </a:solidFill>
                        <a:effectLst/>
                        <a:latin typeface="Calibri" panose="020F0502020204030204" pitchFamily="34" charset="0"/>
                      </a:endParaRPr>
                    </a:p>
                  </a:txBody>
                  <a:tcPr marL="4849" marR="4849" marT="4849" marB="0" anchor="b"/>
                </a:tc>
                <a:tc>
                  <a:txBody>
                    <a:bodyPr/>
                    <a:lstStyle/>
                    <a:p>
                      <a:pPr algn="r" fontAlgn="b"/>
                      <a:r>
                        <a:rPr lang="en-GB" sz="600" u="none" strike="noStrike" dirty="0">
                          <a:effectLst/>
                        </a:rPr>
                        <a:t>654.75</a:t>
                      </a:r>
                      <a:endParaRPr lang="en-GB" sz="600" b="0" i="0" u="none" strike="noStrike" dirty="0">
                        <a:solidFill>
                          <a:srgbClr val="000000"/>
                        </a:solidFill>
                        <a:effectLst/>
                        <a:latin typeface="Calibri" panose="020F0502020204030204" pitchFamily="34" charset="0"/>
                      </a:endParaRPr>
                    </a:p>
                  </a:txBody>
                  <a:tcPr marL="4849" marR="4849" marT="4849" marB="0" anchor="b"/>
                </a:tc>
              </a:tr>
              <a:tr h="126828">
                <a:tc>
                  <a:txBody>
                    <a:bodyPr/>
                    <a:lstStyle/>
                    <a:p>
                      <a:pPr algn="l" fontAlgn="b"/>
                      <a:endParaRPr lang="en-GB" sz="600" b="0" i="0" u="none" strike="noStrike">
                        <a:solidFill>
                          <a:srgbClr val="000000"/>
                        </a:solidFill>
                        <a:effectLst/>
                        <a:latin typeface="Calibri" panose="020F0502020204030204" pitchFamily="34" charset="0"/>
                      </a:endParaRPr>
                    </a:p>
                  </a:txBody>
                  <a:tcPr marL="4849" marR="4849" marT="4849" marB="0" anchor="b"/>
                </a:tc>
                <a:tc>
                  <a:txBody>
                    <a:bodyPr/>
                    <a:lstStyle/>
                    <a:p>
                      <a:pPr algn="l" fontAlgn="b"/>
                      <a:endParaRPr lang="en-GB" sz="600" b="0" i="0" u="none" strike="noStrike">
                        <a:solidFill>
                          <a:srgbClr val="000000"/>
                        </a:solidFill>
                        <a:effectLst/>
                        <a:latin typeface="Calibri" panose="020F0502020204030204" pitchFamily="34" charset="0"/>
                      </a:endParaRPr>
                    </a:p>
                  </a:txBody>
                  <a:tcPr marL="4849" marR="4849" marT="4849" marB="0" anchor="b"/>
                </a:tc>
                <a:tc>
                  <a:txBody>
                    <a:bodyPr/>
                    <a:lstStyle/>
                    <a:p>
                      <a:pPr algn="l" fontAlgn="b"/>
                      <a:endParaRPr lang="en-GB" sz="600" b="0" i="0" u="none" strike="noStrike" dirty="0">
                        <a:solidFill>
                          <a:srgbClr val="000000"/>
                        </a:solidFill>
                        <a:effectLst/>
                        <a:latin typeface="Calibri" panose="020F0502020204030204" pitchFamily="34" charset="0"/>
                      </a:endParaRPr>
                    </a:p>
                  </a:txBody>
                  <a:tcPr marL="4849" marR="4849" marT="4849" marB="0" anchor="b"/>
                </a:tc>
              </a:tr>
              <a:tr h="126828">
                <a:tc>
                  <a:txBody>
                    <a:bodyPr/>
                    <a:lstStyle/>
                    <a:p>
                      <a:pPr algn="l" fontAlgn="b"/>
                      <a:r>
                        <a:rPr lang="en-GB" sz="600" u="none" strike="noStrike">
                          <a:effectLst/>
                        </a:rPr>
                        <a:t>Staircase Room</a:t>
                      </a:r>
                      <a:endParaRPr lang="en-GB" sz="600" b="0" i="0" u="none" strike="noStrike">
                        <a:solidFill>
                          <a:srgbClr val="000000"/>
                        </a:solidFill>
                        <a:effectLst/>
                        <a:latin typeface="Calibri" panose="020F0502020204030204" pitchFamily="34" charset="0"/>
                      </a:endParaRPr>
                    </a:p>
                  </a:txBody>
                  <a:tcPr marL="4849" marR="4849" marT="4849" marB="0" anchor="b"/>
                </a:tc>
                <a:tc>
                  <a:txBody>
                    <a:bodyPr/>
                    <a:lstStyle/>
                    <a:p>
                      <a:pPr algn="r" fontAlgn="b"/>
                      <a:r>
                        <a:rPr lang="en-GB" sz="600" u="none" strike="noStrike">
                          <a:effectLst/>
                        </a:rPr>
                        <a:t>2158</a:t>
                      </a:r>
                      <a:endParaRPr lang="en-GB" sz="600" b="0" i="0" u="none" strike="noStrike">
                        <a:solidFill>
                          <a:srgbClr val="000000"/>
                        </a:solidFill>
                        <a:effectLst/>
                        <a:latin typeface="Calibri" panose="020F0502020204030204" pitchFamily="34" charset="0"/>
                      </a:endParaRPr>
                    </a:p>
                  </a:txBody>
                  <a:tcPr marL="4849" marR="4849" marT="4849" marB="0" anchor="b"/>
                </a:tc>
                <a:tc>
                  <a:txBody>
                    <a:bodyPr/>
                    <a:lstStyle/>
                    <a:p>
                      <a:pPr algn="l" fontAlgn="b"/>
                      <a:endParaRPr lang="en-GB" sz="600" b="0" i="0" u="none" strike="noStrike" dirty="0">
                        <a:solidFill>
                          <a:srgbClr val="000000"/>
                        </a:solidFill>
                        <a:effectLst/>
                        <a:latin typeface="Calibri" panose="020F0502020204030204" pitchFamily="34" charset="0"/>
                      </a:endParaRPr>
                    </a:p>
                  </a:txBody>
                  <a:tcPr marL="4849" marR="4849" marT="4849" marB="0" anchor="b"/>
                </a:tc>
              </a:tr>
              <a:tr h="120612">
                <a:tc>
                  <a:txBody>
                    <a:bodyPr/>
                    <a:lstStyle/>
                    <a:p>
                      <a:pPr algn="l" fontAlgn="b"/>
                      <a:endParaRPr lang="en-GB" sz="600" b="0" i="0" u="none" strike="noStrike">
                        <a:solidFill>
                          <a:srgbClr val="000000"/>
                        </a:solidFill>
                        <a:effectLst/>
                        <a:latin typeface="Calibri" panose="020F0502020204030204" pitchFamily="34" charset="0"/>
                      </a:endParaRPr>
                    </a:p>
                  </a:txBody>
                  <a:tcPr marL="4849" marR="4849" marT="4849" marB="0" anchor="b"/>
                </a:tc>
                <a:tc>
                  <a:txBody>
                    <a:bodyPr/>
                    <a:lstStyle/>
                    <a:p>
                      <a:pPr algn="r" fontAlgn="b"/>
                      <a:r>
                        <a:rPr lang="en-GB" sz="600" u="none" strike="noStrike">
                          <a:effectLst/>
                        </a:rPr>
                        <a:t>290.5</a:t>
                      </a:r>
                      <a:endParaRPr lang="en-GB" sz="600" b="0" i="0" u="none" strike="noStrike">
                        <a:solidFill>
                          <a:srgbClr val="000000"/>
                        </a:solidFill>
                        <a:effectLst/>
                        <a:latin typeface="Calibri" panose="020F0502020204030204" pitchFamily="34" charset="0"/>
                      </a:endParaRPr>
                    </a:p>
                  </a:txBody>
                  <a:tcPr marL="4849" marR="4849" marT="4849" marB="0" anchor="b"/>
                </a:tc>
                <a:tc>
                  <a:txBody>
                    <a:bodyPr/>
                    <a:lstStyle/>
                    <a:p>
                      <a:pPr algn="l" fontAlgn="b"/>
                      <a:endParaRPr lang="en-GB" sz="600" b="0" i="0" u="none" strike="noStrike" dirty="0">
                        <a:solidFill>
                          <a:srgbClr val="000000"/>
                        </a:solidFill>
                        <a:effectLst/>
                        <a:latin typeface="Calibri" panose="020F0502020204030204" pitchFamily="34" charset="0"/>
                      </a:endParaRPr>
                    </a:p>
                  </a:txBody>
                  <a:tcPr marL="4849" marR="4849" marT="4849" marB="0" anchor="b"/>
                </a:tc>
              </a:tr>
              <a:tr h="126828">
                <a:tc>
                  <a:txBody>
                    <a:bodyPr/>
                    <a:lstStyle/>
                    <a:p>
                      <a:pPr algn="l" fontAlgn="b"/>
                      <a:endParaRPr lang="en-GB" sz="600" b="0" i="0" u="none" strike="noStrike">
                        <a:solidFill>
                          <a:srgbClr val="000000"/>
                        </a:solidFill>
                        <a:effectLst/>
                        <a:latin typeface="Calibri" panose="020F0502020204030204" pitchFamily="34" charset="0"/>
                      </a:endParaRPr>
                    </a:p>
                  </a:txBody>
                  <a:tcPr marL="4849" marR="4849" marT="4849" marB="0" anchor="b"/>
                </a:tc>
                <a:tc>
                  <a:txBody>
                    <a:bodyPr/>
                    <a:lstStyle/>
                    <a:p>
                      <a:pPr algn="l" fontAlgn="b"/>
                      <a:endParaRPr lang="en-GB" sz="600" b="0" i="0" u="none" strike="noStrike">
                        <a:solidFill>
                          <a:srgbClr val="000000"/>
                        </a:solidFill>
                        <a:effectLst/>
                        <a:latin typeface="Calibri" panose="020F0502020204030204" pitchFamily="34" charset="0"/>
                      </a:endParaRPr>
                    </a:p>
                  </a:txBody>
                  <a:tcPr marL="4849" marR="4849" marT="4849" marB="0" anchor="b"/>
                </a:tc>
                <a:tc>
                  <a:txBody>
                    <a:bodyPr/>
                    <a:lstStyle/>
                    <a:p>
                      <a:pPr algn="l" fontAlgn="b"/>
                      <a:endParaRPr lang="en-GB" sz="600" b="0" i="0" u="none" strike="noStrike" dirty="0">
                        <a:solidFill>
                          <a:srgbClr val="000000"/>
                        </a:solidFill>
                        <a:effectLst/>
                        <a:latin typeface="Calibri" panose="020F0502020204030204" pitchFamily="34" charset="0"/>
                      </a:endParaRPr>
                    </a:p>
                  </a:txBody>
                  <a:tcPr marL="4849" marR="4849" marT="4849" marB="0" anchor="b"/>
                </a:tc>
              </a:tr>
              <a:tr h="126828">
                <a:tc>
                  <a:txBody>
                    <a:bodyPr/>
                    <a:lstStyle/>
                    <a:p>
                      <a:pPr algn="l" fontAlgn="b"/>
                      <a:r>
                        <a:rPr lang="en-GB" sz="600" u="none" strike="noStrike">
                          <a:effectLst/>
                        </a:rPr>
                        <a:t>Bedroom</a:t>
                      </a:r>
                      <a:endParaRPr lang="en-GB" sz="600" b="0" i="0" u="none" strike="noStrike">
                        <a:solidFill>
                          <a:srgbClr val="000000"/>
                        </a:solidFill>
                        <a:effectLst/>
                        <a:latin typeface="Calibri" panose="020F0502020204030204" pitchFamily="34" charset="0"/>
                      </a:endParaRPr>
                    </a:p>
                  </a:txBody>
                  <a:tcPr marL="4849" marR="4849" marT="4849" marB="0" anchor="b"/>
                </a:tc>
                <a:tc>
                  <a:txBody>
                    <a:bodyPr/>
                    <a:lstStyle/>
                    <a:p>
                      <a:pPr algn="r" fontAlgn="b"/>
                      <a:r>
                        <a:rPr lang="en-GB" sz="600" u="none" strike="noStrike">
                          <a:effectLst/>
                        </a:rPr>
                        <a:t>391.5</a:t>
                      </a:r>
                      <a:endParaRPr lang="en-GB" sz="600" b="0" i="0" u="none" strike="noStrike">
                        <a:solidFill>
                          <a:srgbClr val="000000"/>
                        </a:solidFill>
                        <a:effectLst/>
                        <a:latin typeface="Calibri" panose="020F0502020204030204" pitchFamily="34" charset="0"/>
                      </a:endParaRPr>
                    </a:p>
                  </a:txBody>
                  <a:tcPr marL="4849" marR="4849" marT="4849" marB="0" anchor="b"/>
                </a:tc>
                <a:tc>
                  <a:txBody>
                    <a:bodyPr/>
                    <a:lstStyle/>
                    <a:p>
                      <a:pPr algn="l" fontAlgn="b"/>
                      <a:endParaRPr lang="en-GB" sz="600" b="0" i="0" u="none" strike="noStrike" dirty="0">
                        <a:solidFill>
                          <a:srgbClr val="000000"/>
                        </a:solidFill>
                        <a:effectLst/>
                        <a:latin typeface="Calibri" panose="020F0502020204030204" pitchFamily="34" charset="0"/>
                      </a:endParaRPr>
                    </a:p>
                  </a:txBody>
                  <a:tcPr marL="4849" marR="4849" marT="4849" marB="0" anchor="b"/>
                </a:tc>
              </a:tr>
              <a:tr h="126828">
                <a:tc>
                  <a:txBody>
                    <a:bodyPr/>
                    <a:lstStyle/>
                    <a:p>
                      <a:pPr algn="l" fontAlgn="b"/>
                      <a:endParaRPr lang="en-GB" sz="600" b="0" i="0" u="none" strike="noStrike">
                        <a:solidFill>
                          <a:srgbClr val="000000"/>
                        </a:solidFill>
                        <a:effectLst/>
                        <a:latin typeface="Calibri" panose="020F0502020204030204" pitchFamily="34" charset="0"/>
                      </a:endParaRPr>
                    </a:p>
                  </a:txBody>
                  <a:tcPr marL="4849" marR="4849" marT="4849" marB="0" anchor="b"/>
                </a:tc>
                <a:tc>
                  <a:txBody>
                    <a:bodyPr/>
                    <a:lstStyle/>
                    <a:p>
                      <a:pPr algn="r" fontAlgn="b"/>
                      <a:r>
                        <a:rPr lang="en-GB" sz="600" u="none" strike="noStrike">
                          <a:effectLst/>
                        </a:rPr>
                        <a:t>487.5</a:t>
                      </a:r>
                      <a:endParaRPr lang="en-GB" sz="600" b="0" i="0" u="none" strike="noStrike">
                        <a:solidFill>
                          <a:srgbClr val="000000"/>
                        </a:solidFill>
                        <a:effectLst/>
                        <a:latin typeface="Calibri" panose="020F0502020204030204" pitchFamily="34" charset="0"/>
                      </a:endParaRPr>
                    </a:p>
                  </a:txBody>
                  <a:tcPr marL="4849" marR="4849" marT="4849" marB="0" anchor="b"/>
                </a:tc>
                <a:tc>
                  <a:txBody>
                    <a:bodyPr/>
                    <a:lstStyle/>
                    <a:p>
                      <a:pPr algn="l" fontAlgn="b"/>
                      <a:endParaRPr lang="en-GB" sz="600" b="0" i="0" u="none" strike="noStrike" dirty="0">
                        <a:solidFill>
                          <a:srgbClr val="000000"/>
                        </a:solidFill>
                        <a:effectLst/>
                        <a:latin typeface="Calibri" panose="020F0502020204030204" pitchFamily="34" charset="0"/>
                      </a:endParaRPr>
                    </a:p>
                  </a:txBody>
                  <a:tcPr marL="4849" marR="4849" marT="4849" marB="0" anchor="b"/>
                </a:tc>
              </a:tr>
              <a:tr h="126828">
                <a:tc>
                  <a:txBody>
                    <a:bodyPr/>
                    <a:lstStyle/>
                    <a:p>
                      <a:pPr algn="l" fontAlgn="b"/>
                      <a:endParaRPr lang="en-GB" sz="600" b="0" i="0" u="none" strike="noStrike">
                        <a:solidFill>
                          <a:srgbClr val="000000"/>
                        </a:solidFill>
                        <a:effectLst/>
                        <a:latin typeface="Calibri" panose="020F0502020204030204" pitchFamily="34" charset="0"/>
                      </a:endParaRPr>
                    </a:p>
                  </a:txBody>
                  <a:tcPr marL="4849" marR="4849" marT="4849" marB="0" anchor="b"/>
                </a:tc>
                <a:tc>
                  <a:txBody>
                    <a:bodyPr/>
                    <a:lstStyle/>
                    <a:p>
                      <a:pPr algn="r" fontAlgn="b"/>
                      <a:r>
                        <a:rPr lang="en-GB" sz="600" u="none" strike="noStrike">
                          <a:effectLst/>
                        </a:rPr>
                        <a:t>703</a:t>
                      </a:r>
                      <a:endParaRPr lang="en-GB" sz="600" b="0" i="0" u="none" strike="noStrike">
                        <a:solidFill>
                          <a:srgbClr val="000000"/>
                        </a:solidFill>
                        <a:effectLst/>
                        <a:latin typeface="Calibri" panose="020F0502020204030204" pitchFamily="34" charset="0"/>
                      </a:endParaRPr>
                    </a:p>
                  </a:txBody>
                  <a:tcPr marL="4849" marR="4849" marT="4849" marB="0" anchor="b"/>
                </a:tc>
                <a:tc>
                  <a:txBody>
                    <a:bodyPr/>
                    <a:lstStyle/>
                    <a:p>
                      <a:pPr algn="l" fontAlgn="b"/>
                      <a:endParaRPr lang="en-GB" sz="600" b="0" i="0" u="none" strike="noStrike" dirty="0">
                        <a:solidFill>
                          <a:srgbClr val="000000"/>
                        </a:solidFill>
                        <a:effectLst/>
                        <a:latin typeface="Calibri" panose="020F0502020204030204" pitchFamily="34" charset="0"/>
                      </a:endParaRPr>
                    </a:p>
                  </a:txBody>
                  <a:tcPr marL="4849" marR="4849" marT="4849" marB="0" anchor="b"/>
                </a:tc>
              </a:tr>
              <a:tr h="126828">
                <a:tc>
                  <a:txBody>
                    <a:bodyPr/>
                    <a:lstStyle/>
                    <a:p>
                      <a:pPr algn="l" fontAlgn="b"/>
                      <a:endParaRPr lang="en-GB" sz="600" b="0" i="0" u="none" strike="noStrike">
                        <a:solidFill>
                          <a:srgbClr val="000000"/>
                        </a:solidFill>
                        <a:effectLst/>
                        <a:latin typeface="Calibri" panose="020F0502020204030204" pitchFamily="34" charset="0"/>
                      </a:endParaRPr>
                    </a:p>
                  </a:txBody>
                  <a:tcPr marL="4849" marR="4849" marT="4849" marB="0" anchor="b"/>
                </a:tc>
                <a:tc>
                  <a:txBody>
                    <a:bodyPr/>
                    <a:lstStyle/>
                    <a:p>
                      <a:pPr algn="r" fontAlgn="b"/>
                      <a:r>
                        <a:rPr lang="en-GB" sz="600" u="none" strike="noStrike">
                          <a:effectLst/>
                        </a:rPr>
                        <a:t>536.75</a:t>
                      </a:r>
                      <a:endParaRPr lang="en-GB" sz="600" b="0" i="0" u="none" strike="noStrike">
                        <a:solidFill>
                          <a:srgbClr val="000000"/>
                        </a:solidFill>
                        <a:effectLst/>
                        <a:latin typeface="Calibri" panose="020F0502020204030204" pitchFamily="34" charset="0"/>
                      </a:endParaRPr>
                    </a:p>
                  </a:txBody>
                  <a:tcPr marL="4849" marR="4849" marT="4849" marB="0" anchor="b"/>
                </a:tc>
                <a:tc>
                  <a:txBody>
                    <a:bodyPr/>
                    <a:lstStyle/>
                    <a:p>
                      <a:pPr algn="l" fontAlgn="b"/>
                      <a:endParaRPr lang="en-GB" sz="600" b="0" i="0" u="none" strike="noStrike" dirty="0">
                        <a:solidFill>
                          <a:srgbClr val="000000"/>
                        </a:solidFill>
                        <a:effectLst/>
                        <a:latin typeface="Calibri" panose="020F0502020204030204" pitchFamily="34" charset="0"/>
                      </a:endParaRPr>
                    </a:p>
                  </a:txBody>
                  <a:tcPr marL="4849" marR="4849" marT="4849" marB="0" anchor="b"/>
                </a:tc>
              </a:tr>
              <a:tr h="126828">
                <a:tc>
                  <a:txBody>
                    <a:bodyPr/>
                    <a:lstStyle/>
                    <a:p>
                      <a:pPr algn="l" fontAlgn="b"/>
                      <a:endParaRPr lang="en-GB" sz="600" b="0" i="0" u="none" strike="noStrike">
                        <a:solidFill>
                          <a:srgbClr val="000000"/>
                        </a:solidFill>
                        <a:effectLst/>
                        <a:latin typeface="Calibri" panose="020F0502020204030204" pitchFamily="34" charset="0"/>
                      </a:endParaRPr>
                    </a:p>
                  </a:txBody>
                  <a:tcPr marL="4849" marR="4849" marT="4849" marB="0" anchor="b"/>
                </a:tc>
                <a:tc>
                  <a:txBody>
                    <a:bodyPr/>
                    <a:lstStyle/>
                    <a:p>
                      <a:pPr algn="l" fontAlgn="b"/>
                      <a:endParaRPr lang="en-GB" sz="600" b="0" i="0" u="none" strike="noStrike">
                        <a:solidFill>
                          <a:srgbClr val="000000"/>
                        </a:solidFill>
                        <a:effectLst/>
                        <a:latin typeface="Calibri" panose="020F0502020204030204" pitchFamily="34" charset="0"/>
                      </a:endParaRPr>
                    </a:p>
                  </a:txBody>
                  <a:tcPr marL="4849" marR="4849" marT="4849" marB="0" anchor="b"/>
                </a:tc>
                <a:tc>
                  <a:txBody>
                    <a:bodyPr/>
                    <a:lstStyle/>
                    <a:p>
                      <a:pPr algn="l" fontAlgn="b"/>
                      <a:endParaRPr lang="en-GB" sz="600" b="0" i="0" u="none" strike="noStrike" dirty="0">
                        <a:solidFill>
                          <a:srgbClr val="000000"/>
                        </a:solidFill>
                        <a:effectLst/>
                        <a:latin typeface="Calibri" panose="020F0502020204030204" pitchFamily="34" charset="0"/>
                      </a:endParaRPr>
                    </a:p>
                  </a:txBody>
                  <a:tcPr marL="4849" marR="4849" marT="4849" marB="0" anchor="b"/>
                </a:tc>
              </a:tr>
              <a:tr h="126828">
                <a:tc>
                  <a:txBody>
                    <a:bodyPr/>
                    <a:lstStyle/>
                    <a:p>
                      <a:pPr algn="l" fontAlgn="b"/>
                      <a:r>
                        <a:rPr lang="en-GB" sz="600" u="none" strike="noStrike">
                          <a:effectLst/>
                        </a:rPr>
                        <a:t>Kitchen</a:t>
                      </a:r>
                      <a:endParaRPr lang="en-GB" sz="600" b="0" i="0" u="none" strike="noStrike">
                        <a:solidFill>
                          <a:srgbClr val="000000"/>
                        </a:solidFill>
                        <a:effectLst/>
                        <a:latin typeface="Calibri" panose="020F0502020204030204" pitchFamily="34" charset="0"/>
                      </a:endParaRPr>
                    </a:p>
                  </a:txBody>
                  <a:tcPr marL="4849" marR="4849" marT="4849" marB="0" anchor="b"/>
                </a:tc>
                <a:tc>
                  <a:txBody>
                    <a:bodyPr/>
                    <a:lstStyle/>
                    <a:p>
                      <a:pPr algn="r" fontAlgn="b"/>
                      <a:r>
                        <a:rPr lang="en-GB" sz="600" u="none" strike="noStrike">
                          <a:effectLst/>
                        </a:rPr>
                        <a:t>582.667</a:t>
                      </a:r>
                      <a:endParaRPr lang="en-GB" sz="600" b="0" i="0" u="none" strike="noStrike">
                        <a:solidFill>
                          <a:srgbClr val="000000"/>
                        </a:solidFill>
                        <a:effectLst/>
                        <a:latin typeface="Calibri" panose="020F0502020204030204" pitchFamily="34" charset="0"/>
                      </a:endParaRPr>
                    </a:p>
                  </a:txBody>
                  <a:tcPr marL="4849" marR="4849" marT="4849" marB="0" anchor="b"/>
                </a:tc>
                <a:tc>
                  <a:txBody>
                    <a:bodyPr/>
                    <a:lstStyle/>
                    <a:p>
                      <a:pPr algn="l" fontAlgn="b"/>
                      <a:endParaRPr lang="en-GB" sz="600" b="0" i="0" u="none" strike="noStrike" dirty="0">
                        <a:solidFill>
                          <a:srgbClr val="000000"/>
                        </a:solidFill>
                        <a:effectLst/>
                        <a:latin typeface="Calibri" panose="020F0502020204030204" pitchFamily="34" charset="0"/>
                      </a:endParaRPr>
                    </a:p>
                  </a:txBody>
                  <a:tcPr marL="4849" marR="4849" marT="4849" marB="0" anchor="b"/>
                </a:tc>
              </a:tr>
              <a:tr h="126828">
                <a:tc>
                  <a:txBody>
                    <a:bodyPr/>
                    <a:lstStyle/>
                    <a:p>
                      <a:pPr algn="l" fontAlgn="b"/>
                      <a:endParaRPr lang="en-GB" sz="600" b="0" i="0" u="none" strike="noStrike">
                        <a:solidFill>
                          <a:srgbClr val="000000"/>
                        </a:solidFill>
                        <a:effectLst/>
                        <a:latin typeface="Calibri" panose="020F0502020204030204" pitchFamily="34" charset="0"/>
                      </a:endParaRPr>
                    </a:p>
                  </a:txBody>
                  <a:tcPr marL="4849" marR="4849" marT="4849" marB="0" anchor="b"/>
                </a:tc>
                <a:tc>
                  <a:txBody>
                    <a:bodyPr/>
                    <a:lstStyle/>
                    <a:p>
                      <a:pPr algn="r" fontAlgn="b"/>
                      <a:r>
                        <a:rPr lang="en-GB" sz="600" u="none" strike="noStrike">
                          <a:effectLst/>
                        </a:rPr>
                        <a:t>630.33</a:t>
                      </a:r>
                      <a:endParaRPr lang="en-GB" sz="600" b="0" i="0" u="none" strike="noStrike">
                        <a:solidFill>
                          <a:srgbClr val="000000"/>
                        </a:solidFill>
                        <a:effectLst/>
                        <a:latin typeface="Calibri" panose="020F0502020204030204" pitchFamily="34" charset="0"/>
                      </a:endParaRPr>
                    </a:p>
                  </a:txBody>
                  <a:tcPr marL="4849" marR="4849" marT="4849" marB="0" anchor="b"/>
                </a:tc>
                <a:tc>
                  <a:txBody>
                    <a:bodyPr/>
                    <a:lstStyle/>
                    <a:p>
                      <a:pPr algn="l" fontAlgn="b"/>
                      <a:endParaRPr lang="en-GB" sz="600" b="0" i="0" u="none" strike="noStrike" dirty="0">
                        <a:solidFill>
                          <a:srgbClr val="000000"/>
                        </a:solidFill>
                        <a:effectLst/>
                        <a:latin typeface="Calibri" panose="020F0502020204030204" pitchFamily="34" charset="0"/>
                      </a:endParaRPr>
                    </a:p>
                  </a:txBody>
                  <a:tcPr marL="4849" marR="4849" marT="4849" marB="0" anchor="b"/>
                </a:tc>
              </a:tr>
              <a:tr h="126828">
                <a:tc>
                  <a:txBody>
                    <a:bodyPr/>
                    <a:lstStyle/>
                    <a:p>
                      <a:pPr algn="l" fontAlgn="b"/>
                      <a:endParaRPr lang="en-GB" sz="600" b="0" i="0" u="none" strike="noStrike">
                        <a:solidFill>
                          <a:srgbClr val="000000"/>
                        </a:solidFill>
                        <a:effectLst/>
                        <a:latin typeface="Calibri" panose="020F0502020204030204" pitchFamily="34" charset="0"/>
                      </a:endParaRPr>
                    </a:p>
                  </a:txBody>
                  <a:tcPr marL="4849" marR="4849" marT="4849" marB="0" anchor="b"/>
                </a:tc>
                <a:tc>
                  <a:txBody>
                    <a:bodyPr/>
                    <a:lstStyle/>
                    <a:p>
                      <a:pPr algn="l" fontAlgn="b"/>
                      <a:endParaRPr lang="en-GB" sz="600" b="0" i="0" u="none" strike="noStrike">
                        <a:solidFill>
                          <a:srgbClr val="000000"/>
                        </a:solidFill>
                        <a:effectLst/>
                        <a:latin typeface="Calibri" panose="020F0502020204030204" pitchFamily="34" charset="0"/>
                      </a:endParaRPr>
                    </a:p>
                  </a:txBody>
                  <a:tcPr marL="4849" marR="4849" marT="4849" marB="0" anchor="b"/>
                </a:tc>
                <a:tc>
                  <a:txBody>
                    <a:bodyPr/>
                    <a:lstStyle/>
                    <a:p>
                      <a:pPr algn="l" fontAlgn="b"/>
                      <a:endParaRPr lang="en-GB" sz="600" b="0" i="0" u="none" strike="noStrike" dirty="0">
                        <a:solidFill>
                          <a:srgbClr val="000000"/>
                        </a:solidFill>
                        <a:effectLst/>
                        <a:latin typeface="Calibri" panose="020F0502020204030204" pitchFamily="34" charset="0"/>
                      </a:endParaRPr>
                    </a:p>
                  </a:txBody>
                  <a:tcPr marL="4849" marR="4849" marT="4849" marB="0" anchor="b"/>
                </a:tc>
              </a:tr>
              <a:tr h="126828">
                <a:tc>
                  <a:txBody>
                    <a:bodyPr/>
                    <a:lstStyle/>
                    <a:p>
                      <a:pPr algn="l" fontAlgn="b"/>
                      <a:endParaRPr lang="en-GB" sz="600" b="0" i="0" u="none" strike="noStrike">
                        <a:solidFill>
                          <a:srgbClr val="000000"/>
                        </a:solidFill>
                        <a:effectLst/>
                        <a:latin typeface="Calibri" panose="020F0502020204030204" pitchFamily="34" charset="0"/>
                      </a:endParaRPr>
                    </a:p>
                  </a:txBody>
                  <a:tcPr marL="4849" marR="4849" marT="4849" marB="0" anchor="b"/>
                </a:tc>
                <a:tc>
                  <a:txBody>
                    <a:bodyPr/>
                    <a:lstStyle/>
                    <a:p>
                      <a:pPr algn="l" fontAlgn="b"/>
                      <a:r>
                        <a:rPr lang="en-GB" sz="600" u="none" strike="noStrike">
                          <a:effectLst/>
                        </a:rPr>
                        <a:t>#3 Bar (ft)</a:t>
                      </a:r>
                      <a:endParaRPr lang="en-GB" sz="600" b="0" i="0" u="none" strike="noStrike">
                        <a:solidFill>
                          <a:srgbClr val="000000"/>
                        </a:solidFill>
                        <a:effectLst/>
                        <a:latin typeface="Calibri" panose="020F0502020204030204" pitchFamily="34" charset="0"/>
                      </a:endParaRPr>
                    </a:p>
                  </a:txBody>
                  <a:tcPr marL="4849" marR="4849" marT="4849" marB="0" anchor="b"/>
                </a:tc>
                <a:tc>
                  <a:txBody>
                    <a:bodyPr/>
                    <a:lstStyle/>
                    <a:p>
                      <a:pPr algn="l" fontAlgn="b"/>
                      <a:r>
                        <a:rPr lang="en-GB" sz="600" u="none" strike="noStrike">
                          <a:effectLst/>
                        </a:rPr>
                        <a:t>#4 Bars (ft)</a:t>
                      </a:r>
                      <a:endParaRPr lang="en-GB" sz="600" b="0" i="0" u="none" strike="noStrike">
                        <a:solidFill>
                          <a:srgbClr val="000000"/>
                        </a:solidFill>
                        <a:effectLst/>
                        <a:latin typeface="Calibri" panose="020F0502020204030204" pitchFamily="34" charset="0"/>
                      </a:endParaRPr>
                    </a:p>
                  </a:txBody>
                  <a:tcPr marL="4849" marR="4849" marT="4849" marB="0" anchor="b"/>
                </a:tc>
              </a:tr>
              <a:tr h="126828">
                <a:tc>
                  <a:txBody>
                    <a:bodyPr/>
                    <a:lstStyle/>
                    <a:p>
                      <a:pPr algn="l" fontAlgn="b"/>
                      <a:r>
                        <a:rPr lang="en-GB" sz="600" u="none" strike="noStrike">
                          <a:effectLst/>
                        </a:rPr>
                        <a:t>Total</a:t>
                      </a:r>
                      <a:endParaRPr lang="en-GB" sz="600" b="0" i="0" u="none" strike="noStrike">
                        <a:solidFill>
                          <a:srgbClr val="000000"/>
                        </a:solidFill>
                        <a:effectLst/>
                        <a:latin typeface="Calibri" panose="020F0502020204030204" pitchFamily="34" charset="0"/>
                      </a:endParaRPr>
                    </a:p>
                  </a:txBody>
                  <a:tcPr marL="4849" marR="4849" marT="4849" marB="0" anchor="b"/>
                </a:tc>
                <a:tc>
                  <a:txBody>
                    <a:bodyPr/>
                    <a:lstStyle/>
                    <a:p>
                      <a:pPr algn="r" fontAlgn="b"/>
                      <a:r>
                        <a:rPr lang="en-GB" sz="600" u="none" strike="noStrike">
                          <a:effectLst/>
                        </a:rPr>
                        <a:t>8245.3055</a:t>
                      </a:r>
                      <a:endParaRPr lang="en-GB" sz="600" b="0" i="0" u="none" strike="noStrike">
                        <a:solidFill>
                          <a:srgbClr val="000000"/>
                        </a:solidFill>
                        <a:effectLst/>
                        <a:latin typeface="Calibri" panose="020F0502020204030204" pitchFamily="34" charset="0"/>
                      </a:endParaRPr>
                    </a:p>
                  </a:txBody>
                  <a:tcPr marL="4849" marR="4849" marT="4849" marB="0" anchor="b"/>
                </a:tc>
                <a:tc>
                  <a:txBody>
                    <a:bodyPr/>
                    <a:lstStyle/>
                    <a:p>
                      <a:pPr algn="r" fontAlgn="b"/>
                      <a:r>
                        <a:rPr lang="en-GB" sz="600" u="none" strike="noStrike" dirty="0">
                          <a:effectLst/>
                        </a:rPr>
                        <a:t>3003.9167</a:t>
                      </a:r>
                      <a:endParaRPr lang="en-GB" sz="600" b="0" i="0" u="none" strike="noStrike" dirty="0">
                        <a:solidFill>
                          <a:srgbClr val="000000"/>
                        </a:solidFill>
                        <a:effectLst/>
                        <a:latin typeface="Calibri" panose="020F0502020204030204" pitchFamily="34" charset="0"/>
                      </a:endParaRPr>
                    </a:p>
                  </a:txBody>
                  <a:tcPr marL="4849" marR="4849" marT="4849" marB="0" anchor="b"/>
                </a:tc>
              </a:tr>
            </a:tbl>
          </a:graphicData>
        </a:graphic>
      </p:graphicFrame>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59114" y="1558418"/>
            <a:ext cx="4224374" cy="3160594"/>
          </a:xfrm>
          <a:prstGeom prst="rect">
            <a:avLst/>
          </a:prstGeom>
        </p:spPr>
      </p:pic>
    </p:spTree>
    <p:extLst>
      <p:ext uri="{BB962C8B-B14F-4D97-AF65-F5344CB8AC3E}">
        <p14:creationId xmlns:p14="http://schemas.microsoft.com/office/powerpoint/2010/main" val="2302231910"/>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5778330-3769-40A3-82D1-47E48D1710EC}"/>
              </a:ext>
            </a:extLst>
          </p:cNvPr>
          <p:cNvSpPr>
            <a:spLocks noGrp="1"/>
          </p:cNvSpPr>
          <p:nvPr>
            <p:ph type="title"/>
          </p:nvPr>
        </p:nvSpPr>
        <p:spPr>
          <a:xfrm>
            <a:off x="628650" y="542683"/>
            <a:ext cx="3446303" cy="1234126"/>
          </a:xfrm>
        </p:spPr>
        <p:txBody>
          <a:bodyPr>
            <a:normAutofit/>
          </a:bodyPr>
          <a:lstStyle/>
          <a:p>
            <a:pPr>
              <a:lnSpc>
                <a:spcPct val="90000"/>
              </a:lnSpc>
            </a:pPr>
            <a:r>
              <a:rPr lang="en-GB" sz="2400" b="1" dirty="0" smtClean="0"/>
              <a:t>Steel in Beams</a:t>
            </a:r>
            <a:endParaRPr lang="en-GB" sz="2400" b="1" dirty="0"/>
          </a:p>
        </p:txBody>
      </p:sp>
      <p:sp>
        <p:nvSpPr>
          <p:cNvPr id="4" name="Content Placeholder 3">
            <a:extLst>
              <a:ext uri="{FF2B5EF4-FFF2-40B4-BE49-F238E27FC236}">
                <a16:creationId xmlns:a16="http://schemas.microsoft.com/office/drawing/2014/main" xmlns="" id="{75E91FDA-C2BF-4426-88C1-59C35D2B3624}"/>
              </a:ext>
            </a:extLst>
          </p:cNvPr>
          <p:cNvSpPr>
            <a:spLocks noGrp="1"/>
          </p:cNvSpPr>
          <p:nvPr>
            <p:ph idx="1"/>
          </p:nvPr>
        </p:nvSpPr>
        <p:spPr>
          <a:xfrm>
            <a:off x="628650" y="1911350"/>
            <a:ext cx="3446303" cy="2721371"/>
          </a:xfrm>
        </p:spPr>
        <p:txBody>
          <a:bodyPr>
            <a:normAutofit/>
          </a:bodyPr>
          <a:lstStyle/>
          <a:p>
            <a:r>
              <a:rPr lang="en-US" sz="2000" dirty="0" smtClean="0"/>
              <a:t>#2 bars : 62.33 </a:t>
            </a:r>
            <a:r>
              <a:rPr lang="en-US" sz="2000" dirty="0" err="1" smtClean="0"/>
              <a:t>ft</a:t>
            </a:r>
            <a:endParaRPr lang="en-US" sz="2000" dirty="0" smtClean="0"/>
          </a:p>
          <a:p>
            <a:r>
              <a:rPr lang="en-US" sz="2000" dirty="0" smtClean="0"/>
              <a:t>#3 bars</a:t>
            </a:r>
            <a:r>
              <a:rPr lang="en-US" sz="2000" dirty="0"/>
              <a:t> </a:t>
            </a:r>
            <a:r>
              <a:rPr lang="en-US" sz="2000" dirty="0" smtClean="0"/>
              <a:t>: 1927.119 </a:t>
            </a:r>
            <a:r>
              <a:rPr lang="en-US" sz="2000" dirty="0" err="1" smtClean="0"/>
              <a:t>ft</a:t>
            </a:r>
            <a:endParaRPr lang="en-US" sz="2000" dirty="0" smtClean="0"/>
          </a:p>
          <a:p>
            <a:r>
              <a:rPr lang="en-US" sz="2000" dirty="0" smtClean="0"/>
              <a:t>#4 bars </a:t>
            </a:r>
            <a:r>
              <a:rPr lang="en-US" sz="2000" dirty="0"/>
              <a:t>: 566.375 </a:t>
            </a:r>
            <a:r>
              <a:rPr lang="en-US" sz="2000" dirty="0" err="1"/>
              <a:t>ft</a:t>
            </a:r>
            <a:endParaRPr lang="en-US" sz="2000" dirty="0" smtClean="0"/>
          </a:p>
          <a:p>
            <a:r>
              <a:rPr lang="en-US" sz="2000" dirty="0" smtClean="0"/>
              <a:t>#6 bars : 792.681 </a:t>
            </a:r>
            <a:r>
              <a:rPr lang="en-US" sz="2000" dirty="0" err="1" smtClean="0"/>
              <a:t>ft</a:t>
            </a:r>
            <a:endParaRPr lang="en-US" sz="2000" dirty="0" smtClean="0"/>
          </a:p>
          <a:p>
            <a:pPr marL="0" indent="0">
              <a:buNone/>
            </a:pPr>
            <a:endParaRPr lang="en-US" sz="1500" dirty="0"/>
          </a:p>
        </p:txBody>
      </p:sp>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266590" y="739290"/>
            <a:ext cx="4581150" cy="4116796"/>
          </a:xfrm>
          <a:prstGeom prst="rect">
            <a:avLst/>
          </a:prstGeom>
        </p:spPr>
      </p:pic>
    </p:spTree>
    <p:extLst>
      <p:ext uri="{BB962C8B-B14F-4D97-AF65-F5344CB8AC3E}">
        <p14:creationId xmlns:p14="http://schemas.microsoft.com/office/powerpoint/2010/main" val="1850037749"/>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BD5F3D4-EEE5-4281-94F1-049FC0BC408F}"/>
              </a:ext>
            </a:extLst>
          </p:cNvPr>
          <p:cNvSpPr>
            <a:spLocks noGrp="1"/>
          </p:cNvSpPr>
          <p:nvPr>
            <p:ph type="title"/>
          </p:nvPr>
        </p:nvSpPr>
        <p:spPr>
          <a:xfrm>
            <a:off x="192915" y="400204"/>
            <a:ext cx="4790327" cy="994173"/>
          </a:xfrm>
        </p:spPr>
        <p:txBody>
          <a:bodyPr>
            <a:normAutofit/>
          </a:bodyPr>
          <a:lstStyle/>
          <a:p>
            <a:r>
              <a:rPr lang="en-US" sz="4800" b="1" dirty="0" smtClean="0"/>
              <a:t>Steel in Lintels</a:t>
            </a:r>
            <a:endParaRPr lang="en-US" sz="4800" b="1" dirty="0"/>
          </a:p>
        </p:txBody>
      </p:sp>
      <p:sp>
        <p:nvSpPr>
          <p:cNvPr id="3" name="Content Placeholder 2">
            <a:extLst>
              <a:ext uri="{FF2B5EF4-FFF2-40B4-BE49-F238E27FC236}">
                <a16:creationId xmlns:a16="http://schemas.microsoft.com/office/drawing/2014/main" xmlns="" id="{BE1F118D-B550-4411-9D01-27708EA68E7E}"/>
              </a:ext>
            </a:extLst>
          </p:cNvPr>
          <p:cNvSpPr>
            <a:spLocks noGrp="1"/>
          </p:cNvSpPr>
          <p:nvPr>
            <p:ph idx="1"/>
          </p:nvPr>
        </p:nvSpPr>
        <p:spPr>
          <a:xfrm>
            <a:off x="604156" y="2598352"/>
            <a:ext cx="4786993" cy="2386263"/>
          </a:xfrm>
        </p:spPr>
        <p:txBody>
          <a:bodyPr anchor="t">
            <a:normAutofit/>
          </a:bodyPr>
          <a:lstStyle/>
          <a:p>
            <a:r>
              <a:rPr lang="en-US" dirty="0" smtClean="0"/>
              <a:t>#3 bars : 1423 </a:t>
            </a:r>
            <a:r>
              <a:rPr lang="en-US" dirty="0"/>
              <a:t>ft</a:t>
            </a:r>
          </a:p>
          <a:p>
            <a:r>
              <a:rPr lang="en-US" dirty="0" smtClean="0"/>
              <a:t>#4 bars </a:t>
            </a:r>
            <a:r>
              <a:rPr lang="en-US" dirty="0"/>
              <a:t>: </a:t>
            </a:r>
            <a:r>
              <a:rPr lang="en-US" dirty="0" smtClean="0"/>
              <a:t>900 </a:t>
            </a:r>
            <a:r>
              <a:rPr lang="en-US" dirty="0"/>
              <a:t>ft</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72000" y="1093268"/>
            <a:ext cx="4469891" cy="3906239"/>
          </a:xfrm>
          <a:prstGeom prst="rect">
            <a:avLst/>
          </a:prstGeom>
        </p:spPr>
      </p:pic>
    </p:spTree>
    <p:extLst>
      <p:ext uri="{BB962C8B-B14F-4D97-AF65-F5344CB8AC3E}">
        <p14:creationId xmlns:p14="http://schemas.microsoft.com/office/powerpoint/2010/main" val="1059991933"/>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Steel in Columns </a:t>
            </a:r>
            <a:endParaRPr lang="en-GB"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3353745314"/>
              </p:ext>
            </p:extLst>
          </p:nvPr>
        </p:nvGraphicFramePr>
        <p:xfrm>
          <a:off x="601670" y="2113634"/>
          <a:ext cx="5039266" cy="2137872"/>
        </p:xfrm>
        <a:graphic>
          <a:graphicData uri="http://schemas.openxmlformats.org/drawingml/2006/table">
            <a:tbl>
              <a:tblPr>
                <a:tableStyleId>{5C22544A-7EE6-4342-B048-85BDC9FD1C3A}</a:tableStyleId>
              </a:tblPr>
              <a:tblGrid>
                <a:gridCol w="1186721"/>
                <a:gridCol w="1210799"/>
                <a:gridCol w="1100728"/>
                <a:gridCol w="1541018"/>
              </a:tblGrid>
              <a:tr h="492861">
                <a:tc>
                  <a:txBody>
                    <a:bodyPr/>
                    <a:lstStyle/>
                    <a:p>
                      <a:pPr algn="ctr" fontAlgn="b"/>
                      <a:r>
                        <a:rPr lang="en-GB" sz="1400" u="none" strike="noStrike" dirty="0" smtClean="0">
                          <a:effectLst/>
                        </a:rPr>
                        <a:t>Column </a:t>
                      </a:r>
                      <a:r>
                        <a:rPr lang="en-GB" sz="1400" u="none" strike="noStrike" dirty="0">
                          <a:effectLst/>
                        </a:rPr>
                        <a:t>Type</a:t>
                      </a:r>
                      <a:endParaRPr lang="en-GB" sz="1400" b="1" i="0" u="none" strike="noStrike" dirty="0">
                        <a:solidFill>
                          <a:srgbClr val="000000"/>
                        </a:solidFill>
                        <a:effectLst/>
                        <a:latin typeface="Calibri" panose="020F0502020204030204" pitchFamily="34" charset="0"/>
                      </a:endParaRPr>
                    </a:p>
                  </a:txBody>
                  <a:tcPr marL="7182" marR="7182" marT="7182" marB="0" anchor="b"/>
                </a:tc>
                <a:tc>
                  <a:txBody>
                    <a:bodyPr/>
                    <a:lstStyle/>
                    <a:p>
                      <a:pPr algn="ctr" fontAlgn="b"/>
                      <a:r>
                        <a:rPr lang="en-GB" sz="1400" u="none" strike="noStrike" dirty="0">
                          <a:effectLst/>
                        </a:rPr>
                        <a:t>#3 Bars (</a:t>
                      </a:r>
                      <a:r>
                        <a:rPr lang="en-GB" sz="1400" u="none" strike="noStrike" dirty="0" err="1">
                          <a:effectLst/>
                        </a:rPr>
                        <a:t>ft</a:t>
                      </a:r>
                      <a:r>
                        <a:rPr lang="en-GB" sz="1400" u="none" strike="noStrike" dirty="0">
                          <a:effectLst/>
                        </a:rPr>
                        <a:t>)</a:t>
                      </a:r>
                      <a:endParaRPr lang="en-GB" sz="1400" b="1" i="0" u="none" strike="noStrike" dirty="0">
                        <a:solidFill>
                          <a:srgbClr val="000000"/>
                        </a:solidFill>
                        <a:effectLst/>
                        <a:latin typeface="Calibri" panose="020F0502020204030204" pitchFamily="34" charset="0"/>
                      </a:endParaRPr>
                    </a:p>
                  </a:txBody>
                  <a:tcPr marL="7182" marR="7182" marT="7182" marB="0" anchor="b"/>
                </a:tc>
                <a:tc>
                  <a:txBody>
                    <a:bodyPr/>
                    <a:lstStyle/>
                    <a:p>
                      <a:pPr algn="ctr" fontAlgn="b"/>
                      <a:r>
                        <a:rPr lang="en-GB" sz="1400" u="none" strike="noStrike">
                          <a:effectLst/>
                        </a:rPr>
                        <a:t>#4 Bars (ft)</a:t>
                      </a:r>
                      <a:endParaRPr lang="en-GB" sz="1400" b="1" i="0" u="none" strike="noStrike">
                        <a:solidFill>
                          <a:srgbClr val="000000"/>
                        </a:solidFill>
                        <a:effectLst/>
                        <a:latin typeface="Calibri" panose="020F0502020204030204" pitchFamily="34" charset="0"/>
                      </a:endParaRPr>
                    </a:p>
                  </a:txBody>
                  <a:tcPr marL="7182" marR="7182" marT="7182" marB="0" anchor="b"/>
                </a:tc>
                <a:tc>
                  <a:txBody>
                    <a:bodyPr/>
                    <a:lstStyle/>
                    <a:p>
                      <a:pPr algn="ctr" fontAlgn="b"/>
                      <a:r>
                        <a:rPr lang="en-GB" sz="1400" u="none" strike="noStrike">
                          <a:effectLst/>
                        </a:rPr>
                        <a:t>#6 Bars ((ft)</a:t>
                      </a:r>
                      <a:endParaRPr lang="en-GB" sz="1400" b="1" i="0" u="none" strike="noStrike">
                        <a:solidFill>
                          <a:srgbClr val="000000"/>
                        </a:solidFill>
                        <a:effectLst/>
                        <a:latin typeface="Calibri" panose="020F0502020204030204" pitchFamily="34" charset="0"/>
                      </a:endParaRPr>
                    </a:p>
                  </a:txBody>
                  <a:tcPr marL="7182" marR="7182" marT="7182" marB="0" anchor="b"/>
                </a:tc>
              </a:tr>
              <a:tr h="548337">
                <a:tc>
                  <a:txBody>
                    <a:bodyPr/>
                    <a:lstStyle/>
                    <a:p>
                      <a:pPr algn="ctr" fontAlgn="b"/>
                      <a:r>
                        <a:rPr lang="en-GB" sz="1400" u="none" strike="noStrike" dirty="0" smtClean="0">
                          <a:effectLst/>
                        </a:rPr>
                        <a:t>Column </a:t>
                      </a:r>
                      <a:r>
                        <a:rPr lang="en-GB" sz="1400" u="none" strike="noStrike" dirty="0">
                          <a:effectLst/>
                        </a:rPr>
                        <a:t>C-1</a:t>
                      </a:r>
                      <a:endParaRPr lang="en-GB" sz="1400" b="0" i="0" u="none" strike="noStrike" dirty="0">
                        <a:solidFill>
                          <a:srgbClr val="000000"/>
                        </a:solidFill>
                        <a:effectLst/>
                        <a:latin typeface="Calibri" panose="020F0502020204030204" pitchFamily="34" charset="0"/>
                      </a:endParaRPr>
                    </a:p>
                  </a:txBody>
                  <a:tcPr marL="7182" marR="7182" marT="7182" marB="0" anchor="b"/>
                </a:tc>
                <a:tc>
                  <a:txBody>
                    <a:bodyPr/>
                    <a:lstStyle/>
                    <a:p>
                      <a:pPr algn="ctr" fontAlgn="b"/>
                      <a:r>
                        <a:rPr lang="en-GB" sz="1400" u="none" strike="noStrike" dirty="0">
                          <a:effectLst/>
                        </a:rPr>
                        <a:t>1110.667</a:t>
                      </a:r>
                      <a:endParaRPr lang="en-GB" sz="1400" b="0" i="0" u="none" strike="noStrike" dirty="0">
                        <a:solidFill>
                          <a:srgbClr val="000000"/>
                        </a:solidFill>
                        <a:effectLst/>
                        <a:latin typeface="Calibri" panose="020F0502020204030204" pitchFamily="34" charset="0"/>
                      </a:endParaRPr>
                    </a:p>
                  </a:txBody>
                  <a:tcPr marL="7182" marR="7182" marT="7182" marB="0" anchor="b"/>
                </a:tc>
                <a:tc>
                  <a:txBody>
                    <a:bodyPr/>
                    <a:lstStyle/>
                    <a:p>
                      <a:pPr algn="ctr" fontAlgn="b"/>
                      <a:r>
                        <a:rPr lang="en-GB" sz="1400" u="none" strike="noStrike" dirty="0">
                          <a:effectLst/>
                        </a:rPr>
                        <a:t>1163</a:t>
                      </a:r>
                      <a:endParaRPr lang="en-GB" sz="1400" b="0" i="0" u="none" strike="noStrike" dirty="0">
                        <a:solidFill>
                          <a:srgbClr val="000000"/>
                        </a:solidFill>
                        <a:effectLst/>
                        <a:latin typeface="Calibri" panose="020F0502020204030204" pitchFamily="34" charset="0"/>
                      </a:endParaRPr>
                    </a:p>
                  </a:txBody>
                  <a:tcPr marL="7182" marR="7182" marT="7182" marB="0" anchor="b"/>
                </a:tc>
                <a:tc>
                  <a:txBody>
                    <a:bodyPr/>
                    <a:lstStyle/>
                    <a:p>
                      <a:pPr algn="ctr" fontAlgn="b"/>
                      <a:endParaRPr lang="en-GB" sz="1400" b="0" i="0" u="none" strike="noStrike" dirty="0">
                        <a:solidFill>
                          <a:srgbClr val="000000"/>
                        </a:solidFill>
                        <a:effectLst/>
                        <a:latin typeface="Calibri" panose="020F0502020204030204" pitchFamily="34" charset="0"/>
                      </a:endParaRPr>
                    </a:p>
                  </a:txBody>
                  <a:tcPr marL="7182" marR="7182" marT="7182" marB="0" anchor="b"/>
                </a:tc>
              </a:tr>
              <a:tr h="548337">
                <a:tc>
                  <a:txBody>
                    <a:bodyPr/>
                    <a:lstStyle/>
                    <a:p>
                      <a:pPr algn="ctr" fontAlgn="b"/>
                      <a:r>
                        <a:rPr lang="en-GB" sz="1400" u="none" strike="noStrike" dirty="0" smtClean="0">
                          <a:effectLst/>
                        </a:rPr>
                        <a:t>Column </a:t>
                      </a:r>
                      <a:r>
                        <a:rPr lang="en-GB" sz="1400" u="none" strike="noStrike" dirty="0">
                          <a:effectLst/>
                        </a:rPr>
                        <a:t>C-2</a:t>
                      </a:r>
                      <a:endParaRPr lang="en-GB" sz="1400" b="0" i="0" u="none" strike="noStrike" dirty="0">
                        <a:solidFill>
                          <a:srgbClr val="000000"/>
                        </a:solidFill>
                        <a:effectLst/>
                        <a:latin typeface="Calibri" panose="020F0502020204030204" pitchFamily="34" charset="0"/>
                      </a:endParaRPr>
                    </a:p>
                  </a:txBody>
                  <a:tcPr marL="7182" marR="7182" marT="7182" marB="0" anchor="b"/>
                </a:tc>
                <a:tc>
                  <a:txBody>
                    <a:bodyPr/>
                    <a:lstStyle/>
                    <a:p>
                      <a:pPr algn="ctr" fontAlgn="b"/>
                      <a:r>
                        <a:rPr lang="en-GB" sz="1400" u="none" strike="noStrike">
                          <a:effectLst/>
                        </a:rPr>
                        <a:t>311.5</a:t>
                      </a:r>
                      <a:endParaRPr lang="en-GB" sz="1400" b="0" i="0" u="none" strike="noStrike">
                        <a:solidFill>
                          <a:srgbClr val="000000"/>
                        </a:solidFill>
                        <a:effectLst/>
                        <a:latin typeface="Calibri" panose="020F0502020204030204" pitchFamily="34" charset="0"/>
                      </a:endParaRPr>
                    </a:p>
                  </a:txBody>
                  <a:tcPr marL="7182" marR="7182" marT="7182" marB="0" anchor="b"/>
                </a:tc>
                <a:tc>
                  <a:txBody>
                    <a:bodyPr/>
                    <a:lstStyle/>
                    <a:p>
                      <a:pPr algn="ctr" fontAlgn="b"/>
                      <a:endParaRPr lang="en-GB" sz="1400" b="0" i="0" u="none" strike="noStrike" dirty="0">
                        <a:solidFill>
                          <a:srgbClr val="000000"/>
                        </a:solidFill>
                        <a:effectLst/>
                        <a:latin typeface="Calibri" panose="020F0502020204030204" pitchFamily="34" charset="0"/>
                      </a:endParaRPr>
                    </a:p>
                  </a:txBody>
                  <a:tcPr marL="7182" marR="7182" marT="7182" marB="0" anchor="b"/>
                </a:tc>
                <a:tc>
                  <a:txBody>
                    <a:bodyPr/>
                    <a:lstStyle/>
                    <a:p>
                      <a:pPr algn="ctr" fontAlgn="b"/>
                      <a:r>
                        <a:rPr lang="en-GB" sz="1400" u="none" strike="noStrike" dirty="0">
                          <a:effectLst/>
                        </a:rPr>
                        <a:t>322.75</a:t>
                      </a:r>
                      <a:endParaRPr lang="en-GB" sz="1400" b="0" i="0" u="none" strike="noStrike" dirty="0">
                        <a:solidFill>
                          <a:srgbClr val="000000"/>
                        </a:solidFill>
                        <a:effectLst/>
                        <a:latin typeface="Calibri" panose="020F0502020204030204" pitchFamily="34" charset="0"/>
                      </a:endParaRPr>
                    </a:p>
                  </a:txBody>
                  <a:tcPr marL="7182" marR="7182" marT="7182" marB="0" anchor="b"/>
                </a:tc>
              </a:tr>
              <a:tr h="548337">
                <a:tc>
                  <a:txBody>
                    <a:bodyPr/>
                    <a:lstStyle/>
                    <a:p>
                      <a:pPr algn="ctr" fontAlgn="b"/>
                      <a:r>
                        <a:rPr lang="en-GB" sz="1400" u="none" strike="noStrike">
                          <a:effectLst/>
                        </a:rPr>
                        <a:t>Total</a:t>
                      </a:r>
                      <a:endParaRPr lang="en-GB" sz="1400" b="0" i="0" u="none" strike="noStrike">
                        <a:solidFill>
                          <a:srgbClr val="000000"/>
                        </a:solidFill>
                        <a:effectLst/>
                        <a:latin typeface="Calibri" panose="020F0502020204030204" pitchFamily="34" charset="0"/>
                      </a:endParaRPr>
                    </a:p>
                  </a:txBody>
                  <a:tcPr marL="7182" marR="7182" marT="7182" marB="0" anchor="b"/>
                </a:tc>
                <a:tc>
                  <a:txBody>
                    <a:bodyPr/>
                    <a:lstStyle/>
                    <a:p>
                      <a:pPr algn="ctr" fontAlgn="b"/>
                      <a:r>
                        <a:rPr lang="en-GB" sz="1400" u="none" strike="noStrike">
                          <a:effectLst/>
                        </a:rPr>
                        <a:t>1422.167</a:t>
                      </a:r>
                      <a:endParaRPr lang="en-GB" sz="1400" b="0" i="0" u="none" strike="noStrike">
                        <a:solidFill>
                          <a:srgbClr val="000000"/>
                        </a:solidFill>
                        <a:effectLst/>
                        <a:latin typeface="Calibri" panose="020F0502020204030204" pitchFamily="34" charset="0"/>
                      </a:endParaRPr>
                    </a:p>
                  </a:txBody>
                  <a:tcPr marL="7182" marR="7182" marT="7182" marB="0" anchor="b"/>
                </a:tc>
                <a:tc>
                  <a:txBody>
                    <a:bodyPr/>
                    <a:lstStyle/>
                    <a:p>
                      <a:pPr algn="ctr" fontAlgn="b"/>
                      <a:r>
                        <a:rPr lang="en-GB" sz="1400" u="none" strike="noStrike">
                          <a:effectLst/>
                        </a:rPr>
                        <a:t>1163</a:t>
                      </a:r>
                      <a:endParaRPr lang="en-GB" sz="1400" b="0" i="0" u="none" strike="noStrike">
                        <a:solidFill>
                          <a:srgbClr val="000000"/>
                        </a:solidFill>
                        <a:effectLst/>
                        <a:latin typeface="Calibri" panose="020F0502020204030204" pitchFamily="34" charset="0"/>
                      </a:endParaRPr>
                    </a:p>
                  </a:txBody>
                  <a:tcPr marL="7182" marR="7182" marT="7182" marB="0" anchor="b"/>
                </a:tc>
                <a:tc>
                  <a:txBody>
                    <a:bodyPr/>
                    <a:lstStyle/>
                    <a:p>
                      <a:pPr algn="ctr" fontAlgn="b"/>
                      <a:r>
                        <a:rPr lang="en-GB" sz="1400" u="none" strike="noStrike" dirty="0">
                          <a:effectLst/>
                        </a:rPr>
                        <a:t>322.75</a:t>
                      </a:r>
                      <a:endParaRPr lang="en-GB" sz="1400" b="0" i="0" u="none" strike="noStrike" dirty="0">
                        <a:solidFill>
                          <a:srgbClr val="000000"/>
                        </a:solidFill>
                        <a:effectLst/>
                        <a:latin typeface="Calibri" panose="020F0502020204030204" pitchFamily="34" charset="0"/>
                      </a:endParaRPr>
                    </a:p>
                  </a:txBody>
                  <a:tcPr marL="7182" marR="7182" marT="7182" marB="0" anchor="b"/>
                </a:tc>
              </a:tr>
            </a:tbl>
          </a:graphicData>
        </a:graphic>
      </p:graphicFrame>
    </p:spTree>
    <p:extLst>
      <p:ext uri="{BB962C8B-B14F-4D97-AF65-F5344CB8AC3E}">
        <p14:creationId xmlns:p14="http://schemas.microsoft.com/office/powerpoint/2010/main" val="771682750"/>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Steel in Foundations</a:t>
            </a:r>
            <a:endParaRPr lang="en-GB" dirty="0"/>
          </a:p>
        </p:txBody>
      </p:sp>
      <p:pic>
        <p:nvPicPr>
          <p:cNvPr id="6" name="Content Placeholder 5"/>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19776" y="1960930"/>
            <a:ext cx="6791325" cy="2314575"/>
          </a:xfrm>
        </p:spPr>
      </p:pic>
    </p:spTree>
    <p:extLst>
      <p:ext uri="{BB962C8B-B14F-4D97-AF65-F5344CB8AC3E}">
        <p14:creationId xmlns:p14="http://schemas.microsoft.com/office/powerpoint/2010/main" val="1727298153"/>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20F8E48-F110-4EFD-960C-46F94F85D79A}"/>
              </a:ext>
            </a:extLst>
          </p:cNvPr>
          <p:cNvSpPr>
            <a:spLocks noGrp="1"/>
          </p:cNvSpPr>
          <p:nvPr>
            <p:ph type="title"/>
          </p:nvPr>
        </p:nvSpPr>
        <p:spPr>
          <a:xfrm>
            <a:off x="486696" y="471949"/>
            <a:ext cx="7902929" cy="1257452"/>
          </a:xfrm>
        </p:spPr>
        <p:txBody>
          <a:bodyPr>
            <a:normAutofit/>
          </a:bodyPr>
          <a:lstStyle/>
          <a:p>
            <a:pPr algn="ctr"/>
            <a:r>
              <a:rPr lang="en-US" dirty="0" smtClean="0"/>
              <a:t>Steel Schedule</a:t>
            </a:r>
            <a:endParaRPr lang="en-GB" dirty="0"/>
          </a:p>
        </p:txBody>
      </p:sp>
      <p:graphicFrame>
        <p:nvGraphicFramePr>
          <p:cNvPr id="5" name="Content Placeholder 4"/>
          <p:cNvGraphicFramePr>
            <a:graphicFrameLocks noGrp="1"/>
          </p:cNvGraphicFramePr>
          <p:nvPr>
            <p:ph idx="1"/>
            <p:extLst>
              <p:ext uri="{D42A27DB-BD31-4B8C-83A1-F6EECF244321}">
                <p14:modId xmlns:p14="http://schemas.microsoft.com/office/powerpoint/2010/main" val="3762291135"/>
              </p:ext>
            </p:extLst>
          </p:nvPr>
        </p:nvGraphicFramePr>
        <p:xfrm>
          <a:off x="1365195" y="2266338"/>
          <a:ext cx="6108199" cy="2268760"/>
        </p:xfrm>
        <a:graphic>
          <a:graphicData uri="http://schemas.openxmlformats.org/drawingml/2006/table">
            <a:tbl>
              <a:tblPr>
                <a:tableStyleId>{5C22544A-7EE6-4342-B048-85BDC9FD1C3A}</a:tableStyleId>
              </a:tblPr>
              <a:tblGrid>
                <a:gridCol w="2988887"/>
                <a:gridCol w="3119312"/>
              </a:tblGrid>
              <a:tr h="283595">
                <a:tc gridSpan="2">
                  <a:txBody>
                    <a:bodyPr/>
                    <a:lstStyle/>
                    <a:p>
                      <a:pPr algn="ctr" fontAlgn="b"/>
                      <a:r>
                        <a:rPr lang="en-GB" sz="1100" u="none" strike="noStrike" dirty="0">
                          <a:effectLst/>
                        </a:rPr>
                        <a:t>STEEL SCHEDULE</a:t>
                      </a:r>
                      <a:endParaRPr lang="en-GB" sz="1100" b="0" i="0" u="none" strike="noStrike" dirty="0">
                        <a:solidFill>
                          <a:srgbClr val="000000"/>
                        </a:solidFill>
                        <a:effectLst/>
                        <a:latin typeface="Calibri" panose="020F0502020204030204" pitchFamily="34" charset="0"/>
                      </a:endParaRPr>
                    </a:p>
                  </a:txBody>
                  <a:tcPr marL="9525" marR="9525" marT="9525" marB="0" anchor="b"/>
                </a:tc>
                <a:tc hMerge="1">
                  <a:txBody>
                    <a:bodyPr/>
                    <a:lstStyle/>
                    <a:p>
                      <a:endParaRPr lang="en-GB"/>
                    </a:p>
                  </a:txBody>
                  <a:tcPr/>
                </a:tc>
              </a:tr>
              <a:tr h="283595">
                <a:tc>
                  <a:txBody>
                    <a:bodyPr/>
                    <a:lstStyle/>
                    <a:p>
                      <a:pPr algn="l" fontAlgn="b"/>
                      <a:endParaRPr lang="en-GB" sz="1100" b="1" i="0" u="none" strike="noStrike" dirty="0">
                        <a:solidFill>
                          <a:srgbClr val="FFFFFF"/>
                        </a:solidFill>
                        <a:effectLst/>
                        <a:latin typeface="Calibri" panose="020F0502020204030204" pitchFamily="34" charset="0"/>
                      </a:endParaRPr>
                    </a:p>
                  </a:txBody>
                  <a:tcPr marL="9525" marR="9525" marT="9525" marB="0" anchor="b"/>
                </a:tc>
                <a:tc>
                  <a:txBody>
                    <a:bodyPr/>
                    <a:lstStyle/>
                    <a:p>
                      <a:pPr algn="l" fontAlgn="b"/>
                      <a:endParaRPr lang="en-GB" sz="1100" b="1" i="0" u="none" strike="noStrike" dirty="0">
                        <a:solidFill>
                          <a:srgbClr val="FFFFFF"/>
                        </a:solidFill>
                        <a:effectLst/>
                        <a:latin typeface="Calibri" panose="020F0502020204030204" pitchFamily="34" charset="0"/>
                      </a:endParaRPr>
                    </a:p>
                  </a:txBody>
                  <a:tcPr marL="9525" marR="9525" marT="9525" marB="0" anchor="b"/>
                </a:tc>
              </a:tr>
              <a:tr h="283595">
                <a:tc>
                  <a:txBody>
                    <a:bodyPr/>
                    <a:lstStyle/>
                    <a:p>
                      <a:pPr algn="l" fontAlgn="b"/>
                      <a:r>
                        <a:rPr lang="en-GB" sz="1100" u="none" strike="noStrike" dirty="0">
                          <a:effectLst/>
                        </a:rPr>
                        <a:t>TOTAL LENGTH OF #2 </a:t>
                      </a:r>
                      <a:r>
                        <a:rPr lang="en-GB" sz="1100" u="none" strike="noStrike" dirty="0" smtClean="0">
                          <a:effectLst/>
                        </a:rPr>
                        <a:t>BARS (</a:t>
                      </a:r>
                      <a:r>
                        <a:rPr lang="en-GB" sz="1100" u="none" strike="noStrike" dirty="0" err="1" smtClean="0">
                          <a:effectLst/>
                        </a:rPr>
                        <a:t>ft</a:t>
                      </a:r>
                      <a:r>
                        <a:rPr lang="en-GB" sz="1100" u="none" strike="noStrike" dirty="0" smtClean="0">
                          <a:effectLst/>
                        </a:rPr>
                        <a:t>)</a:t>
                      </a:r>
                      <a:endParaRPr lang="en-GB" sz="11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en-GB" sz="1100" u="none" strike="noStrike">
                          <a:effectLst/>
                        </a:rPr>
                        <a:t>62.33</a:t>
                      </a:r>
                      <a:endParaRPr lang="en-GB" sz="1100" b="0" i="0" u="none" strike="noStrike">
                        <a:solidFill>
                          <a:srgbClr val="000000"/>
                        </a:solidFill>
                        <a:effectLst/>
                        <a:latin typeface="Calibri" panose="020F0502020204030204" pitchFamily="34" charset="0"/>
                      </a:endParaRPr>
                    </a:p>
                  </a:txBody>
                  <a:tcPr marL="9525" marR="9525" marT="9525" marB="0" anchor="b"/>
                </a:tc>
              </a:tr>
              <a:tr h="283595">
                <a:tc>
                  <a:txBody>
                    <a:bodyPr/>
                    <a:lstStyle/>
                    <a:p>
                      <a:pPr algn="l" fontAlgn="b"/>
                      <a:r>
                        <a:rPr lang="en-GB" sz="1100" u="none" strike="noStrike" dirty="0">
                          <a:effectLst/>
                        </a:rPr>
                        <a:t>TOTAL LENGTH OF #3 </a:t>
                      </a:r>
                      <a:r>
                        <a:rPr lang="en-GB" sz="1100" u="none" strike="noStrike" dirty="0" smtClean="0">
                          <a:effectLst/>
                        </a:rPr>
                        <a:t>BARS (</a:t>
                      </a:r>
                      <a:r>
                        <a:rPr lang="en-GB" sz="1100" u="none" strike="noStrike" dirty="0" err="1" smtClean="0">
                          <a:effectLst/>
                        </a:rPr>
                        <a:t>ft</a:t>
                      </a:r>
                      <a:r>
                        <a:rPr lang="en-GB" sz="1100" u="none" strike="noStrike" dirty="0" smtClean="0">
                          <a:effectLst/>
                        </a:rPr>
                        <a:t>) </a:t>
                      </a:r>
                      <a:endParaRPr lang="en-GB" sz="11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en-GB" sz="1100" u="none" strike="noStrike">
                          <a:effectLst/>
                        </a:rPr>
                        <a:t>32313.4702</a:t>
                      </a:r>
                      <a:endParaRPr lang="en-GB" sz="1100" b="0" i="0" u="none" strike="noStrike">
                        <a:solidFill>
                          <a:srgbClr val="000000"/>
                        </a:solidFill>
                        <a:effectLst/>
                        <a:latin typeface="Calibri" panose="020F0502020204030204" pitchFamily="34" charset="0"/>
                      </a:endParaRPr>
                    </a:p>
                  </a:txBody>
                  <a:tcPr marL="9525" marR="9525" marT="9525" marB="0" anchor="b"/>
                </a:tc>
              </a:tr>
              <a:tr h="283595">
                <a:tc>
                  <a:txBody>
                    <a:bodyPr/>
                    <a:lstStyle/>
                    <a:p>
                      <a:pPr algn="l" fontAlgn="b"/>
                      <a:r>
                        <a:rPr lang="en-GB" sz="1100" u="none" strike="noStrike" dirty="0">
                          <a:effectLst/>
                        </a:rPr>
                        <a:t>TOTAL LENGTH OF #4 </a:t>
                      </a:r>
                      <a:r>
                        <a:rPr lang="en-GB" sz="1100" u="none" strike="noStrike" dirty="0" smtClean="0">
                          <a:effectLst/>
                        </a:rPr>
                        <a:t>BARS (</a:t>
                      </a:r>
                      <a:r>
                        <a:rPr lang="en-GB" sz="1100" u="none" strike="noStrike" dirty="0" err="1" smtClean="0">
                          <a:effectLst/>
                        </a:rPr>
                        <a:t>ft</a:t>
                      </a:r>
                      <a:r>
                        <a:rPr lang="en-GB" sz="1100" u="none" strike="noStrike" dirty="0" smtClean="0">
                          <a:effectLst/>
                        </a:rPr>
                        <a:t>)</a:t>
                      </a:r>
                      <a:endParaRPr lang="en-GB" sz="11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en-GB" sz="1100" u="none" strike="noStrike">
                          <a:effectLst/>
                        </a:rPr>
                        <a:t>7449.1537</a:t>
                      </a:r>
                      <a:endParaRPr lang="en-GB" sz="1100" b="0" i="0" u="none" strike="noStrike">
                        <a:solidFill>
                          <a:srgbClr val="000000"/>
                        </a:solidFill>
                        <a:effectLst/>
                        <a:latin typeface="Calibri" panose="020F0502020204030204" pitchFamily="34" charset="0"/>
                      </a:endParaRPr>
                    </a:p>
                  </a:txBody>
                  <a:tcPr marL="9525" marR="9525" marT="9525" marB="0" anchor="b"/>
                </a:tc>
              </a:tr>
              <a:tr h="283595">
                <a:tc>
                  <a:txBody>
                    <a:bodyPr/>
                    <a:lstStyle/>
                    <a:p>
                      <a:pPr algn="l" fontAlgn="b"/>
                      <a:r>
                        <a:rPr lang="en-GB" sz="1100" u="none" strike="noStrike" dirty="0">
                          <a:effectLst/>
                        </a:rPr>
                        <a:t>TOTAL LENGTH OF #6 </a:t>
                      </a:r>
                      <a:r>
                        <a:rPr lang="en-GB" sz="1100" u="none" strike="noStrike" dirty="0" smtClean="0">
                          <a:effectLst/>
                        </a:rPr>
                        <a:t>BARS (</a:t>
                      </a:r>
                      <a:r>
                        <a:rPr lang="en-GB" sz="1100" u="none" strike="noStrike" dirty="0" err="1" smtClean="0">
                          <a:effectLst/>
                        </a:rPr>
                        <a:t>ft</a:t>
                      </a:r>
                      <a:r>
                        <a:rPr lang="en-GB" sz="1100" u="none" strike="noStrike" dirty="0" smtClean="0">
                          <a:effectLst/>
                        </a:rPr>
                        <a:t>)</a:t>
                      </a:r>
                      <a:endParaRPr lang="en-GB" sz="11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en-GB" sz="1100" u="none" strike="noStrike" dirty="0">
                          <a:effectLst/>
                        </a:rPr>
                        <a:t>1115.431</a:t>
                      </a:r>
                      <a:endParaRPr lang="en-GB" sz="1100" b="0" i="0" u="none" strike="noStrike" dirty="0">
                        <a:solidFill>
                          <a:srgbClr val="000000"/>
                        </a:solidFill>
                        <a:effectLst/>
                        <a:latin typeface="Calibri" panose="020F0502020204030204" pitchFamily="34" charset="0"/>
                      </a:endParaRPr>
                    </a:p>
                  </a:txBody>
                  <a:tcPr marL="9525" marR="9525" marT="9525" marB="0" anchor="b"/>
                </a:tc>
              </a:tr>
              <a:tr h="283595">
                <a:tc>
                  <a:txBody>
                    <a:bodyPr/>
                    <a:lstStyle/>
                    <a:p>
                      <a:pPr algn="l" fontAlgn="b"/>
                      <a:r>
                        <a:rPr lang="en-GB" sz="1100" u="none" strike="noStrike" dirty="0">
                          <a:effectLst/>
                        </a:rPr>
                        <a:t>TOTAL TONNAGE</a:t>
                      </a:r>
                      <a:endParaRPr lang="en-GB" sz="11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en-GB" sz="1100" u="none" strike="noStrike" dirty="0">
                          <a:effectLst/>
                        </a:rPr>
                        <a:t>20.47019245</a:t>
                      </a:r>
                      <a:endParaRPr lang="en-GB" sz="1100" b="0" i="0" u="none" strike="noStrike" dirty="0">
                        <a:solidFill>
                          <a:srgbClr val="000000"/>
                        </a:solidFill>
                        <a:effectLst/>
                        <a:latin typeface="Calibri" panose="020F0502020204030204" pitchFamily="34" charset="0"/>
                      </a:endParaRPr>
                    </a:p>
                  </a:txBody>
                  <a:tcPr marL="9525" marR="9525" marT="9525" marB="0" anchor="b"/>
                </a:tc>
              </a:tr>
              <a:tr h="283595">
                <a:tc>
                  <a:txBody>
                    <a:bodyPr/>
                    <a:lstStyle/>
                    <a:p>
                      <a:pPr marL="0" marR="0" lvl="0" indent="0" algn="l" defTabSz="685800" rtl="0" eaLnBrk="1" fontAlgn="b" latinLnBrk="0" hangingPunct="1">
                        <a:lnSpc>
                          <a:spcPct val="100000"/>
                        </a:lnSpc>
                        <a:spcBef>
                          <a:spcPts val="0"/>
                        </a:spcBef>
                        <a:spcAft>
                          <a:spcPts val="0"/>
                        </a:spcAft>
                        <a:buClrTx/>
                        <a:buSzTx/>
                        <a:buFontTx/>
                        <a:buNone/>
                        <a:tabLst/>
                        <a:defRPr/>
                      </a:pPr>
                      <a:r>
                        <a:rPr lang="en-GB" sz="1100" u="none" strike="noStrike" dirty="0" smtClean="0">
                          <a:effectLst/>
                        </a:rPr>
                        <a:t>TOTAL QUANTITY</a:t>
                      </a:r>
                      <a:r>
                        <a:rPr lang="en-GB" sz="1100" u="none" strike="noStrike" baseline="0" dirty="0" smtClean="0">
                          <a:effectLst/>
                        </a:rPr>
                        <a:t> IN cwt</a:t>
                      </a:r>
                      <a:endParaRPr lang="en-GB" sz="1100" b="0" i="0" u="none" strike="noStrike" dirty="0" smtClean="0">
                        <a:solidFill>
                          <a:srgbClr val="000000"/>
                        </a:solidFill>
                        <a:effectLst/>
                        <a:latin typeface="Calibri" panose="020F0502020204030204" pitchFamily="34" charset="0"/>
                      </a:endParaRPr>
                    </a:p>
                  </a:txBody>
                  <a:tcPr marL="9525" marR="9525" marT="9525" marB="0" anchor="b"/>
                </a:tc>
                <a:tc>
                  <a:txBody>
                    <a:bodyPr/>
                    <a:lstStyle/>
                    <a:p>
                      <a:pPr algn="r" fontAlgn="b"/>
                      <a:r>
                        <a:rPr lang="en-US" sz="1100" b="0" i="0" u="none" strike="noStrike" dirty="0" smtClean="0">
                          <a:solidFill>
                            <a:srgbClr val="000000"/>
                          </a:solidFill>
                          <a:effectLst/>
                          <a:latin typeface="Calibri" panose="020F0502020204030204" pitchFamily="34" charset="0"/>
                        </a:rPr>
                        <a:t>357.14</a:t>
                      </a:r>
                      <a:endParaRPr lang="en-GB" sz="1100" b="0" i="0" u="none" strike="noStrike" dirty="0">
                        <a:solidFill>
                          <a:srgbClr val="000000"/>
                        </a:solidFill>
                        <a:effectLst/>
                        <a:latin typeface="Calibri" panose="020F0502020204030204" pitchFamily="34" charset="0"/>
                      </a:endParaRPr>
                    </a:p>
                  </a:txBody>
                  <a:tcPr marL="9525" marR="9525" marT="9525" marB="0" anchor="b"/>
                </a:tc>
              </a:tr>
            </a:tbl>
          </a:graphicData>
        </a:graphic>
      </p:graphicFrame>
    </p:spTree>
    <p:extLst>
      <p:ext uri="{BB962C8B-B14F-4D97-AF65-F5344CB8AC3E}">
        <p14:creationId xmlns:p14="http://schemas.microsoft.com/office/powerpoint/2010/main" val="911551120"/>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D667BF7-4DEB-45F9-9400-F916F48D292B}"/>
              </a:ext>
            </a:extLst>
          </p:cNvPr>
          <p:cNvSpPr>
            <a:spLocks noGrp="1"/>
          </p:cNvSpPr>
          <p:nvPr>
            <p:ph type="title"/>
          </p:nvPr>
        </p:nvSpPr>
        <p:spPr>
          <a:xfrm>
            <a:off x="3021369" y="711857"/>
            <a:ext cx="4229246" cy="1068334"/>
          </a:xfrm>
        </p:spPr>
        <p:txBody>
          <a:bodyPr>
            <a:normAutofit/>
          </a:bodyPr>
          <a:lstStyle/>
          <a:p>
            <a:r>
              <a:rPr lang="en-GB" dirty="0"/>
              <a:t>Excavation</a:t>
            </a:r>
          </a:p>
        </p:txBody>
      </p:sp>
      <p:sp>
        <p:nvSpPr>
          <p:cNvPr id="3" name="Content Placeholder 2">
            <a:extLst>
              <a:ext uri="{FF2B5EF4-FFF2-40B4-BE49-F238E27FC236}">
                <a16:creationId xmlns:a16="http://schemas.microsoft.com/office/drawing/2014/main" xmlns="" id="{3FA49BCA-95BD-4DCF-9F2B-DF31B553D5C2}"/>
              </a:ext>
            </a:extLst>
          </p:cNvPr>
          <p:cNvSpPr>
            <a:spLocks noGrp="1"/>
          </p:cNvSpPr>
          <p:nvPr>
            <p:ph idx="1"/>
          </p:nvPr>
        </p:nvSpPr>
        <p:spPr>
          <a:xfrm>
            <a:off x="5030115" y="2150310"/>
            <a:ext cx="4310390" cy="2240658"/>
          </a:xfrm>
        </p:spPr>
        <p:txBody>
          <a:bodyPr anchor="t">
            <a:normAutofit/>
          </a:bodyPr>
          <a:lstStyle/>
          <a:p>
            <a:r>
              <a:rPr lang="en-US" sz="1800" smtClean="0">
                <a:solidFill>
                  <a:srgbClr val="FFFFFF"/>
                </a:solidFill>
              </a:rPr>
              <a:t>Total </a:t>
            </a:r>
            <a:r>
              <a:rPr lang="en-US" sz="1800" dirty="0" smtClean="0">
                <a:solidFill>
                  <a:srgbClr val="FFFFFF"/>
                </a:solidFill>
              </a:rPr>
              <a:t>Excavation = </a:t>
            </a:r>
            <a:r>
              <a:rPr lang="en-GB" dirty="0" smtClean="0"/>
              <a:t>14925 </a:t>
            </a:r>
            <a:r>
              <a:rPr lang="en-GB" dirty="0" err="1" smtClean="0"/>
              <a:t>cft</a:t>
            </a:r>
            <a:endParaRPr lang="en-GB" dirty="0">
              <a:solidFill>
                <a:srgbClr val="000000"/>
              </a:solidFill>
              <a:latin typeface="Arial" panose="020B0604020202020204" pitchFamily="34" charset="0"/>
            </a:endParaRPr>
          </a:p>
          <a:p>
            <a:endParaRPr lang="en-GB" sz="1800" dirty="0">
              <a:solidFill>
                <a:srgbClr val="FFFFFF"/>
              </a:solidFill>
            </a:endParaRPr>
          </a:p>
        </p:txBody>
      </p:sp>
    </p:spTree>
    <p:extLst>
      <p:ext uri="{BB962C8B-B14F-4D97-AF65-F5344CB8AC3E}">
        <p14:creationId xmlns:p14="http://schemas.microsoft.com/office/powerpoint/2010/main" val="57343041"/>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B197B7D-1B41-4E75-9277-35C5D976BB03}"/>
              </a:ext>
            </a:extLst>
          </p:cNvPr>
          <p:cNvSpPr>
            <a:spLocks noGrp="1"/>
          </p:cNvSpPr>
          <p:nvPr>
            <p:ph type="title"/>
          </p:nvPr>
        </p:nvSpPr>
        <p:spPr>
          <a:xfrm>
            <a:off x="5493618" y="1350110"/>
            <a:ext cx="3483937" cy="2166835"/>
          </a:xfrm>
        </p:spPr>
        <p:txBody>
          <a:bodyPr vert="horz" lIns="91440" tIns="45720" rIns="91440" bIns="45720" rtlCol="0" anchor="b">
            <a:normAutofit/>
          </a:bodyPr>
          <a:lstStyle/>
          <a:p>
            <a:pPr>
              <a:lnSpc>
                <a:spcPct val="90000"/>
              </a:lnSpc>
            </a:pPr>
            <a:r>
              <a:rPr lang="en-US" sz="3300" dirty="0" smtClean="0"/>
              <a:t>Raft Foundation</a:t>
            </a:r>
            <a:br>
              <a:rPr lang="en-US" sz="3300" dirty="0" smtClean="0"/>
            </a:br>
            <a:r>
              <a:rPr lang="en-US" sz="3300" dirty="0"/>
              <a:t/>
            </a:r>
            <a:br>
              <a:rPr lang="en-US" sz="3300" dirty="0"/>
            </a:br>
            <a:endParaRPr lang="en-US" sz="3300" dirty="0"/>
          </a:p>
        </p:txBody>
      </p:sp>
      <p:pic>
        <p:nvPicPr>
          <p:cNvPr id="5" name="Content Placeholder 4"/>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96260" y="1502815"/>
            <a:ext cx="5197358" cy="3510183"/>
          </a:xfrm>
        </p:spPr>
      </p:pic>
    </p:spTree>
    <p:extLst>
      <p:ext uri="{BB962C8B-B14F-4D97-AF65-F5344CB8AC3E}">
        <p14:creationId xmlns:p14="http://schemas.microsoft.com/office/powerpoint/2010/main" val="96404302"/>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D20274A-FB74-49AA-BDFB-75E799F1BB70}"/>
              </a:ext>
            </a:extLst>
          </p:cNvPr>
          <p:cNvSpPr>
            <a:spLocks noGrp="1"/>
          </p:cNvSpPr>
          <p:nvPr>
            <p:ph type="title"/>
          </p:nvPr>
        </p:nvSpPr>
        <p:spPr>
          <a:xfrm>
            <a:off x="5059971" y="1337969"/>
            <a:ext cx="3483937" cy="2166835"/>
          </a:xfrm>
        </p:spPr>
        <p:txBody>
          <a:bodyPr vert="horz" lIns="91440" tIns="45720" rIns="91440" bIns="45720" rtlCol="0" anchor="b">
            <a:normAutofit/>
          </a:bodyPr>
          <a:lstStyle/>
          <a:p>
            <a:pPr>
              <a:lnSpc>
                <a:spcPct val="90000"/>
              </a:lnSpc>
            </a:pPr>
            <a:r>
              <a:rPr lang="en-US" sz="3300" dirty="0" smtClean="0"/>
              <a:t>Interior Wall Foundation</a:t>
            </a:r>
            <a:br>
              <a:rPr lang="en-US" sz="3300" dirty="0" smtClean="0"/>
            </a:br>
            <a:endParaRPr lang="en-US" sz="3300"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6260" y="901520"/>
            <a:ext cx="4257749" cy="4241980"/>
          </a:xfrm>
          <a:prstGeom prst="rect">
            <a:avLst/>
          </a:prstGeom>
        </p:spPr>
      </p:pic>
    </p:spTree>
    <p:extLst>
      <p:ext uri="{BB962C8B-B14F-4D97-AF65-F5344CB8AC3E}">
        <p14:creationId xmlns:p14="http://schemas.microsoft.com/office/powerpoint/2010/main" val="805312305"/>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5525" y="2505631"/>
            <a:ext cx="2748691" cy="2699487"/>
          </a:xfrm>
        </p:spPr>
        <p:txBody>
          <a:bodyPr>
            <a:normAutofit/>
          </a:bodyPr>
          <a:lstStyle/>
          <a:p>
            <a:r>
              <a:rPr lang="en-US" sz="2400" dirty="0" smtClean="0"/>
              <a:t>Boundary Wall Foundation</a:t>
            </a:r>
            <a:endParaRPr lang="en-GB" sz="2400"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4288" y="1572447"/>
            <a:ext cx="4097711" cy="3289877"/>
          </a:xfrm>
          <a:prstGeom prst="rect">
            <a:avLst/>
          </a:prstGeom>
        </p:spPr>
      </p:pic>
    </p:spTree>
    <p:extLst>
      <p:ext uri="{BB962C8B-B14F-4D97-AF65-F5344CB8AC3E}">
        <p14:creationId xmlns:p14="http://schemas.microsoft.com/office/powerpoint/2010/main" val="814993009"/>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B632B47-D576-4D3E-AA8E-21EAA159FD4B}"/>
              </a:ext>
            </a:extLst>
          </p:cNvPr>
          <p:cNvSpPr>
            <a:spLocks noGrp="1"/>
          </p:cNvSpPr>
          <p:nvPr>
            <p:ph type="title"/>
          </p:nvPr>
        </p:nvSpPr>
        <p:spPr>
          <a:xfrm>
            <a:off x="296260" y="644936"/>
            <a:ext cx="7210396" cy="810704"/>
          </a:xfrm>
        </p:spPr>
        <p:txBody>
          <a:bodyPr>
            <a:normAutofit/>
          </a:bodyPr>
          <a:lstStyle/>
          <a:p>
            <a:r>
              <a:rPr lang="en-US" sz="3600" dirty="0" smtClean="0"/>
              <a:t>Masonry</a:t>
            </a:r>
            <a:endParaRPr lang="en-US" sz="3600" dirty="0"/>
          </a:p>
        </p:txBody>
      </p:sp>
      <p:pic>
        <p:nvPicPr>
          <p:cNvPr id="4" name="Content Placeholder 3">
            <a:extLst>
              <a:ext uri="{FF2B5EF4-FFF2-40B4-BE49-F238E27FC236}">
                <a16:creationId xmlns:a16="http://schemas.microsoft.com/office/drawing/2014/main" xmlns="" id="{4D914BD2-E5C5-4230-80EF-1E61BFAC118E}"/>
              </a:ext>
            </a:extLst>
          </p:cNvPr>
          <p:cNvPicPr>
            <a:picLocks noGrp="1" noChangeAspect="1"/>
          </p:cNvPicPr>
          <p:nvPr>
            <p:ph idx="1"/>
          </p:nvPr>
        </p:nvPicPr>
        <p:blipFill>
          <a:blip r:embed="rId2"/>
          <a:stretch>
            <a:fillRect/>
          </a:stretch>
        </p:blipFill>
        <p:spPr>
          <a:xfrm>
            <a:off x="3961180" y="1808225"/>
            <a:ext cx="4048125" cy="2698750"/>
          </a:xfrm>
          <a:prstGeom prst="rect">
            <a:avLst/>
          </a:prstGeom>
        </p:spPr>
      </p:pic>
      <p:sp>
        <p:nvSpPr>
          <p:cNvPr id="5" name="TextBox 4">
            <a:extLst>
              <a:ext uri="{FF2B5EF4-FFF2-40B4-BE49-F238E27FC236}">
                <a16:creationId xmlns:a16="http://schemas.microsoft.com/office/drawing/2014/main" xmlns="" id="{85DF10B9-61B8-4FE3-833A-DECC0903E485}"/>
              </a:ext>
            </a:extLst>
          </p:cNvPr>
          <p:cNvSpPr txBox="1"/>
          <p:nvPr/>
        </p:nvSpPr>
        <p:spPr>
          <a:xfrm>
            <a:off x="296260" y="1502815"/>
            <a:ext cx="2595985" cy="3170099"/>
          </a:xfrm>
          <a:prstGeom prst="rect">
            <a:avLst/>
          </a:prstGeom>
          <a:noFill/>
        </p:spPr>
        <p:txBody>
          <a:bodyPr wrap="square" rtlCol="0">
            <a:spAutoFit/>
          </a:bodyPr>
          <a:lstStyle/>
          <a:p>
            <a:r>
              <a:rPr lang="en-US" sz="2800" dirty="0" smtClean="0"/>
              <a:t>Masonry was present in:</a:t>
            </a:r>
          </a:p>
          <a:p>
            <a:pPr marL="342900" indent="-342900">
              <a:buFont typeface="Arial" panose="020B0604020202020204" pitchFamily="34" charset="0"/>
              <a:buChar char="•"/>
            </a:pPr>
            <a:r>
              <a:rPr lang="en-US" sz="2400" dirty="0" smtClean="0"/>
              <a:t>Interior wall foundation</a:t>
            </a:r>
          </a:p>
          <a:p>
            <a:pPr marL="342900" indent="-342900">
              <a:buFont typeface="Arial" panose="020B0604020202020204" pitchFamily="34" charset="0"/>
              <a:buChar char="•"/>
            </a:pPr>
            <a:r>
              <a:rPr lang="en-US" sz="2400" dirty="0" smtClean="0"/>
              <a:t>Boundary wall foundation</a:t>
            </a:r>
          </a:p>
          <a:p>
            <a:pPr marL="342900" indent="-342900">
              <a:buFont typeface="Arial" panose="020B0604020202020204" pitchFamily="34" charset="0"/>
              <a:buChar char="•"/>
            </a:pPr>
            <a:r>
              <a:rPr lang="en-US" sz="2400" dirty="0" smtClean="0"/>
              <a:t>Superstructure</a:t>
            </a:r>
          </a:p>
          <a:p>
            <a:pPr marL="342900" indent="-342900">
              <a:buFont typeface="Arial" panose="020B0604020202020204" pitchFamily="34" charset="0"/>
              <a:buChar char="•"/>
            </a:pPr>
            <a:r>
              <a:rPr lang="en-US" sz="2400" dirty="0" smtClean="0"/>
              <a:t>Roof </a:t>
            </a:r>
            <a:endParaRPr lang="en-US" sz="2400" dirty="0"/>
          </a:p>
        </p:txBody>
      </p:sp>
    </p:spTree>
    <p:extLst>
      <p:ext uri="{BB962C8B-B14F-4D97-AF65-F5344CB8AC3E}">
        <p14:creationId xmlns:p14="http://schemas.microsoft.com/office/powerpoint/2010/main" val="157462786"/>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1FDACF7-490E-42AF-9C4E-D69416B877AB}"/>
              </a:ext>
            </a:extLst>
          </p:cNvPr>
          <p:cNvSpPr>
            <a:spLocks noGrp="1"/>
          </p:cNvSpPr>
          <p:nvPr>
            <p:ph type="title"/>
          </p:nvPr>
        </p:nvSpPr>
        <p:spPr/>
        <p:txBody>
          <a:bodyPr>
            <a:normAutofit/>
          </a:bodyPr>
          <a:lstStyle/>
          <a:p>
            <a:r>
              <a:rPr lang="en-GB" dirty="0"/>
              <a:t>Summary of Brickwork</a:t>
            </a:r>
          </a:p>
        </p:txBody>
      </p:sp>
      <p:graphicFrame>
        <p:nvGraphicFramePr>
          <p:cNvPr id="5" name="Content Placeholder 4">
            <a:extLst>
              <a:ext uri="{FF2B5EF4-FFF2-40B4-BE49-F238E27FC236}">
                <a16:creationId xmlns:a16="http://schemas.microsoft.com/office/drawing/2014/main" xmlns="" id="{AEBFB3BA-3B4E-4A69-97B4-3019FBC1FBC9}"/>
              </a:ext>
            </a:extLst>
          </p:cNvPr>
          <p:cNvGraphicFramePr>
            <a:graphicFrameLocks noGrp="1"/>
          </p:cNvGraphicFramePr>
          <p:nvPr>
            <p:ph idx="1"/>
            <p:extLst>
              <p:ext uri="{D42A27DB-BD31-4B8C-83A1-F6EECF244321}">
                <p14:modId xmlns:p14="http://schemas.microsoft.com/office/powerpoint/2010/main" val="1209527476"/>
              </p:ext>
            </p:extLst>
          </p:nvPr>
        </p:nvGraphicFramePr>
        <p:xfrm>
          <a:off x="2281425" y="2113635"/>
          <a:ext cx="4548505" cy="2073085"/>
        </p:xfrm>
        <a:graphic>
          <a:graphicData uri="http://schemas.openxmlformats.org/drawingml/2006/table">
            <a:tbl>
              <a:tblPr firstRow="1" firstCol="1" bandRow="1">
                <a:tableStyleId>{5C22544A-7EE6-4342-B048-85BDC9FD1C3A}</a:tableStyleId>
              </a:tblPr>
              <a:tblGrid>
                <a:gridCol w="2334260">
                  <a:extLst>
                    <a:ext uri="{9D8B030D-6E8A-4147-A177-3AD203B41FA5}">
                      <a16:colId xmlns:a16="http://schemas.microsoft.com/office/drawing/2014/main" xmlns="" val="1330085046"/>
                    </a:ext>
                  </a:extLst>
                </a:gridCol>
                <a:gridCol w="2214245">
                  <a:extLst>
                    <a:ext uri="{9D8B030D-6E8A-4147-A177-3AD203B41FA5}">
                      <a16:colId xmlns:a16="http://schemas.microsoft.com/office/drawing/2014/main" xmlns="" val="181870327"/>
                    </a:ext>
                  </a:extLst>
                </a:gridCol>
              </a:tblGrid>
              <a:tr h="645160">
                <a:tc>
                  <a:txBody>
                    <a:bodyPr/>
                    <a:lstStyle/>
                    <a:p>
                      <a:pPr marL="0" marR="0">
                        <a:lnSpc>
                          <a:spcPct val="107000"/>
                        </a:lnSpc>
                        <a:spcBef>
                          <a:spcPts val="0"/>
                        </a:spcBef>
                        <a:spcAft>
                          <a:spcPts val="0"/>
                        </a:spcAft>
                      </a:pPr>
                      <a:r>
                        <a:rPr lang="en-US" sz="1600" dirty="0">
                          <a:effectLst/>
                        </a:rPr>
                        <a:t> </a:t>
                      </a:r>
                      <a:endParaRPr lang="en-US" sz="1100" dirty="0">
                        <a:effectLst/>
                      </a:endParaRPr>
                    </a:p>
                    <a:p>
                      <a:pPr marL="0" marR="0" algn="ctr">
                        <a:lnSpc>
                          <a:spcPct val="107000"/>
                        </a:lnSpc>
                        <a:spcBef>
                          <a:spcPts val="0"/>
                        </a:spcBef>
                        <a:spcAft>
                          <a:spcPts val="0"/>
                        </a:spcAft>
                      </a:pPr>
                      <a:r>
                        <a:rPr lang="en-US" sz="1600" dirty="0" err="1">
                          <a:effectLst/>
                        </a:rPr>
                        <a:t>BrickWork</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600">
                          <a:effectLst/>
                        </a:rPr>
                        <a:t> </a:t>
                      </a:r>
                      <a:endParaRPr lang="en-US" sz="1100">
                        <a:effectLst/>
                      </a:endParaRPr>
                    </a:p>
                    <a:p>
                      <a:pPr marL="0" marR="0" algn="ctr">
                        <a:lnSpc>
                          <a:spcPct val="107000"/>
                        </a:lnSpc>
                        <a:spcBef>
                          <a:spcPts val="0"/>
                        </a:spcBef>
                        <a:spcAft>
                          <a:spcPts val="0"/>
                        </a:spcAft>
                      </a:pPr>
                      <a:r>
                        <a:rPr lang="en-US" sz="1600">
                          <a:effectLst/>
                        </a:rPr>
                        <a:t>Volume (cft)</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xmlns="" val="124283564"/>
                  </a:ext>
                </a:extLst>
              </a:tr>
              <a:tr h="645160">
                <a:tc>
                  <a:txBody>
                    <a:bodyPr/>
                    <a:lstStyle/>
                    <a:p>
                      <a:pPr marL="0" marR="0" algn="ctr">
                        <a:lnSpc>
                          <a:spcPct val="107000"/>
                        </a:lnSpc>
                        <a:spcBef>
                          <a:spcPts val="0"/>
                        </a:spcBef>
                        <a:spcAft>
                          <a:spcPts val="0"/>
                        </a:spcAft>
                      </a:pPr>
                      <a:r>
                        <a:rPr lang="en-US" sz="1600">
                          <a:effectLst/>
                        </a:rPr>
                        <a:t> </a:t>
                      </a:r>
                      <a:endParaRPr lang="en-US" sz="1100">
                        <a:effectLst/>
                      </a:endParaRPr>
                    </a:p>
                    <a:p>
                      <a:pPr marL="0" marR="0" algn="ctr">
                        <a:lnSpc>
                          <a:spcPct val="107000"/>
                        </a:lnSpc>
                        <a:spcBef>
                          <a:spcPts val="0"/>
                        </a:spcBef>
                        <a:spcAft>
                          <a:spcPts val="0"/>
                        </a:spcAft>
                      </a:pPr>
                      <a:r>
                        <a:rPr lang="en-US" sz="1600">
                          <a:effectLst/>
                        </a:rPr>
                        <a:t>Foundation</a:t>
                      </a:r>
                      <a:endParaRPr lang="en-US" sz="1100">
                        <a:effectLst/>
                      </a:endParaRPr>
                    </a:p>
                    <a:p>
                      <a:pPr marL="0" marR="0" algn="ctr">
                        <a:lnSpc>
                          <a:spcPct val="107000"/>
                        </a:lnSpc>
                        <a:spcBef>
                          <a:spcPts val="0"/>
                        </a:spcBef>
                        <a:spcAft>
                          <a:spcPts val="0"/>
                        </a:spcAft>
                      </a:pPr>
                      <a:r>
                        <a:rPr lang="en-US" sz="1600">
                          <a:effectLst/>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US" sz="1600" dirty="0">
                          <a:effectLst/>
                        </a:rPr>
                        <a:t> </a:t>
                      </a:r>
                    </a:p>
                    <a:p>
                      <a:pPr marL="0" marR="0" algn="ctr">
                        <a:lnSpc>
                          <a:spcPct val="107000"/>
                        </a:lnSpc>
                        <a:spcBef>
                          <a:spcPts val="0"/>
                        </a:spcBef>
                        <a:spcAft>
                          <a:spcPts val="0"/>
                        </a:spcAft>
                      </a:pPr>
                      <a:r>
                        <a:rPr lang="en-US" sz="1600" dirty="0" smtClean="0">
                          <a:effectLst/>
                          <a:latin typeface="+mn-lt"/>
                          <a:ea typeface="+mn-ea"/>
                          <a:cs typeface="+mn-cs"/>
                        </a:rPr>
                        <a:t>1790</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xmlns="" val="1760366624"/>
                  </a:ext>
                </a:extLst>
              </a:tr>
              <a:tr h="645160">
                <a:tc>
                  <a:txBody>
                    <a:bodyPr/>
                    <a:lstStyle/>
                    <a:p>
                      <a:pPr marL="0" marR="0" algn="ctr">
                        <a:lnSpc>
                          <a:spcPct val="107000"/>
                        </a:lnSpc>
                        <a:spcBef>
                          <a:spcPts val="0"/>
                        </a:spcBef>
                        <a:spcAft>
                          <a:spcPts val="0"/>
                        </a:spcAft>
                      </a:pPr>
                      <a:r>
                        <a:rPr lang="en-US" sz="1600">
                          <a:effectLst/>
                        </a:rPr>
                        <a:t> </a:t>
                      </a:r>
                      <a:endParaRPr lang="en-US" sz="1100">
                        <a:effectLst/>
                      </a:endParaRPr>
                    </a:p>
                    <a:p>
                      <a:pPr marL="0" marR="0" algn="ctr">
                        <a:lnSpc>
                          <a:spcPct val="107000"/>
                        </a:lnSpc>
                        <a:spcBef>
                          <a:spcPts val="0"/>
                        </a:spcBef>
                        <a:spcAft>
                          <a:spcPts val="0"/>
                        </a:spcAft>
                      </a:pPr>
                      <a:r>
                        <a:rPr lang="en-US" sz="1600">
                          <a:effectLst/>
                        </a:rPr>
                        <a:t>Super Structure</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US" sz="1600" dirty="0">
                          <a:effectLst/>
                        </a:rPr>
                        <a:t> </a:t>
                      </a:r>
                    </a:p>
                    <a:p>
                      <a:pPr marL="0" marR="0" algn="ctr">
                        <a:lnSpc>
                          <a:spcPct val="107000"/>
                        </a:lnSpc>
                        <a:spcBef>
                          <a:spcPts val="0"/>
                        </a:spcBef>
                        <a:spcAft>
                          <a:spcPts val="0"/>
                        </a:spcAft>
                      </a:pPr>
                      <a:r>
                        <a:rPr lang="en-US" sz="1600" dirty="0" smtClean="0">
                          <a:effectLst/>
                        </a:rPr>
                        <a:t>2196</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xmlns="" val="1977315058"/>
                  </a:ext>
                </a:extLst>
              </a:tr>
            </a:tbl>
          </a:graphicData>
        </a:graphic>
      </p:graphicFrame>
    </p:spTree>
    <p:extLst>
      <p:ext uri="{BB962C8B-B14F-4D97-AF65-F5344CB8AC3E}">
        <p14:creationId xmlns:p14="http://schemas.microsoft.com/office/powerpoint/2010/main" val="1617139457"/>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70768D8-89E7-4123-B6CE-726AC27B3612}"/>
              </a:ext>
            </a:extLst>
          </p:cNvPr>
          <p:cNvSpPr>
            <a:spLocks noGrp="1"/>
          </p:cNvSpPr>
          <p:nvPr>
            <p:ph type="title"/>
          </p:nvPr>
        </p:nvSpPr>
        <p:spPr/>
        <p:txBody>
          <a:bodyPr>
            <a:normAutofit/>
          </a:bodyPr>
          <a:lstStyle/>
          <a:p>
            <a:r>
              <a:rPr lang="en-US" dirty="0"/>
              <a:t>Plaster</a:t>
            </a:r>
            <a:endParaRPr lang="en-GB" dirty="0"/>
          </a:p>
        </p:txBody>
      </p:sp>
      <p:sp>
        <p:nvSpPr>
          <p:cNvPr id="3" name="Content Placeholder 2">
            <a:extLst>
              <a:ext uri="{FF2B5EF4-FFF2-40B4-BE49-F238E27FC236}">
                <a16:creationId xmlns:a16="http://schemas.microsoft.com/office/drawing/2014/main" xmlns="" id="{855E9B39-36D9-4D49-96EC-93B40863CA18}"/>
              </a:ext>
            </a:extLst>
          </p:cNvPr>
          <p:cNvSpPr>
            <a:spLocks noGrp="1"/>
          </p:cNvSpPr>
          <p:nvPr>
            <p:ph idx="1"/>
          </p:nvPr>
        </p:nvSpPr>
        <p:spPr/>
        <p:txBody>
          <a:bodyPr/>
          <a:lstStyle/>
          <a:p>
            <a:r>
              <a:rPr lang="en-US" dirty="0"/>
              <a:t>P</a:t>
            </a:r>
            <a:r>
              <a:rPr lang="en-US" dirty="0" smtClean="0"/>
              <a:t>laster (1:2) </a:t>
            </a:r>
            <a:endParaRPr lang="en-US" dirty="0"/>
          </a:p>
          <a:p>
            <a:r>
              <a:rPr lang="en-US" dirty="0" smtClean="0"/>
              <a:t>½” thick</a:t>
            </a:r>
          </a:p>
          <a:p>
            <a:r>
              <a:rPr lang="en-US" dirty="0" smtClean="0"/>
              <a:t>MRS: </a:t>
            </a:r>
            <a:r>
              <a:rPr lang="en-US" dirty="0"/>
              <a:t>100 </a:t>
            </a:r>
            <a:r>
              <a:rPr lang="en-US" dirty="0" err="1" smtClean="0"/>
              <a:t>sft</a:t>
            </a:r>
            <a:endParaRPr lang="en-US" dirty="0" smtClean="0"/>
          </a:p>
          <a:p>
            <a:r>
              <a:rPr lang="en-US" dirty="0" smtClean="0"/>
              <a:t>Deductions</a:t>
            </a:r>
            <a:endParaRPr lang="en-GB" dirty="0"/>
          </a:p>
          <a:p>
            <a:pPr marL="0" indent="0">
              <a:buNone/>
            </a:pPr>
            <a:endParaRPr lang="en-GB" dirty="0"/>
          </a:p>
          <a:p>
            <a:endParaRPr lang="en-US" dirty="0"/>
          </a:p>
          <a:p>
            <a:endParaRPr lang="en-GB" dirty="0"/>
          </a:p>
        </p:txBody>
      </p:sp>
      <p:pic>
        <p:nvPicPr>
          <p:cNvPr id="5" name="Picture 4"/>
          <p:cNvPicPr>
            <a:picLocks noChangeAspect="1"/>
          </p:cNvPicPr>
          <p:nvPr/>
        </p:nvPicPr>
        <p:blipFill>
          <a:blip r:embed="rId2"/>
          <a:stretch>
            <a:fillRect/>
          </a:stretch>
        </p:blipFill>
        <p:spPr>
          <a:xfrm>
            <a:off x="3961180" y="1800200"/>
            <a:ext cx="4673767" cy="2804260"/>
          </a:xfrm>
          <a:prstGeom prst="rect">
            <a:avLst/>
          </a:prstGeom>
        </p:spPr>
      </p:pic>
    </p:spTree>
    <p:extLst>
      <p:ext uri="{BB962C8B-B14F-4D97-AF65-F5344CB8AC3E}">
        <p14:creationId xmlns:p14="http://schemas.microsoft.com/office/powerpoint/2010/main" val="3642951133"/>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63D1E18-B44E-4E3D-AD63-A81CC90AA637}"/>
              </a:ext>
            </a:extLst>
          </p:cNvPr>
          <p:cNvSpPr>
            <a:spLocks noGrp="1"/>
          </p:cNvSpPr>
          <p:nvPr>
            <p:ph type="title"/>
          </p:nvPr>
        </p:nvSpPr>
        <p:spPr>
          <a:xfrm>
            <a:off x="296260" y="739290"/>
            <a:ext cx="8246070" cy="610820"/>
          </a:xfrm>
        </p:spPr>
        <p:txBody>
          <a:bodyPr>
            <a:normAutofit/>
          </a:bodyPr>
          <a:lstStyle/>
          <a:p>
            <a:r>
              <a:rPr lang="en-US" dirty="0" smtClean="0"/>
              <a:t>Plastering - Summary Sheet</a:t>
            </a:r>
            <a:endParaRPr lang="en-US" dirty="0"/>
          </a:p>
        </p:txBody>
      </p:sp>
      <p:graphicFrame>
        <p:nvGraphicFramePr>
          <p:cNvPr id="4" name="Content Placeholder 3">
            <a:extLst>
              <a:ext uri="{FF2B5EF4-FFF2-40B4-BE49-F238E27FC236}">
                <a16:creationId xmlns:a16="http://schemas.microsoft.com/office/drawing/2014/main" xmlns="" id="{A1386F88-ADDA-430D-87FD-D0B8624C465F}"/>
              </a:ext>
            </a:extLst>
          </p:cNvPr>
          <p:cNvGraphicFramePr>
            <a:graphicFrameLocks noGrp="1"/>
          </p:cNvGraphicFramePr>
          <p:nvPr>
            <p:ph idx="1"/>
            <p:extLst>
              <p:ext uri="{D42A27DB-BD31-4B8C-83A1-F6EECF244321}">
                <p14:modId xmlns:p14="http://schemas.microsoft.com/office/powerpoint/2010/main" val="577827402"/>
              </p:ext>
            </p:extLst>
          </p:nvPr>
        </p:nvGraphicFramePr>
        <p:xfrm>
          <a:off x="509588" y="1752600"/>
          <a:ext cx="7727332" cy="2804314"/>
        </p:xfrm>
        <a:graphic>
          <a:graphicData uri="http://schemas.openxmlformats.org/drawingml/2006/table">
            <a:tbl>
              <a:tblPr firstRow="1" bandRow="1">
                <a:tableStyleId>{5C22544A-7EE6-4342-B048-85BDC9FD1C3A}</a:tableStyleId>
              </a:tblPr>
              <a:tblGrid>
                <a:gridCol w="3863666">
                  <a:extLst>
                    <a:ext uri="{9D8B030D-6E8A-4147-A177-3AD203B41FA5}">
                      <a16:colId xmlns:a16="http://schemas.microsoft.com/office/drawing/2014/main" xmlns="" val="2766515701"/>
                    </a:ext>
                  </a:extLst>
                </a:gridCol>
                <a:gridCol w="3863666">
                  <a:extLst>
                    <a:ext uri="{9D8B030D-6E8A-4147-A177-3AD203B41FA5}">
                      <a16:colId xmlns:a16="http://schemas.microsoft.com/office/drawing/2014/main" xmlns="" val="1948917285"/>
                    </a:ext>
                  </a:extLst>
                </a:gridCol>
              </a:tblGrid>
              <a:tr h="761802">
                <a:tc gridSpan="2">
                  <a:txBody>
                    <a:bodyPr/>
                    <a:lstStyle/>
                    <a:p>
                      <a:pPr algn="ctr"/>
                      <a:r>
                        <a:rPr lang="en-US" sz="4000" dirty="0"/>
                        <a:t>Plastering</a:t>
                      </a:r>
                    </a:p>
                  </a:txBody>
                  <a:tcPr marL="79962" marR="79962"/>
                </a:tc>
                <a:tc hMerge="1">
                  <a:txBody>
                    <a:bodyPr/>
                    <a:lstStyle/>
                    <a:p>
                      <a:endParaRPr lang="en-US" dirty="0"/>
                    </a:p>
                  </a:txBody>
                  <a:tcPr/>
                </a:tc>
                <a:extLst>
                  <a:ext uri="{0D108BD9-81ED-4DB2-BD59-A6C34878D82A}">
                    <a16:rowId xmlns:a16="http://schemas.microsoft.com/office/drawing/2014/main" xmlns="" val="126257041"/>
                  </a:ext>
                </a:extLst>
              </a:tr>
              <a:tr h="402982">
                <a:tc>
                  <a:txBody>
                    <a:bodyPr/>
                    <a:lstStyle/>
                    <a:p>
                      <a:endParaRPr lang="en-US"/>
                    </a:p>
                  </a:txBody>
                  <a:tcPr marL="79962" marR="79962"/>
                </a:tc>
                <a:tc>
                  <a:txBody>
                    <a:bodyPr/>
                    <a:lstStyle/>
                    <a:p>
                      <a:r>
                        <a:rPr lang="en-US" dirty="0"/>
                        <a:t>Area (</a:t>
                      </a:r>
                      <a:r>
                        <a:rPr lang="en-US" dirty="0" err="1"/>
                        <a:t>sft</a:t>
                      </a:r>
                      <a:r>
                        <a:rPr lang="en-US" dirty="0"/>
                        <a:t>)</a:t>
                      </a:r>
                    </a:p>
                  </a:txBody>
                  <a:tcPr marL="79962" marR="79962"/>
                </a:tc>
                <a:extLst>
                  <a:ext uri="{0D108BD9-81ED-4DB2-BD59-A6C34878D82A}">
                    <a16:rowId xmlns:a16="http://schemas.microsoft.com/office/drawing/2014/main" xmlns="" val="3726800865"/>
                  </a:ext>
                </a:extLst>
              </a:tr>
              <a:tr h="402982">
                <a:tc>
                  <a:txBody>
                    <a:bodyPr/>
                    <a:lstStyle/>
                    <a:p>
                      <a:r>
                        <a:rPr lang="en-US" dirty="0"/>
                        <a:t>Inner</a:t>
                      </a:r>
                    </a:p>
                  </a:txBody>
                  <a:tcPr marL="79962" marR="79962"/>
                </a:tc>
                <a:tc>
                  <a:txBody>
                    <a:bodyPr/>
                    <a:lstStyle/>
                    <a:p>
                      <a:r>
                        <a:rPr lang="en-US" dirty="0" smtClean="0"/>
                        <a:t>6248.655</a:t>
                      </a:r>
                      <a:endParaRPr lang="en-US" dirty="0"/>
                    </a:p>
                  </a:txBody>
                  <a:tcPr marL="79962" marR="79962"/>
                </a:tc>
                <a:extLst>
                  <a:ext uri="{0D108BD9-81ED-4DB2-BD59-A6C34878D82A}">
                    <a16:rowId xmlns:a16="http://schemas.microsoft.com/office/drawing/2014/main" xmlns="" val="2396831246"/>
                  </a:ext>
                </a:extLst>
              </a:tr>
              <a:tr h="402982">
                <a:tc>
                  <a:txBody>
                    <a:bodyPr/>
                    <a:lstStyle/>
                    <a:p>
                      <a:r>
                        <a:rPr lang="en-US" dirty="0"/>
                        <a:t>Outer</a:t>
                      </a:r>
                    </a:p>
                  </a:txBody>
                  <a:tcPr marL="79962" marR="79962"/>
                </a:tc>
                <a:tc>
                  <a:txBody>
                    <a:bodyPr/>
                    <a:lstStyle/>
                    <a:p>
                      <a:r>
                        <a:rPr lang="en-US" dirty="0" smtClean="0"/>
                        <a:t>3467.7</a:t>
                      </a:r>
                      <a:endParaRPr lang="en-US" dirty="0"/>
                    </a:p>
                  </a:txBody>
                  <a:tcPr marL="79962" marR="79962"/>
                </a:tc>
                <a:extLst>
                  <a:ext uri="{0D108BD9-81ED-4DB2-BD59-A6C34878D82A}">
                    <a16:rowId xmlns:a16="http://schemas.microsoft.com/office/drawing/2014/main" xmlns="" val="42992535"/>
                  </a:ext>
                </a:extLst>
              </a:tr>
              <a:tr h="402982">
                <a:tc>
                  <a:txBody>
                    <a:bodyPr/>
                    <a:lstStyle/>
                    <a:p>
                      <a:r>
                        <a:rPr lang="en-US" dirty="0" smtClean="0"/>
                        <a:t>Deductions</a:t>
                      </a:r>
                      <a:endParaRPr lang="en-US" dirty="0"/>
                    </a:p>
                  </a:txBody>
                  <a:tcPr marL="79962" marR="79962"/>
                </a:tc>
                <a:tc>
                  <a:txBody>
                    <a:bodyPr/>
                    <a:lstStyle/>
                    <a:p>
                      <a:r>
                        <a:rPr lang="en-US" dirty="0" smtClean="0"/>
                        <a:t>219.625</a:t>
                      </a:r>
                      <a:endParaRPr lang="en-US" dirty="0"/>
                    </a:p>
                  </a:txBody>
                  <a:tcPr marL="79962" marR="79962"/>
                </a:tc>
                <a:extLst>
                  <a:ext uri="{0D108BD9-81ED-4DB2-BD59-A6C34878D82A}">
                    <a16:rowId xmlns:a16="http://schemas.microsoft.com/office/drawing/2014/main" xmlns="" val="2552441824"/>
                  </a:ext>
                </a:extLst>
              </a:tr>
              <a:tr h="430584">
                <a:tc>
                  <a:txBody>
                    <a:bodyPr/>
                    <a:lstStyle/>
                    <a:p>
                      <a:r>
                        <a:rPr lang="en-US" sz="2000" b="1" dirty="0"/>
                        <a:t>Total</a:t>
                      </a:r>
                    </a:p>
                  </a:txBody>
                  <a:tcPr marL="79962" marR="79962"/>
                </a:tc>
                <a:tc>
                  <a:txBody>
                    <a:bodyPr/>
                    <a:lstStyle/>
                    <a:p>
                      <a:r>
                        <a:rPr lang="en-US" sz="2000" b="1" dirty="0" smtClean="0"/>
                        <a:t>9496.97</a:t>
                      </a:r>
                      <a:endParaRPr lang="en-US" sz="2000" b="1" dirty="0"/>
                    </a:p>
                  </a:txBody>
                  <a:tcPr marL="79962" marR="79962"/>
                </a:tc>
                <a:extLst>
                  <a:ext uri="{0D108BD9-81ED-4DB2-BD59-A6C34878D82A}">
                    <a16:rowId xmlns:a16="http://schemas.microsoft.com/office/drawing/2014/main" xmlns="" val="1930803260"/>
                  </a:ext>
                </a:extLst>
              </a:tr>
            </a:tbl>
          </a:graphicData>
        </a:graphic>
      </p:graphicFrame>
    </p:spTree>
    <p:extLst>
      <p:ext uri="{BB962C8B-B14F-4D97-AF65-F5344CB8AC3E}">
        <p14:creationId xmlns:p14="http://schemas.microsoft.com/office/powerpoint/2010/main" val="2774215342"/>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4F8D8E0-D4E7-473F-973F-3B7876C986CA}"/>
              </a:ext>
            </a:extLst>
          </p:cNvPr>
          <p:cNvSpPr>
            <a:spLocks noGrp="1"/>
          </p:cNvSpPr>
          <p:nvPr>
            <p:ph type="title"/>
          </p:nvPr>
        </p:nvSpPr>
        <p:spPr>
          <a:xfrm>
            <a:off x="601670" y="433880"/>
            <a:ext cx="8246070" cy="1197405"/>
          </a:xfrm>
        </p:spPr>
        <p:txBody>
          <a:bodyPr>
            <a:normAutofit/>
          </a:bodyPr>
          <a:lstStyle/>
          <a:p>
            <a:r>
              <a:rPr lang="en-GB" dirty="0"/>
              <a:t>Skirting</a:t>
            </a:r>
          </a:p>
        </p:txBody>
      </p:sp>
      <p:graphicFrame>
        <p:nvGraphicFramePr>
          <p:cNvPr id="16" name="Content Placeholder 15">
            <a:extLst>
              <a:ext uri="{FF2B5EF4-FFF2-40B4-BE49-F238E27FC236}">
                <a16:creationId xmlns:a16="http://schemas.microsoft.com/office/drawing/2014/main" xmlns="" id="{38226BFA-F383-4D76-A33A-6F3C6057F6F3}"/>
              </a:ext>
            </a:extLst>
          </p:cNvPr>
          <p:cNvGraphicFramePr>
            <a:graphicFrameLocks noGrp="1"/>
          </p:cNvGraphicFramePr>
          <p:nvPr>
            <p:ph idx="1"/>
            <p:extLst>
              <p:ext uri="{D42A27DB-BD31-4B8C-83A1-F6EECF244321}">
                <p14:modId xmlns:p14="http://schemas.microsoft.com/office/powerpoint/2010/main" val="2279243469"/>
              </p:ext>
            </p:extLst>
          </p:nvPr>
        </p:nvGraphicFramePr>
        <p:xfrm>
          <a:off x="2281425" y="1808226"/>
          <a:ext cx="3817624" cy="2595984"/>
        </p:xfrm>
        <a:graphic>
          <a:graphicData uri="http://schemas.openxmlformats.org/drawingml/2006/table">
            <a:tbl>
              <a:tblPr firstRow="1" bandRow="1">
                <a:tableStyleId>{5C22544A-7EE6-4342-B048-85BDC9FD1C3A}</a:tableStyleId>
              </a:tblPr>
              <a:tblGrid>
                <a:gridCol w="1908812">
                  <a:extLst>
                    <a:ext uri="{9D8B030D-6E8A-4147-A177-3AD203B41FA5}">
                      <a16:colId xmlns:a16="http://schemas.microsoft.com/office/drawing/2014/main" xmlns="" val="2580348127"/>
                    </a:ext>
                  </a:extLst>
                </a:gridCol>
                <a:gridCol w="1908812">
                  <a:extLst>
                    <a:ext uri="{9D8B030D-6E8A-4147-A177-3AD203B41FA5}">
                      <a16:colId xmlns:a16="http://schemas.microsoft.com/office/drawing/2014/main" xmlns="" val="946231792"/>
                    </a:ext>
                  </a:extLst>
                </a:gridCol>
              </a:tblGrid>
              <a:tr h="865328">
                <a:tc>
                  <a:txBody>
                    <a:bodyPr/>
                    <a:lstStyle/>
                    <a:p>
                      <a:endParaRPr lang="en-US" dirty="0" smtClean="0"/>
                    </a:p>
                    <a:p>
                      <a:r>
                        <a:rPr lang="en-US" dirty="0" smtClean="0"/>
                        <a:t>Height</a:t>
                      </a:r>
                      <a:endParaRPr lang="en-US" dirty="0"/>
                    </a:p>
                  </a:txBody>
                  <a:tcPr/>
                </a:tc>
                <a:tc>
                  <a:txBody>
                    <a:bodyPr/>
                    <a:lstStyle/>
                    <a:p>
                      <a:endParaRPr lang="en-US" dirty="0" smtClean="0"/>
                    </a:p>
                    <a:p>
                      <a:pPr algn="ctr"/>
                      <a:r>
                        <a:rPr lang="en-US" dirty="0" smtClean="0"/>
                        <a:t>3”</a:t>
                      </a:r>
                      <a:endParaRPr lang="en-US" dirty="0"/>
                    </a:p>
                  </a:txBody>
                  <a:tcPr/>
                </a:tc>
                <a:extLst>
                  <a:ext uri="{0D108BD9-81ED-4DB2-BD59-A6C34878D82A}">
                    <a16:rowId xmlns:a16="http://schemas.microsoft.com/office/drawing/2014/main" xmlns="" val="2665588882"/>
                  </a:ext>
                </a:extLst>
              </a:tr>
              <a:tr h="865328">
                <a:tc>
                  <a:txBody>
                    <a:bodyPr/>
                    <a:lstStyle/>
                    <a:p>
                      <a:endParaRPr lang="en-US" dirty="0" smtClean="0"/>
                    </a:p>
                    <a:p>
                      <a:r>
                        <a:rPr lang="en-US" dirty="0" smtClean="0"/>
                        <a:t>Length</a:t>
                      </a:r>
                      <a:r>
                        <a:rPr lang="en-US" baseline="0" dirty="0" smtClean="0"/>
                        <a:t> (Running </a:t>
                      </a:r>
                      <a:r>
                        <a:rPr lang="en-US" baseline="0" dirty="0" err="1" smtClean="0"/>
                        <a:t>ft</a:t>
                      </a:r>
                      <a:r>
                        <a:rPr lang="en-US" baseline="0" dirty="0" smtClean="0"/>
                        <a:t>)</a:t>
                      </a:r>
                      <a:endParaRPr lang="en-US" dirty="0"/>
                    </a:p>
                  </a:txBody>
                  <a:tcPr/>
                </a:tc>
                <a:tc>
                  <a:txBody>
                    <a:bodyPr/>
                    <a:lstStyle/>
                    <a:p>
                      <a:endParaRPr lang="en-US" dirty="0" smtClean="0"/>
                    </a:p>
                    <a:p>
                      <a:pPr algn="ctr"/>
                      <a:r>
                        <a:rPr lang="en-US" dirty="0" smtClean="0"/>
                        <a:t>360.92</a:t>
                      </a:r>
                      <a:endParaRPr lang="en-US" dirty="0"/>
                    </a:p>
                  </a:txBody>
                  <a:tcPr/>
                </a:tc>
                <a:extLst>
                  <a:ext uri="{0D108BD9-81ED-4DB2-BD59-A6C34878D82A}">
                    <a16:rowId xmlns:a16="http://schemas.microsoft.com/office/drawing/2014/main" xmlns="" val="484642445"/>
                  </a:ext>
                </a:extLst>
              </a:tr>
              <a:tr h="865328">
                <a:tc>
                  <a:txBody>
                    <a:bodyPr/>
                    <a:lstStyle/>
                    <a:p>
                      <a:endParaRPr lang="en-US" dirty="0" smtClean="0"/>
                    </a:p>
                    <a:p>
                      <a:r>
                        <a:rPr lang="en-US" dirty="0" smtClean="0"/>
                        <a:t>Area</a:t>
                      </a:r>
                      <a:r>
                        <a:rPr lang="en-US" baseline="0" dirty="0" smtClean="0"/>
                        <a:t> (</a:t>
                      </a:r>
                      <a:r>
                        <a:rPr lang="en-US" baseline="0" dirty="0" err="1" smtClean="0"/>
                        <a:t>sft</a:t>
                      </a:r>
                      <a:r>
                        <a:rPr lang="en-US" baseline="0" dirty="0" smtClean="0"/>
                        <a:t>)</a:t>
                      </a:r>
                      <a:endParaRPr lang="en-US" dirty="0"/>
                    </a:p>
                  </a:txBody>
                  <a:tcPr/>
                </a:tc>
                <a:tc>
                  <a:txBody>
                    <a:bodyPr/>
                    <a:lstStyle/>
                    <a:p>
                      <a:endParaRPr lang="en-US" dirty="0" smtClean="0"/>
                    </a:p>
                    <a:p>
                      <a:pPr algn="ctr"/>
                      <a:r>
                        <a:rPr lang="en-US" dirty="0" smtClean="0"/>
                        <a:t>90.23</a:t>
                      </a:r>
                      <a:endParaRPr lang="en-US" dirty="0"/>
                    </a:p>
                  </a:txBody>
                  <a:tcPr/>
                </a:tc>
                <a:extLst>
                  <a:ext uri="{0D108BD9-81ED-4DB2-BD59-A6C34878D82A}">
                    <a16:rowId xmlns:a16="http://schemas.microsoft.com/office/drawing/2014/main" xmlns="" val="2482792459"/>
                  </a:ext>
                </a:extLst>
              </a:tr>
            </a:tbl>
          </a:graphicData>
        </a:graphic>
      </p:graphicFrame>
    </p:spTree>
    <p:extLst>
      <p:ext uri="{BB962C8B-B14F-4D97-AF65-F5344CB8AC3E}">
        <p14:creationId xmlns:p14="http://schemas.microsoft.com/office/powerpoint/2010/main" val="667302572"/>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76BFFC2-5936-4B4E-AF33-46E6EF279D16}"/>
              </a:ext>
            </a:extLst>
          </p:cNvPr>
          <p:cNvSpPr>
            <a:spLocks noGrp="1"/>
          </p:cNvSpPr>
          <p:nvPr>
            <p:ph type="title"/>
          </p:nvPr>
        </p:nvSpPr>
        <p:spPr>
          <a:xfrm>
            <a:off x="510241" y="730047"/>
            <a:ext cx="7210396" cy="810704"/>
          </a:xfrm>
        </p:spPr>
        <p:txBody>
          <a:bodyPr>
            <a:normAutofit/>
          </a:bodyPr>
          <a:lstStyle/>
          <a:p>
            <a:r>
              <a:rPr lang="en-US" dirty="0"/>
              <a:t>Flooring</a:t>
            </a:r>
            <a:endParaRPr lang="en-GB" dirty="0"/>
          </a:p>
        </p:txBody>
      </p:sp>
      <p:sp>
        <p:nvSpPr>
          <p:cNvPr id="3" name="Content Placeholder 2">
            <a:extLst>
              <a:ext uri="{FF2B5EF4-FFF2-40B4-BE49-F238E27FC236}">
                <a16:creationId xmlns:a16="http://schemas.microsoft.com/office/drawing/2014/main" xmlns="" id="{6886B347-EDCC-421C-AF51-CF7735CF823A}"/>
              </a:ext>
            </a:extLst>
          </p:cNvPr>
          <p:cNvSpPr>
            <a:spLocks noGrp="1"/>
          </p:cNvSpPr>
          <p:nvPr>
            <p:ph idx="1"/>
          </p:nvPr>
        </p:nvSpPr>
        <p:spPr/>
        <p:txBody>
          <a:bodyPr>
            <a:normAutofit/>
          </a:bodyPr>
          <a:lstStyle/>
          <a:p>
            <a:r>
              <a:rPr lang="en-US" dirty="0" smtClean="0"/>
              <a:t>½” thick tiles (1’x1’)</a:t>
            </a:r>
            <a:endParaRPr lang="en-US" dirty="0"/>
          </a:p>
          <a:p>
            <a:r>
              <a:rPr lang="en-US" dirty="0" smtClean="0"/>
              <a:t>½” thick plaster</a:t>
            </a:r>
            <a:endParaRPr lang="en-US" dirty="0"/>
          </a:p>
          <a:p>
            <a:r>
              <a:rPr lang="en-US" dirty="0" smtClean="0"/>
              <a:t>3” thick P.C.C. (1:4:8)</a:t>
            </a:r>
          </a:p>
          <a:p>
            <a:r>
              <a:rPr lang="en-US" dirty="0" smtClean="0"/>
              <a:t>3” Brick Ballast (</a:t>
            </a:r>
            <a:r>
              <a:rPr lang="en-US" dirty="0" err="1" smtClean="0"/>
              <a:t>Rori</a:t>
            </a:r>
            <a:r>
              <a:rPr lang="en-US" dirty="0" smtClean="0"/>
              <a:t>)</a:t>
            </a:r>
          </a:p>
          <a:p>
            <a:r>
              <a:rPr lang="en-US" dirty="0" smtClean="0"/>
              <a:t>Compacted Earth</a:t>
            </a:r>
            <a:endParaRPr lang="en-GB" dirty="0"/>
          </a:p>
          <a:p>
            <a:endParaRPr lang="en-US" dirty="0"/>
          </a:p>
        </p:txBody>
      </p:sp>
      <p:pic>
        <p:nvPicPr>
          <p:cNvPr id="4" name="Picture 3"/>
          <p:cNvPicPr>
            <a:picLocks noChangeAspect="1"/>
          </p:cNvPicPr>
          <p:nvPr/>
        </p:nvPicPr>
        <p:blipFill rotWithShape="1">
          <a:blip r:embed="rId2">
            <a:extLst>
              <a:ext uri="{28A0092B-C50C-407E-A947-70E740481C1C}">
                <a14:useLocalDpi xmlns:a14="http://schemas.microsoft.com/office/drawing/2010/main" val="0"/>
              </a:ext>
            </a:extLst>
          </a:blip>
          <a:srcRect t="72432"/>
          <a:stretch/>
        </p:blipFill>
        <p:spPr>
          <a:xfrm>
            <a:off x="3503065" y="2139550"/>
            <a:ext cx="5373279" cy="1925695"/>
          </a:xfrm>
          <a:prstGeom prst="rect">
            <a:avLst/>
          </a:prstGeom>
        </p:spPr>
      </p:pic>
    </p:spTree>
    <p:extLst>
      <p:ext uri="{BB962C8B-B14F-4D97-AF65-F5344CB8AC3E}">
        <p14:creationId xmlns:p14="http://schemas.microsoft.com/office/powerpoint/2010/main" val="1914608255"/>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B6E2282-7959-4B23-8200-0D85242ED089}"/>
              </a:ext>
            </a:extLst>
          </p:cNvPr>
          <p:cNvSpPr>
            <a:spLocks noGrp="1"/>
          </p:cNvSpPr>
          <p:nvPr>
            <p:ph type="title"/>
          </p:nvPr>
        </p:nvSpPr>
        <p:spPr>
          <a:xfrm>
            <a:off x="510241" y="586585"/>
            <a:ext cx="8398775" cy="610820"/>
          </a:xfrm>
        </p:spPr>
        <p:txBody>
          <a:bodyPr>
            <a:normAutofit fontScale="90000"/>
          </a:bodyPr>
          <a:lstStyle/>
          <a:p>
            <a:r>
              <a:rPr lang="en-US" dirty="0"/>
              <a:t/>
            </a:r>
            <a:br>
              <a:rPr lang="en-US" dirty="0"/>
            </a:br>
            <a:r>
              <a:rPr lang="en-US" dirty="0"/>
              <a:t>Roofing</a:t>
            </a:r>
            <a:br>
              <a:rPr lang="en-US" dirty="0"/>
            </a:br>
            <a:endParaRPr lang="en-GB" dirty="0"/>
          </a:p>
        </p:txBody>
      </p:sp>
      <p:sp>
        <p:nvSpPr>
          <p:cNvPr id="3" name="Content Placeholder 2">
            <a:extLst>
              <a:ext uri="{FF2B5EF4-FFF2-40B4-BE49-F238E27FC236}">
                <a16:creationId xmlns:a16="http://schemas.microsoft.com/office/drawing/2014/main" xmlns="" id="{9ACA4443-E024-4840-B899-876BF497B09E}"/>
              </a:ext>
            </a:extLst>
          </p:cNvPr>
          <p:cNvSpPr>
            <a:spLocks noGrp="1"/>
          </p:cNvSpPr>
          <p:nvPr>
            <p:ph idx="1"/>
          </p:nvPr>
        </p:nvSpPr>
        <p:spPr>
          <a:xfrm>
            <a:off x="296260" y="1960930"/>
            <a:ext cx="7210396" cy="2699487"/>
          </a:xfrm>
        </p:spPr>
        <p:txBody>
          <a:bodyPr>
            <a:normAutofit/>
          </a:bodyPr>
          <a:lstStyle/>
          <a:p>
            <a:r>
              <a:rPr lang="en-US" b="1" dirty="0" smtClean="0"/>
              <a:t>1 ½” thick Brick Tiles</a:t>
            </a:r>
          </a:p>
          <a:p>
            <a:r>
              <a:rPr lang="en-US" b="1" dirty="0" smtClean="0"/>
              <a:t>4” thick mud with husk</a:t>
            </a:r>
          </a:p>
          <a:p>
            <a:r>
              <a:rPr lang="en-US" b="1" dirty="0" smtClean="0"/>
              <a:t>2 layers of </a:t>
            </a:r>
            <a:r>
              <a:rPr lang="en-US" b="1" dirty="0" err="1" smtClean="0"/>
              <a:t>ploythene</a:t>
            </a:r>
            <a:endParaRPr lang="en-US" b="1" dirty="0" smtClean="0"/>
          </a:p>
          <a:p>
            <a:r>
              <a:rPr lang="en-US" b="1" dirty="0" smtClean="0"/>
              <a:t>2 coats of hot bitumen</a:t>
            </a:r>
          </a:p>
          <a:p>
            <a:r>
              <a:rPr lang="en-US" b="1" dirty="0" smtClean="0"/>
              <a:t>6”thick R.C.C. Slab (1:2:4)</a:t>
            </a:r>
            <a:endParaRPr lang="en-US" b="1" dirty="0"/>
          </a:p>
        </p:txBody>
      </p:sp>
      <p:pic>
        <p:nvPicPr>
          <p:cNvPr id="4" name="Picture 3"/>
          <p:cNvPicPr>
            <a:picLocks noChangeAspect="1"/>
          </p:cNvPicPr>
          <p:nvPr/>
        </p:nvPicPr>
        <p:blipFill rotWithShape="1">
          <a:blip r:embed="rId2">
            <a:extLst>
              <a:ext uri="{28A0092B-C50C-407E-A947-70E740481C1C}">
                <a14:useLocalDpi xmlns:a14="http://schemas.microsoft.com/office/drawing/2010/main" val="0"/>
              </a:ext>
            </a:extLst>
          </a:blip>
          <a:srcRect t="1" b="64844"/>
          <a:stretch/>
        </p:blipFill>
        <p:spPr>
          <a:xfrm>
            <a:off x="3655770" y="1892875"/>
            <a:ext cx="5293060" cy="2419045"/>
          </a:xfrm>
          <a:prstGeom prst="rect">
            <a:avLst/>
          </a:prstGeom>
        </p:spPr>
      </p:pic>
    </p:spTree>
    <p:extLst>
      <p:ext uri="{BB962C8B-B14F-4D97-AF65-F5344CB8AC3E}">
        <p14:creationId xmlns:p14="http://schemas.microsoft.com/office/powerpoint/2010/main" val="2665595615"/>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07020A8-3BD6-471C-BB8C-E0272D2494CF}"/>
              </a:ext>
            </a:extLst>
          </p:cNvPr>
          <p:cNvSpPr>
            <a:spLocks noGrp="1"/>
          </p:cNvSpPr>
          <p:nvPr>
            <p:ph type="title"/>
          </p:nvPr>
        </p:nvSpPr>
        <p:spPr>
          <a:xfrm>
            <a:off x="510241" y="739290"/>
            <a:ext cx="8246070" cy="763525"/>
          </a:xfrm>
        </p:spPr>
        <p:txBody>
          <a:bodyPr>
            <a:normAutofit fontScale="90000"/>
          </a:bodyPr>
          <a:lstStyle/>
          <a:p>
            <a:r>
              <a:rPr lang="en-US" sz="4900" dirty="0"/>
              <a:t>Doors and Windows</a:t>
            </a:r>
            <a:r>
              <a:rPr lang="en-US" dirty="0"/>
              <a:t/>
            </a:r>
            <a:br>
              <a:rPr lang="en-US" dirty="0"/>
            </a:br>
            <a:endParaRPr lang="en-GB" dirty="0"/>
          </a:p>
        </p:txBody>
      </p:sp>
      <p:graphicFrame>
        <p:nvGraphicFramePr>
          <p:cNvPr id="3" name="Content Placeholder 2"/>
          <p:cNvGraphicFramePr>
            <a:graphicFrameLocks noGrp="1"/>
          </p:cNvGraphicFramePr>
          <p:nvPr>
            <p:ph idx="1"/>
            <p:extLst>
              <p:ext uri="{D42A27DB-BD31-4B8C-83A1-F6EECF244321}">
                <p14:modId xmlns:p14="http://schemas.microsoft.com/office/powerpoint/2010/main" val="2373890930"/>
              </p:ext>
            </p:extLst>
          </p:nvPr>
        </p:nvGraphicFramePr>
        <p:xfrm>
          <a:off x="2586835" y="1655520"/>
          <a:ext cx="2884170" cy="3402990"/>
        </p:xfrm>
        <a:graphic>
          <a:graphicData uri="http://schemas.openxmlformats.org/drawingml/2006/table">
            <a:tbl>
              <a:tblPr firstRow="1" bandRow="1">
                <a:tableStyleId>{5C22544A-7EE6-4342-B048-85BDC9FD1C3A}</a:tableStyleId>
              </a:tblPr>
              <a:tblGrid>
                <a:gridCol w="1442085"/>
                <a:gridCol w="1442085"/>
              </a:tblGrid>
              <a:tr h="340299">
                <a:tc>
                  <a:txBody>
                    <a:bodyPr/>
                    <a:lstStyle/>
                    <a:p>
                      <a:r>
                        <a:rPr lang="en-US" dirty="0" smtClean="0"/>
                        <a:t>Door Type</a:t>
                      </a:r>
                      <a:endParaRPr lang="en-GB" dirty="0"/>
                    </a:p>
                  </a:txBody>
                  <a:tcPr/>
                </a:tc>
                <a:tc>
                  <a:txBody>
                    <a:bodyPr/>
                    <a:lstStyle/>
                    <a:p>
                      <a:r>
                        <a:rPr lang="en-US" dirty="0" smtClean="0"/>
                        <a:t>Area</a:t>
                      </a:r>
                      <a:endParaRPr lang="en-GB" dirty="0"/>
                    </a:p>
                  </a:txBody>
                  <a:tcPr/>
                </a:tc>
              </a:tr>
              <a:tr h="340299">
                <a:tc>
                  <a:txBody>
                    <a:bodyPr/>
                    <a:lstStyle/>
                    <a:p>
                      <a:r>
                        <a:rPr lang="en-US" dirty="0" smtClean="0"/>
                        <a:t>Door D-1</a:t>
                      </a:r>
                    </a:p>
                  </a:txBody>
                  <a:tcPr/>
                </a:tc>
                <a:tc>
                  <a:txBody>
                    <a:bodyPr/>
                    <a:lstStyle/>
                    <a:p>
                      <a:r>
                        <a:rPr lang="en-US" dirty="0" smtClean="0"/>
                        <a:t>63</a:t>
                      </a:r>
                      <a:endParaRPr lang="en-GB" dirty="0"/>
                    </a:p>
                  </a:txBody>
                  <a:tcPr/>
                </a:tc>
              </a:tr>
              <a:tr h="340299">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dirty="0" smtClean="0"/>
                        <a:t>Door D-2</a:t>
                      </a:r>
                    </a:p>
                  </a:txBody>
                  <a:tcPr/>
                </a:tc>
                <a:tc>
                  <a:txBody>
                    <a:bodyPr/>
                    <a:lstStyle/>
                    <a:p>
                      <a:r>
                        <a:rPr lang="en-US" dirty="0" smtClean="0"/>
                        <a:t>28</a:t>
                      </a:r>
                      <a:endParaRPr lang="en-GB" dirty="0"/>
                    </a:p>
                  </a:txBody>
                  <a:tcPr/>
                </a:tc>
              </a:tr>
              <a:tr h="340299">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dirty="0" smtClean="0"/>
                        <a:t>Door D-3</a:t>
                      </a:r>
                    </a:p>
                  </a:txBody>
                  <a:tcPr/>
                </a:tc>
                <a:tc>
                  <a:txBody>
                    <a:bodyPr/>
                    <a:lstStyle/>
                    <a:p>
                      <a:r>
                        <a:rPr lang="en-US" dirty="0" smtClean="0"/>
                        <a:t>49</a:t>
                      </a:r>
                      <a:endParaRPr lang="en-GB" dirty="0"/>
                    </a:p>
                  </a:txBody>
                  <a:tcPr/>
                </a:tc>
              </a:tr>
              <a:tr h="340299">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dirty="0" smtClean="0"/>
                        <a:t>Door D-5</a:t>
                      </a:r>
                    </a:p>
                  </a:txBody>
                  <a:tcPr/>
                </a:tc>
                <a:tc>
                  <a:txBody>
                    <a:bodyPr/>
                    <a:lstStyle/>
                    <a:p>
                      <a:r>
                        <a:rPr lang="en-US" dirty="0" smtClean="0"/>
                        <a:t>70</a:t>
                      </a:r>
                      <a:endParaRPr lang="en-GB" dirty="0"/>
                    </a:p>
                  </a:txBody>
                  <a:tcPr/>
                </a:tc>
              </a:tr>
              <a:tr h="340299">
                <a:tc>
                  <a:txBody>
                    <a:bodyPr/>
                    <a:lstStyle/>
                    <a:p>
                      <a:r>
                        <a:rPr lang="en-US" dirty="0" smtClean="0"/>
                        <a:t>Window W-2</a:t>
                      </a:r>
                    </a:p>
                  </a:txBody>
                  <a:tcPr/>
                </a:tc>
                <a:tc>
                  <a:txBody>
                    <a:bodyPr/>
                    <a:lstStyle/>
                    <a:p>
                      <a:r>
                        <a:rPr lang="en-US" dirty="0" smtClean="0"/>
                        <a:t>39</a:t>
                      </a:r>
                      <a:endParaRPr lang="en-GB" dirty="0"/>
                    </a:p>
                  </a:txBody>
                  <a:tcPr/>
                </a:tc>
              </a:tr>
              <a:tr h="340299">
                <a:tc>
                  <a:txBody>
                    <a:bodyPr/>
                    <a:lstStyle/>
                    <a:p>
                      <a:r>
                        <a:rPr lang="en-US" dirty="0" smtClean="0"/>
                        <a:t>Window W-5</a:t>
                      </a:r>
                    </a:p>
                  </a:txBody>
                  <a:tcPr/>
                </a:tc>
                <a:tc>
                  <a:txBody>
                    <a:bodyPr/>
                    <a:lstStyle/>
                    <a:p>
                      <a:r>
                        <a:rPr lang="en-US" dirty="0" smtClean="0"/>
                        <a:t>27</a:t>
                      </a:r>
                      <a:endParaRPr lang="en-GB" dirty="0"/>
                    </a:p>
                  </a:txBody>
                  <a:tcPr/>
                </a:tc>
              </a:tr>
              <a:tr h="340299">
                <a:tc>
                  <a:txBody>
                    <a:bodyPr/>
                    <a:lstStyle/>
                    <a:p>
                      <a:r>
                        <a:rPr lang="en-US" dirty="0" smtClean="0"/>
                        <a:t>Window W-7</a:t>
                      </a:r>
                    </a:p>
                  </a:txBody>
                  <a:tcPr/>
                </a:tc>
                <a:tc>
                  <a:txBody>
                    <a:bodyPr/>
                    <a:lstStyle/>
                    <a:p>
                      <a:r>
                        <a:rPr lang="en-US" dirty="0" smtClean="0"/>
                        <a:t>13.125</a:t>
                      </a:r>
                      <a:endParaRPr lang="en-GB" dirty="0"/>
                    </a:p>
                  </a:txBody>
                  <a:tcPr/>
                </a:tc>
              </a:tr>
              <a:tr h="340299">
                <a:tc>
                  <a:txBody>
                    <a:bodyPr/>
                    <a:lstStyle/>
                    <a:p>
                      <a:r>
                        <a:rPr lang="en-US" dirty="0" smtClean="0"/>
                        <a:t>Window W-8</a:t>
                      </a:r>
                    </a:p>
                  </a:txBody>
                  <a:tcPr/>
                </a:tc>
                <a:tc>
                  <a:txBody>
                    <a:bodyPr/>
                    <a:lstStyle/>
                    <a:p>
                      <a:r>
                        <a:rPr lang="en-US" dirty="0" smtClean="0"/>
                        <a:t>21</a:t>
                      </a:r>
                      <a:endParaRPr lang="en-GB" dirty="0"/>
                    </a:p>
                  </a:txBody>
                  <a:tcPr/>
                </a:tc>
              </a:tr>
              <a:tr h="340299">
                <a:tc>
                  <a:txBody>
                    <a:bodyPr/>
                    <a:lstStyle/>
                    <a:p>
                      <a:r>
                        <a:rPr lang="en-US" dirty="0" smtClean="0"/>
                        <a:t>Window W-9</a:t>
                      </a:r>
                    </a:p>
                  </a:txBody>
                  <a:tcPr/>
                </a:tc>
                <a:tc>
                  <a:txBody>
                    <a:bodyPr/>
                    <a:lstStyle/>
                    <a:p>
                      <a:r>
                        <a:rPr lang="en-US" dirty="0" smtClean="0"/>
                        <a:t>36</a:t>
                      </a:r>
                      <a:endParaRPr lang="en-GB" dirty="0"/>
                    </a:p>
                  </a:txBody>
                  <a:tcPr/>
                </a:tc>
              </a:tr>
            </a:tbl>
          </a:graphicData>
        </a:graphic>
      </p:graphicFrame>
    </p:spTree>
    <p:extLst>
      <p:ext uri="{BB962C8B-B14F-4D97-AF65-F5344CB8AC3E}">
        <p14:creationId xmlns:p14="http://schemas.microsoft.com/office/powerpoint/2010/main" val="1717252218"/>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Concrete</a:t>
            </a:r>
            <a:endParaRPr lang="en-GB" dirty="0"/>
          </a:p>
        </p:txBody>
      </p:sp>
      <p:sp>
        <p:nvSpPr>
          <p:cNvPr id="3" name="Content Placeholder 2"/>
          <p:cNvSpPr>
            <a:spLocks noGrp="1"/>
          </p:cNvSpPr>
          <p:nvPr>
            <p:ph idx="1"/>
          </p:nvPr>
        </p:nvSpPr>
        <p:spPr/>
        <p:txBody>
          <a:bodyPr/>
          <a:lstStyle/>
          <a:p>
            <a:r>
              <a:rPr lang="en-US" dirty="0" smtClean="0"/>
              <a:t>PCC (1:4:8)</a:t>
            </a:r>
          </a:p>
          <a:p>
            <a:r>
              <a:rPr lang="en-US" dirty="0" smtClean="0"/>
              <a:t>RCC (1:2:4)</a:t>
            </a:r>
          </a:p>
          <a:p>
            <a:r>
              <a:rPr lang="en-US" dirty="0" smtClean="0"/>
              <a:t>RCC was calculated differently for foundations and superstructure according to MRS </a:t>
            </a:r>
          </a:p>
          <a:p>
            <a:r>
              <a:rPr lang="en-US" dirty="0" smtClean="0"/>
              <a:t>PCC was same throughout the structure</a:t>
            </a:r>
          </a:p>
          <a:p>
            <a:r>
              <a:rPr lang="en-US" dirty="0" smtClean="0"/>
              <a:t>RCC was used in foundations, lintels, beams, columns and roof slabs</a:t>
            </a:r>
          </a:p>
          <a:p>
            <a:r>
              <a:rPr lang="en-US" dirty="0" smtClean="0"/>
              <a:t>PCC was used in plinth protection, foundations and DPC </a:t>
            </a:r>
            <a:endParaRPr lang="en-GB" dirty="0"/>
          </a:p>
        </p:txBody>
      </p:sp>
    </p:spTree>
    <p:extLst>
      <p:ext uri="{BB962C8B-B14F-4D97-AF65-F5344CB8AC3E}">
        <p14:creationId xmlns:p14="http://schemas.microsoft.com/office/powerpoint/2010/main" val="239462285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17562C6-0421-47AE-9D79-E6C524EF3A98}"/>
              </a:ext>
            </a:extLst>
          </p:cNvPr>
          <p:cNvSpPr>
            <a:spLocks noGrp="1"/>
          </p:cNvSpPr>
          <p:nvPr>
            <p:ph type="title"/>
          </p:nvPr>
        </p:nvSpPr>
        <p:spPr/>
        <p:txBody>
          <a:bodyPr>
            <a:normAutofit/>
          </a:bodyPr>
          <a:lstStyle/>
          <a:p>
            <a:r>
              <a:rPr lang="en-US" dirty="0"/>
              <a:t>Damp proof course </a:t>
            </a:r>
            <a:r>
              <a:rPr lang="en-US" dirty="0" smtClean="0"/>
              <a:t>(DPC)</a:t>
            </a:r>
            <a:endParaRPr lang="en-GB" dirty="0"/>
          </a:p>
        </p:txBody>
      </p:sp>
      <p:sp>
        <p:nvSpPr>
          <p:cNvPr id="3" name="Content Placeholder 2">
            <a:extLst>
              <a:ext uri="{FF2B5EF4-FFF2-40B4-BE49-F238E27FC236}">
                <a16:creationId xmlns:a16="http://schemas.microsoft.com/office/drawing/2014/main" xmlns="" id="{4C9DFA55-9546-48E4-9610-0717BF180B9B}"/>
              </a:ext>
            </a:extLst>
          </p:cNvPr>
          <p:cNvSpPr>
            <a:spLocks noGrp="1"/>
          </p:cNvSpPr>
          <p:nvPr>
            <p:ph idx="1"/>
          </p:nvPr>
        </p:nvSpPr>
        <p:spPr/>
        <p:txBody>
          <a:bodyPr/>
          <a:lstStyle/>
          <a:p>
            <a:r>
              <a:rPr lang="en-US" dirty="0" smtClean="0"/>
              <a:t>MRS unit = 100 </a:t>
            </a:r>
            <a:r>
              <a:rPr lang="en-US" dirty="0" err="1" smtClean="0"/>
              <a:t>sft</a:t>
            </a:r>
            <a:endParaRPr lang="en-US" dirty="0" smtClean="0"/>
          </a:p>
          <a:p>
            <a:r>
              <a:rPr lang="en-US" dirty="0" smtClean="0"/>
              <a:t>Inclusive of polythene sheet as well </a:t>
            </a:r>
          </a:p>
          <a:p>
            <a:r>
              <a:rPr lang="en-US" dirty="0" smtClean="0"/>
              <a:t>4” of lean concrete(PCC) </a:t>
            </a:r>
          </a:p>
          <a:p>
            <a:r>
              <a:rPr lang="en-US" dirty="0" smtClean="0"/>
              <a:t>All these were given in MRS so lean concrete was not calculated separately. </a:t>
            </a:r>
            <a:endParaRPr lang="en-GB" dirty="0"/>
          </a:p>
        </p:txBody>
      </p:sp>
    </p:spTree>
    <p:extLst>
      <p:ext uri="{BB962C8B-B14F-4D97-AF65-F5344CB8AC3E}">
        <p14:creationId xmlns:p14="http://schemas.microsoft.com/office/powerpoint/2010/main" val="131248699"/>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9D8B3CF-8688-4EA6-8865-F9E468285A08}"/>
              </a:ext>
            </a:extLst>
          </p:cNvPr>
          <p:cNvSpPr>
            <a:spLocks noGrp="1"/>
          </p:cNvSpPr>
          <p:nvPr>
            <p:ph type="title"/>
          </p:nvPr>
        </p:nvSpPr>
        <p:spPr>
          <a:xfrm>
            <a:off x="510241" y="586585"/>
            <a:ext cx="8246070" cy="763525"/>
          </a:xfrm>
        </p:spPr>
        <p:txBody>
          <a:bodyPr>
            <a:noAutofit/>
          </a:bodyPr>
          <a:lstStyle/>
          <a:p>
            <a:r>
              <a:rPr lang="en-US" sz="4400" dirty="0"/>
              <a:t>Paint</a:t>
            </a:r>
            <a:endParaRPr lang="en-GB" sz="4400" dirty="0"/>
          </a:p>
        </p:txBody>
      </p:sp>
      <p:sp>
        <p:nvSpPr>
          <p:cNvPr id="3" name="Content Placeholder 2">
            <a:extLst>
              <a:ext uri="{FF2B5EF4-FFF2-40B4-BE49-F238E27FC236}">
                <a16:creationId xmlns:a16="http://schemas.microsoft.com/office/drawing/2014/main" xmlns="" id="{D34C5C23-D6B9-4273-888E-3AF43D6F965F}"/>
              </a:ext>
            </a:extLst>
          </p:cNvPr>
          <p:cNvSpPr>
            <a:spLocks noGrp="1"/>
          </p:cNvSpPr>
          <p:nvPr>
            <p:ph idx="1"/>
          </p:nvPr>
        </p:nvSpPr>
        <p:spPr/>
        <p:txBody>
          <a:bodyPr/>
          <a:lstStyle/>
          <a:p>
            <a:r>
              <a:rPr lang="en-US" b="1" dirty="0" smtClean="0"/>
              <a:t>MRS unit = </a:t>
            </a:r>
            <a:r>
              <a:rPr lang="en-US" b="1" dirty="0"/>
              <a:t>100 </a:t>
            </a:r>
            <a:r>
              <a:rPr lang="en-US" b="1" dirty="0" err="1"/>
              <a:t>sft</a:t>
            </a:r>
            <a:endParaRPr lang="en-US" b="1" dirty="0"/>
          </a:p>
          <a:p>
            <a:r>
              <a:rPr lang="en-US" b="1" dirty="0" smtClean="0"/>
              <a:t>Area of painted area = Plastered area – S</a:t>
            </a:r>
            <a:r>
              <a:rPr lang="en-GB" b="1" dirty="0" err="1" smtClean="0"/>
              <a:t>kirting</a:t>
            </a:r>
            <a:r>
              <a:rPr lang="en-GB" b="1" dirty="0" smtClean="0"/>
              <a:t> – Doors - Windows</a:t>
            </a:r>
            <a:endParaRPr lang="en-GB" b="1" dirty="0"/>
          </a:p>
          <a:p>
            <a:r>
              <a:rPr lang="en-US" b="1" dirty="0" smtClean="0"/>
              <a:t>Painted Area</a:t>
            </a:r>
            <a:r>
              <a:rPr lang="en-GB" b="1" dirty="0" smtClean="0"/>
              <a:t> = 9187.115 </a:t>
            </a:r>
            <a:r>
              <a:rPr lang="en-GB" b="1" dirty="0" err="1" smtClean="0"/>
              <a:t>sft</a:t>
            </a:r>
            <a:endParaRPr lang="en-GB" b="1" dirty="0" smtClean="0"/>
          </a:p>
          <a:p>
            <a:r>
              <a:rPr lang="en-US" b="1" dirty="0" smtClean="0"/>
              <a:t>Emulsion paint inside and weather shield paint on the exterior surfaces. </a:t>
            </a:r>
          </a:p>
          <a:p>
            <a:r>
              <a:rPr lang="en-US" b="1" dirty="0" smtClean="0"/>
              <a:t>Prices were calculated separately </a:t>
            </a:r>
            <a:endParaRPr lang="en-GB" b="1" dirty="0"/>
          </a:p>
          <a:p>
            <a:endParaRPr lang="en-US" b="1" dirty="0"/>
          </a:p>
          <a:p>
            <a:endParaRPr lang="en-GB" b="1" dirty="0"/>
          </a:p>
        </p:txBody>
      </p:sp>
    </p:spTree>
    <p:extLst>
      <p:ext uri="{BB962C8B-B14F-4D97-AF65-F5344CB8AC3E}">
        <p14:creationId xmlns:p14="http://schemas.microsoft.com/office/powerpoint/2010/main" val="461041075"/>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8965" y="281175"/>
            <a:ext cx="7210396" cy="810704"/>
          </a:xfrm>
        </p:spPr>
        <p:txBody>
          <a:bodyPr/>
          <a:lstStyle/>
          <a:p>
            <a:r>
              <a:rPr lang="en-US" dirty="0" smtClean="0"/>
              <a:t>BOQ CONTINUED…</a:t>
            </a:r>
            <a:endParaRPr lang="en-GB"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2349532329"/>
              </p:ext>
            </p:extLst>
          </p:nvPr>
        </p:nvGraphicFramePr>
        <p:xfrm>
          <a:off x="143555" y="976165"/>
          <a:ext cx="8856889" cy="4167335"/>
        </p:xfrm>
        <a:graphic>
          <a:graphicData uri="http://schemas.openxmlformats.org/drawingml/2006/table">
            <a:tbl>
              <a:tblPr>
                <a:tableStyleId>{5C22544A-7EE6-4342-B048-85BDC9FD1C3A}</a:tableStyleId>
              </a:tblPr>
              <a:tblGrid>
                <a:gridCol w="412827"/>
                <a:gridCol w="3959765"/>
                <a:gridCol w="650835"/>
                <a:gridCol w="808802"/>
                <a:gridCol w="1718707"/>
                <a:gridCol w="1305953"/>
              </a:tblGrid>
              <a:tr h="99168">
                <a:tc rowSpan="6">
                  <a:txBody>
                    <a:bodyPr/>
                    <a:lstStyle/>
                    <a:p>
                      <a:pPr algn="ctr" fontAlgn="ctr"/>
                      <a:r>
                        <a:rPr lang="en-GB" sz="900" u="none" strike="noStrike">
                          <a:effectLst/>
                        </a:rPr>
                        <a:t>8</a:t>
                      </a:r>
                      <a:endParaRPr lang="en-GB" sz="900" b="1" i="0" u="none" strike="noStrike">
                        <a:solidFill>
                          <a:srgbClr val="000000"/>
                        </a:solidFill>
                        <a:effectLst/>
                        <a:latin typeface="Arial" panose="020B0604020202020204" pitchFamily="34" charset="0"/>
                      </a:endParaRPr>
                    </a:p>
                  </a:txBody>
                  <a:tcPr marL="2765" marR="2765" marT="2765" marB="0" anchor="ctr"/>
                </a:tc>
                <a:tc>
                  <a:txBody>
                    <a:bodyPr/>
                    <a:lstStyle/>
                    <a:p>
                      <a:pPr algn="ctr" fontAlgn="ctr"/>
                      <a:r>
                        <a:rPr lang="en-GB" sz="900" u="sng" strike="noStrike">
                          <a:effectLst/>
                        </a:rPr>
                        <a:t>Paint</a:t>
                      </a:r>
                      <a:endParaRPr lang="en-GB" sz="900" b="1" i="0" u="sng" strike="noStrike">
                        <a:solidFill>
                          <a:srgbClr val="000000"/>
                        </a:solidFill>
                        <a:effectLst/>
                        <a:latin typeface="Arial" panose="020B0604020202020204" pitchFamily="34" charset="0"/>
                      </a:endParaRPr>
                    </a:p>
                  </a:txBody>
                  <a:tcPr marL="2765" marR="2765" marT="2765" marB="0" anchor="ctr"/>
                </a:tc>
                <a:tc rowSpan="2">
                  <a:txBody>
                    <a:bodyPr/>
                    <a:lstStyle/>
                    <a:p>
                      <a:pPr algn="ctr" fontAlgn="ctr"/>
                      <a:r>
                        <a:rPr lang="en-GB" sz="900" u="none" strike="noStrike">
                          <a:effectLst/>
                        </a:rPr>
                        <a:t>100 sft</a:t>
                      </a:r>
                      <a:endParaRPr lang="en-GB" sz="900" b="0" i="0" u="none" strike="noStrike">
                        <a:solidFill>
                          <a:srgbClr val="000000"/>
                        </a:solidFill>
                        <a:effectLst/>
                        <a:latin typeface="Calibri" panose="020F0502020204030204" pitchFamily="34" charset="0"/>
                      </a:endParaRPr>
                    </a:p>
                  </a:txBody>
                  <a:tcPr marL="2765" marR="2765" marT="2765" marB="0" anchor="ctr"/>
                </a:tc>
                <a:tc rowSpan="2">
                  <a:txBody>
                    <a:bodyPr/>
                    <a:lstStyle/>
                    <a:p>
                      <a:pPr algn="ctr" fontAlgn="ctr"/>
                      <a:r>
                        <a:rPr lang="en-GB" sz="900" u="none" strike="noStrike">
                          <a:effectLst/>
                        </a:rPr>
                        <a:t>5505.275</a:t>
                      </a:r>
                      <a:endParaRPr lang="en-GB" sz="900" b="0" i="0" u="none" strike="noStrike">
                        <a:solidFill>
                          <a:srgbClr val="000000"/>
                        </a:solidFill>
                        <a:effectLst/>
                        <a:latin typeface="Calibri" panose="020F0502020204030204" pitchFamily="34" charset="0"/>
                      </a:endParaRPr>
                    </a:p>
                  </a:txBody>
                  <a:tcPr marL="2765" marR="2765" marT="2765" marB="0" anchor="ctr"/>
                </a:tc>
                <a:tc rowSpan="2">
                  <a:txBody>
                    <a:bodyPr/>
                    <a:lstStyle/>
                    <a:p>
                      <a:pPr algn="ctr" fontAlgn="ctr"/>
                      <a:r>
                        <a:rPr lang="en-GB" sz="900" u="none" strike="noStrike">
                          <a:effectLst/>
                        </a:rPr>
                        <a:t>460</a:t>
                      </a:r>
                      <a:endParaRPr lang="en-GB" sz="900" b="0" i="0" u="none" strike="noStrike">
                        <a:solidFill>
                          <a:srgbClr val="000000"/>
                        </a:solidFill>
                        <a:effectLst/>
                        <a:latin typeface="Calibri" panose="020F0502020204030204" pitchFamily="34" charset="0"/>
                      </a:endParaRPr>
                    </a:p>
                  </a:txBody>
                  <a:tcPr marL="2765" marR="2765" marT="2765" marB="0" anchor="ctr"/>
                </a:tc>
                <a:tc rowSpan="2">
                  <a:txBody>
                    <a:bodyPr/>
                    <a:lstStyle/>
                    <a:p>
                      <a:pPr algn="ctr" fontAlgn="ctr"/>
                      <a:r>
                        <a:rPr lang="en-GB" sz="900" u="none" strike="noStrike">
                          <a:effectLst/>
                        </a:rPr>
                        <a:t>25323</a:t>
                      </a:r>
                      <a:endParaRPr lang="en-GB" sz="900" b="0" i="0" u="none" strike="noStrike">
                        <a:solidFill>
                          <a:srgbClr val="000000"/>
                        </a:solidFill>
                        <a:effectLst/>
                        <a:latin typeface="Calibri" panose="020F0502020204030204" pitchFamily="34" charset="0"/>
                      </a:endParaRPr>
                    </a:p>
                  </a:txBody>
                  <a:tcPr marL="2765" marR="2765" marT="2765" marB="0" anchor="ctr"/>
                </a:tc>
              </a:tr>
              <a:tr h="99168">
                <a:tc vMerge="1">
                  <a:txBody>
                    <a:bodyPr/>
                    <a:lstStyle/>
                    <a:p>
                      <a:endParaRPr lang="en-GB"/>
                    </a:p>
                  </a:txBody>
                  <a:tcPr/>
                </a:tc>
                <a:tc>
                  <a:txBody>
                    <a:bodyPr/>
                    <a:lstStyle/>
                    <a:p>
                      <a:pPr algn="ctr" fontAlgn="ctr"/>
                      <a:r>
                        <a:rPr lang="en-GB" sz="900" u="none" strike="noStrike">
                          <a:effectLst/>
                        </a:rPr>
                        <a:t>Preparing surface and painting with emulsion paint:-   First Coat</a:t>
                      </a:r>
                      <a:endParaRPr lang="en-GB" sz="900" b="0" i="0" u="none" strike="noStrike">
                        <a:solidFill>
                          <a:srgbClr val="000000"/>
                        </a:solidFill>
                        <a:effectLst/>
                        <a:latin typeface="Calibri" panose="020F0502020204030204" pitchFamily="34" charset="0"/>
                      </a:endParaRPr>
                    </a:p>
                  </a:txBody>
                  <a:tcPr marL="2765" marR="2765" marT="2765" marB="0" anchor="ctr"/>
                </a:tc>
                <a:tc vMerge="1">
                  <a:txBody>
                    <a:bodyPr/>
                    <a:lstStyle/>
                    <a:p>
                      <a:endParaRPr lang="en-GB"/>
                    </a:p>
                  </a:txBody>
                  <a:tcPr/>
                </a:tc>
                <a:tc vMerge="1">
                  <a:txBody>
                    <a:bodyPr/>
                    <a:lstStyle/>
                    <a:p>
                      <a:endParaRPr lang="en-GB"/>
                    </a:p>
                  </a:txBody>
                  <a:tcPr/>
                </a:tc>
                <a:tc vMerge="1">
                  <a:txBody>
                    <a:bodyPr/>
                    <a:lstStyle/>
                    <a:p>
                      <a:endParaRPr lang="en-GB"/>
                    </a:p>
                  </a:txBody>
                  <a:tcPr/>
                </a:tc>
                <a:tc vMerge="1">
                  <a:txBody>
                    <a:bodyPr/>
                    <a:lstStyle/>
                    <a:p>
                      <a:endParaRPr lang="en-GB"/>
                    </a:p>
                  </a:txBody>
                  <a:tcPr/>
                </a:tc>
              </a:tr>
              <a:tr h="118137">
                <a:tc vMerge="1">
                  <a:txBody>
                    <a:bodyPr/>
                    <a:lstStyle/>
                    <a:p>
                      <a:endParaRPr lang="en-GB"/>
                    </a:p>
                  </a:txBody>
                  <a:tcPr/>
                </a:tc>
                <a:tc>
                  <a:txBody>
                    <a:bodyPr/>
                    <a:lstStyle/>
                    <a:p>
                      <a:pPr algn="ctr" fontAlgn="ctr"/>
                      <a:r>
                        <a:rPr lang="en-GB" sz="900" u="none" strike="noStrike">
                          <a:effectLst/>
                        </a:rPr>
                        <a:t>Second coat</a:t>
                      </a:r>
                      <a:endParaRPr lang="en-GB" sz="900" b="0" i="0" u="none" strike="noStrike">
                        <a:solidFill>
                          <a:srgbClr val="000000"/>
                        </a:solidFill>
                        <a:effectLst/>
                        <a:latin typeface="Calibri" panose="020F0502020204030204" pitchFamily="34" charset="0"/>
                      </a:endParaRPr>
                    </a:p>
                  </a:txBody>
                  <a:tcPr marL="2765" marR="2765" marT="2765" marB="0" anchor="ctr"/>
                </a:tc>
                <a:tc>
                  <a:txBody>
                    <a:bodyPr/>
                    <a:lstStyle/>
                    <a:p>
                      <a:pPr algn="ctr" fontAlgn="ctr"/>
                      <a:r>
                        <a:rPr lang="en-GB" sz="900" u="none" strike="noStrike">
                          <a:effectLst/>
                        </a:rPr>
                        <a:t>100 sft</a:t>
                      </a:r>
                      <a:endParaRPr lang="en-GB" sz="900" b="0" i="0" u="none" strike="noStrike">
                        <a:solidFill>
                          <a:srgbClr val="000000"/>
                        </a:solidFill>
                        <a:effectLst/>
                        <a:latin typeface="Calibri" panose="020F0502020204030204" pitchFamily="34" charset="0"/>
                      </a:endParaRPr>
                    </a:p>
                  </a:txBody>
                  <a:tcPr marL="2765" marR="2765" marT="2765" marB="0" anchor="ctr"/>
                </a:tc>
                <a:tc>
                  <a:txBody>
                    <a:bodyPr/>
                    <a:lstStyle/>
                    <a:p>
                      <a:pPr algn="ctr" fontAlgn="ctr"/>
                      <a:r>
                        <a:rPr lang="en-GB" sz="900" u="none" strike="noStrike">
                          <a:effectLst/>
                        </a:rPr>
                        <a:t>5505.275</a:t>
                      </a:r>
                      <a:endParaRPr lang="en-GB" sz="900" b="0" i="0" u="none" strike="noStrike">
                        <a:solidFill>
                          <a:srgbClr val="000000"/>
                        </a:solidFill>
                        <a:effectLst/>
                        <a:latin typeface="Calibri" panose="020F0502020204030204" pitchFamily="34" charset="0"/>
                      </a:endParaRPr>
                    </a:p>
                  </a:txBody>
                  <a:tcPr marL="2765" marR="2765" marT="2765" marB="0" anchor="ctr"/>
                </a:tc>
                <a:tc>
                  <a:txBody>
                    <a:bodyPr/>
                    <a:lstStyle/>
                    <a:p>
                      <a:pPr algn="ctr" fontAlgn="ctr"/>
                      <a:r>
                        <a:rPr lang="en-GB" sz="900" u="none" strike="noStrike">
                          <a:effectLst/>
                        </a:rPr>
                        <a:t>356.85</a:t>
                      </a:r>
                      <a:endParaRPr lang="en-GB" sz="900" b="0" i="0" u="none" strike="noStrike">
                        <a:solidFill>
                          <a:srgbClr val="000000"/>
                        </a:solidFill>
                        <a:effectLst/>
                        <a:latin typeface="Calibri" panose="020F0502020204030204" pitchFamily="34" charset="0"/>
                      </a:endParaRPr>
                    </a:p>
                  </a:txBody>
                  <a:tcPr marL="2765" marR="2765" marT="2765" marB="0" anchor="ctr"/>
                </a:tc>
                <a:tc>
                  <a:txBody>
                    <a:bodyPr/>
                    <a:lstStyle/>
                    <a:p>
                      <a:pPr algn="ctr" fontAlgn="ctr"/>
                      <a:r>
                        <a:rPr lang="en-GB" sz="900" u="none" strike="noStrike">
                          <a:effectLst/>
                        </a:rPr>
                        <a:t>19644.59</a:t>
                      </a:r>
                      <a:endParaRPr lang="en-GB" sz="900" b="0" i="0" u="none" strike="noStrike">
                        <a:solidFill>
                          <a:srgbClr val="000000"/>
                        </a:solidFill>
                        <a:effectLst/>
                        <a:latin typeface="Calibri" panose="020F0502020204030204" pitchFamily="34" charset="0"/>
                      </a:endParaRPr>
                    </a:p>
                  </a:txBody>
                  <a:tcPr marL="2765" marR="2765" marT="2765" marB="0" anchor="ctr"/>
                </a:tc>
              </a:tr>
              <a:tr h="293586">
                <a:tc vMerge="1">
                  <a:txBody>
                    <a:bodyPr/>
                    <a:lstStyle/>
                    <a:p>
                      <a:endParaRPr lang="en-GB"/>
                    </a:p>
                  </a:txBody>
                  <a:tcPr/>
                </a:tc>
                <a:tc>
                  <a:txBody>
                    <a:bodyPr/>
                    <a:lstStyle/>
                    <a:p>
                      <a:pPr algn="ctr" fontAlgn="ctr"/>
                      <a:r>
                        <a:rPr lang="en-GB" sz="900" u="none" strike="noStrike">
                          <a:effectLst/>
                        </a:rPr>
                        <a:t>Providing and applying weather shield paint of approved</a:t>
                      </a:r>
                      <a:br>
                        <a:rPr lang="en-GB" sz="900" u="none" strike="noStrike">
                          <a:effectLst/>
                        </a:rPr>
                      </a:br>
                      <a:r>
                        <a:rPr lang="en-GB" sz="900" u="none" strike="noStrike">
                          <a:effectLst/>
                        </a:rPr>
                        <a:t>quality on external surface of building including preparation of</a:t>
                      </a:r>
                      <a:br>
                        <a:rPr lang="en-GB" sz="900" u="none" strike="noStrike">
                          <a:effectLst/>
                        </a:rPr>
                      </a:br>
                      <a:r>
                        <a:rPr lang="en-GB" sz="900" u="none" strike="noStrike">
                          <a:effectLst/>
                        </a:rPr>
                        <a:t>surface, application of primer complete in all respect:  </a:t>
                      </a:r>
                      <a:endParaRPr lang="en-GB" sz="900" b="0" i="0" u="none" strike="noStrike">
                        <a:solidFill>
                          <a:srgbClr val="000000"/>
                        </a:solidFill>
                        <a:effectLst/>
                        <a:latin typeface="Calibri" panose="020F0502020204030204" pitchFamily="34" charset="0"/>
                      </a:endParaRPr>
                    </a:p>
                  </a:txBody>
                  <a:tcPr marL="2765" marR="2765" marT="2765" marB="0" anchor="ctr"/>
                </a:tc>
                <a:tc>
                  <a:txBody>
                    <a:bodyPr/>
                    <a:lstStyle/>
                    <a:p>
                      <a:pPr algn="l" fontAlgn="ctr"/>
                      <a:r>
                        <a:rPr lang="en-GB" sz="900" u="none" strike="noStrike">
                          <a:effectLst/>
                        </a:rPr>
                        <a:t> </a:t>
                      </a:r>
                      <a:endParaRPr lang="en-GB" sz="900" b="0" i="0" u="none" strike="noStrike">
                        <a:solidFill>
                          <a:srgbClr val="000000"/>
                        </a:solidFill>
                        <a:effectLst/>
                        <a:latin typeface="Calibri" panose="020F0502020204030204" pitchFamily="34" charset="0"/>
                      </a:endParaRPr>
                    </a:p>
                  </a:txBody>
                  <a:tcPr marL="2765" marR="2765" marT="2765" marB="0" anchor="ctr"/>
                </a:tc>
                <a:tc>
                  <a:txBody>
                    <a:bodyPr/>
                    <a:lstStyle/>
                    <a:p>
                      <a:pPr algn="ctr" fontAlgn="ctr"/>
                      <a:r>
                        <a:rPr lang="en-GB" sz="900" u="none" strike="noStrike">
                          <a:effectLst/>
                        </a:rPr>
                        <a:t> </a:t>
                      </a:r>
                      <a:endParaRPr lang="en-GB" sz="900" b="0" i="0" u="none" strike="noStrike">
                        <a:solidFill>
                          <a:srgbClr val="000000"/>
                        </a:solidFill>
                        <a:effectLst/>
                        <a:latin typeface="Calibri" panose="020F0502020204030204" pitchFamily="34" charset="0"/>
                      </a:endParaRPr>
                    </a:p>
                  </a:txBody>
                  <a:tcPr marL="2765" marR="2765" marT="2765" marB="0" anchor="ctr"/>
                </a:tc>
                <a:tc>
                  <a:txBody>
                    <a:bodyPr/>
                    <a:lstStyle/>
                    <a:p>
                      <a:pPr algn="ctr" fontAlgn="ctr"/>
                      <a:r>
                        <a:rPr lang="en-GB" sz="900" u="none" strike="noStrike">
                          <a:effectLst/>
                        </a:rPr>
                        <a:t> </a:t>
                      </a:r>
                      <a:endParaRPr lang="en-GB" sz="900" b="0" i="0" u="none" strike="noStrike">
                        <a:solidFill>
                          <a:srgbClr val="000000"/>
                        </a:solidFill>
                        <a:effectLst/>
                        <a:latin typeface="Calibri" panose="020F0502020204030204" pitchFamily="34" charset="0"/>
                      </a:endParaRPr>
                    </a:p>
                  </a:txBody>
                  <a:tcPr marL="2765" marR="2765" marT="2765" marB="0" anchor="ctr"/>
                </a:tc>
                <a:tc>
                  <a:txBody>
                    <a:bodyPr/>
                    <a:lstStyle/>
                    <a:p>
                      <a:pPr algn="l" fontAlgn="ctr"/>
                      <a:r>
                        <a:rPr lang="en-GB" sz="900" u="none" strike="noStrike">
                          <a:effectLst/>
                        </a:rPr>
                        <a:t> </a:t>
                      </a:r>
                      <a:endParaRPr lang="en-GB" sz="900" b="0" i="0" u="none" strike="noStrike">
                        <a:solidFill>
                          <a:srgbClr val="000000"/>
                        </a:solidFill>
                        <a:effectLst/>
                        <a:latin typeface="Calibri" panose="020F0502020204030204" pitchFamily="34" charset="0"/>
                      </a:endParaRPr>
                    </a:p>
                  </a:txBody>
                  <a:tcPr marL="2765" marR="2765" marT="2765" marB="0" anchor="ctr"/>
                </a:tc>
              </a:tr>
              <a:tr h="99168">
                <a:tc vMerge="1">
                  <a:txBody>
                    <a:bodyPr/>
                    <a:lstStyle/>
                    <a:p>
                      <a:endParaRPr lang="en-GB"/>
                    </a:p>
                  </a:txBody>
                  <a:tcPr/>
                </a:tc>
                <a:tc>
                  <a:txBody>
                    <a:bodyPr/>
                    <a:lstStyle/>
                    <a:p>
                      <a:pPr algn="ctr" fontAlgn="ctr"/>
                      <a:r>
                        <a:rPr lang="en-GB" sz="900" u="none" strike="noStrike">
                          <a:effectLst/>
                        </a:rPr>
                        <a:t>1st Coat</a:t>
                      </a:r>
                      <a:endParaRPr lang="en-GB" sz="900" b="0" i="0" u="none" strike="noStrike">
                        <a:solidFill>
                          <a:srgbClr val="000000"/>
                        </a:solidFill>
                        <a:effectLst/>
                        <a:latin typeface="Calibri" panose="020F0502020204030204" pitchFamily="34" charset="0"/>
                      </a:endParaRPr>
                    </a:p>
                  </a:txBody>
                  <a:tcPr marL="2765" marR="2765" marT="2765" marB="0" anchor="ctr"/>
                </a:tc>
                <a:tc>
                  <a:txBody>
                    <a:bodyPr/>
                    <a:lstStyle/>
                    <a:p>
                      <a:pPr algn="l" fontAlgn="ctr"/>
                      <a:r>
                        <a:rPr lang="en-GB" sz="900" u="none" strike="noStrike">
                          <a:effectLst/>
                        </a:rPr>
                        <a:t>% sft</a:t>
                      </a:r>
                      <a:endParaRPr lang="en-GB" sz="900" b="0" i="0" u="none" strike="noStrike">
                        <a:solidFill>
                          <a:srgbClr val="000000"/>
                        </a:solidFill>
                        <a:effectLst/>
                        <a:latin typeface="Calibri" panose="020F0502020204030204" pitchFamily="34" charset="0"/>
                      </a:endParaRPr>
                    </a:p>
                  </a:txBody>
                  <a:tcPr marL="2765" marR="2765" marT="2765" marB="0" anchor="ctr"/>
                </a:tc>
                <a:tc>
                  <a:txBody>
                    <a:bodyPr/>
                    <a:lstStyle/>
                    <a:p>
                      <a:pPr algn="ctr" fontAlgn="ctr"/>
                      <a:r>
                        <a:rPr lang="en-GB" sz="900" u="none" strike="noStrike">
                          <a:effectLst/>
                        </a:rPr>
                        <a:t>3788.13</a:t>
                      </a:r>
                      <a:endParaRPr lang="en-GB" sz="900" b="0" i="0" u="none" strike="noStrike">
                        <a:solidFill>
                          <a:srgbClr val="000000"/>
                        </a:solidFill>
                        <a:effectLst/>
                        <a:latin typeface="Calibri" panose="020F0502020204030204" pitchFamily="34" charset="0"/>
                      </a:endParaRPr>
                    </a:p>
                  </a:txBody>
                  <a:tcPr marL="2765" marR="2765" marT="2765" marB="0" anchor="ctr"/>
                </a:tc>
                <a:tc>
                  <a:txBody>
                    <a:bodyPr/>
                    <a:lstStyle/>
                    <a:p>
                      <a:pPr algn="ctr" fontAlgn="ctr"/>
                      <a:r>
                        <a:rPr lang="en-GB" sz="900" u="none" strike="noStrike">
                          <a:effectLst/>
                        </a:rPr>
                        <a:t>1457.6</a:t>
                      </a:r>
                      <a:endParaRPr lang="en-GB" sz="900" b="0" i="0" u="none" strike="noStrike">
                        <a:solidFill>
                          <a:srgbClr val="000000"/>
                        </a:solidFill>
                        <a:effectLst/>
                        <a:latin typeface="Calibri" panose="020F0502020204030204" pitchFamily="34" charset="0"/>
                      </a:endParaRPr>
                    </a:p>
                  </a:txBody>
                  <a:tcPr marL="2765" marR="2765" marT="2765" marB="0" anchor="ctr"/>
                </a:tc>
                <a:tc>
                  <a:txBody>
                    <a:bodyPr/>
                    <a:lstStyle/>
                    <a:p>
                      <a:pPr algn="ctr" fontAlgn="ctr"/>
                      <a:r>
                        <a:rPr lang="en-GB" sz="900" u="none" strike="noStrike">
                          <a:effectLst/>
                        </a:rPr>
                        <a:t>55213.88</a:t>
                      </a:r>
                      <a:endParaRPr lang="en-GB" sz="900" b="0" i="0" u="none" strike="noStrike">
                        <a:solidFill>
                          <a:srgbClr val="000000"/>
                        </a:solidFill>
                        <a:effectLst/>
                        <a:latin typeface="Calibri" panose="020F0502020204030204" pitchFamily="34" charset="0"/>
                      </a:endParaRPr>
                    </a:p>
                  </a:txBody>
                  <a:tcPr marL="2765" marR="2765" marT="2765" marB="0" anchor="ctr"/>
                </a:tc>
              </a:tr>
              <a:tr h="99168">
                <a:tc vMerge="1">
                  <a:txBody>
                    <a:bodyPr/>
                    <a:lstStyle/>
                    <a:p>
                      <a:endParaRPr lang="en-GB"/>
                    </a:p>
                  </a:txBody>
                  <a:tcPr/>
                </a:tc>
                <a:tc>
                  <a:txBody>
                    <a:bodyPr/>
                    <a:lstStyle/>
                    <a:p>
                      <a:pPr algn="ctr" fontAlgn="ctr"/>
                      <a:r>
                        <a:rPr lang="en-GB" sz="900" u="none" strike="noStrike">
                          <a:effectLst/>
                        </a:rPr>
                        <a:t>2nd Coat</a:t>
                      </a:r>
                      <a:endParaRPr lang="en-GB" sz="900" b="0" i="0" u="none" strike="noStrike">
                        <a:solidFill>
                          <a:srgbClr val="000000"/>
                        </a:solidFill>
                        <a:effectLst/>
                        <a:latin typeface="Calibri" panose="020F0502020204030204" pitchFamily="34" charset="0"/>
                      </a:endParaRPr>
                    </a:p>
                  </a:txBody>
                  <a:tcPr marL="2765" marR="2765" marT="2765" marB="0" anchor="ctr"/>
                </a:tc>
                <a:tc>
                  <a:txBody>
                    <a:bodyPr/>
                    <a:lstStyle/>
                    <a:p>
                      <a:pPr algn="l" fontAlgn="ctr"/>
                      <a:r>
                        <a:rPr lang="en-GB" sz="900" u="none" strike="noStrike">
                          <a:effectLst/>
                        </a:rPr>
                        <a:t>% sft</a:t>
                      </a:r>
                      <a:endParaRPr lang="en-GB" sz="900" b="0" i="0" u="none" strike="noStrike">
                        <a:solidFill>
                          <a:srgbClr val="000000"/>
                        </a:solidFill>
                        <a:effectLst/>
                        <a:latin typeface="Calibri" panose="020F0502020204030204" pitchFamily="34" charset="0"/>
                      </a:endParaRPr>
                    </a:p>
                  </a:txBody>
                  <a:tcPr marL="2765" marR="2765" marT="2765" marB="0" anchor="ctr"/>
                </a:tc>
                <a:tc>
                  <a:txBody>
                    <a:bodyPr/>
                    <a:lstStyle/>
                    <a:p>
                      <a:pPr algn="ctr" fontAlgn="ctr"/>
                      <a:r>
                        <a:rPr lang="en-GB" sz="900" u="none" strike="noStrike">
                          <a:effectLst/>
                        </a:rPr>
                        <a:t>3788.13</a:t>
                      </a:r>
                      <a:endParaRPr lang="en-GB" sz="900" b="0" i="0" u="none" strike="noStrike">
                        <a:solidFill>
                          <a:srgbClr val="000000"/>
                        </a:solidFill>
                        <a:effectLst/>
                        <a:latin typeface="Calibri" panose="020F0502020204030204" pitchFamily="34" charset="0"/>
                      </a:endParaRPr>
                    </a:p>
                  </a:txBody>
                  <a:tcPr marL="2765" marR="2765" marT="2765" marB="0" anchor="ctr"/>
                </a:tc>
                <a:tc>
                  <a:txBody>
                    <a:bodyPr/>
                    <a:lstStyle/>
                    <a:p>
                      <a:pPr algn="ctr" fontAlgn="ctr"/>
                      <a:r>
                        <a:rPr lang="en-GB" sz="900" u="none" strike="noStrike">
                          <a:effectLst/>
                        </a:rPr>
                        <a:t>742</a:t>
                      </a:r>
                      <a:endParaRPr lang="en-GB" sz="900" b="0" i="0" u="none" strike="noStrike">
                        <a:solidFill>
                          <a:srgbClr val="000000"/>
                        </a:solidFill>
                        <a:effectLst/>
                        <a:latin typeface="Calibri" panose="020F0502020204030204" pitchFamily="34" charset="0"/>
                      </a:endParaRPr>
                    </a:p>
                  </a:txBody>
                  <a:tcPr marL="2765" marR="2765" marT="2765" marB="0" anchor="ctr"/>
                </a:tc>
                <a:tc>
                  <a:txBody>
                    <a:bodyPr/>
                    <a:lstStyle/>
                    <a:p>
                      <a:pPr algn="ctr" fontAlgn="ctr"/>
                      <a:r>
                        <a:rPr lang="en-GB" sz="900" u="none" strike="noStrike">
                          <a:effectLst/>
                        </a:rPr>
                        <a:t>28106.96</a:t>
                      </a:r>
                      <a:endParaRPr lang="en-GB" sz="900" b="0" i="0" u="none" strike="noStrike">
                        <a:solidFill>
                          <a:srgbClr val="000000"/>
                        </a:solidFill>
                        <a:effectLst/>
                        <a:latin typeface="Calibri" panose="020F0502020204030204" pitchFamily="34" charset="0"/>
                      </a:endParaRPr>
                    </a:p>
                  </a:txBody>
                  <a:tcPr marL="2765" marR="2765" marT="2765" marB="0" anchor="ctr"/>
                </a:tc>
              </a:tr>
              <a:tr h="99168">
                <a:tc rowSpan="4">
                  <a:txBody>
                    <a:bodyPr/>
                    <a:lstStyle/>
                    <a:p>
                      <a:pPr algn="ctr" fontAlgn="ctr"/>
                      <a:r>
                        <a:rPr lang="en-GB" sz="900" u="none" strike="noStrike">
                          <a:effectLst/>
                        </a:rPr>
                        <a:t>9</a:t>
                      </a:r>
                      <a:endParaRPr lang="en-GB" sz="900" b="1" i="0" u="none" strike="noStrike">
                        <a:solidFill>
                          <a:srgbClr val="000000"/>
                        </a:solidFill>
                        <a:effectLst/>
                        <a:latin typeface="Arial" panose="020B0604020202020204" pitchFamily="34" charset="0"/>
                      </a:endParaRPr>
                    </a:p>
                  </a:txBody>
                  <a:tcPr marL="2765" marR="2765" marT="2765" marB="0" anchor="ctr"/>
                </a:tc>
                <a:tc>
                  <a:txBody>
                    <a:bodyPr/>
                    <a:lstStyle/>
                    <a:p>
                      <a:pPr algn="ctr" fontAlgn="ctr"/>
                      <a:r>
                        <a:rPr lang="en-GB" sz="900" u="sng" strike="noStrike">
                          <a:effectLst/>
                        </a:rPr>
                        <a:t>Varnishing</a:t>
                      </a:r>
                      <a:endParaRPr lang="en-GB" sz="900" b="1" i="0" u="sng" strike="noStrike">
                        <a:solidFill>
                          <a:srgbClr val="000000"/>
                        </a:solidFill>
                        <a:effectLst/>
                        <a:latin typeface="Arial" panose="020B0604020202020204" pitchFamily="34" charset="0"/>
                      </a:endParaRPr>
                    </a:p>
                  </a:txBody>
                  <a:tcPr marL="2765" marR="2765" marT="2765" marB="0" anchor="ctr"/>
                </a:tc>
                <a:tc rowSpan="4">
                  <a:txBody>
                    <a:bodyPr/>
                    <a:lstStyle/>
                    <a:p>
                      <a:pPr algn="ctr" fontAlgn="ctr"/>
                      <a:r>
                        <a:rPr lang="en-GB" sz="900" u="none" strike="noStrike">
                          <a:effectLst/>
                        </a:rPr>
                        <a:t>100sqft</a:t>
                      </a:r>
                      <a:endParaRPr lang="en-GB" sz="900" b="0" i="0" u="none" strike="noStrike">
                        <a:solidFill>
                          <a:srgbClr val="000000"/>
                        </a:solidFill>
                        <a:effectLst/>
                        <a:latin typeface="Arial" panose="020B0604020202020204" pitchFamily="34" charset="0"/>
                      </a:endParaRPr>
                    </a:p>
                  </a:txBody>
                  <a:tcPr marL="2765" marR="2765" marT="2765" marB="0" anchor="ctr"/>
                </a:tc>
                <a:tc rowSpan="4">
                  <a:txBody>
                    <a:bodyPr/>
                    <a:lstStyle/>
                    <a:p>
                      <a:pPr algn="ctr" fontAlgn="ctr"/>
                      <a:r>
                        <a:rPr lang="en-GB" sz="900" u="none" strike="noStrike">
                          <a:effectLst/>
                        </a:rPr>
                        <a:t>210</a:t>
                      </a:r>
                      <a:endParaRPr lang="en-GB" sz="900" b="0" i="0" u="none" strike="noStrike">
                        <a:solidFill>
                          <a:srgbClr val="000000"/>
                        </a:solidFill>
                        <a:effectLst/>
                        <a:latin typeface="Arial" panose="020B0604020202020204" pitchFamily="34" charset="0"/>
                      </a:endParaRPr>
                    </a:p>
                  </a:txBody>
                  <a:tcPr marL="2765" marR="2765" marT="2765" marB="0" anchor="ctr"/>
                </a:tc>
                <a:tc rowSpan="2">
                  <a:txBody>
                    <a:bodyPr/>
                    <a:lstStyle/>
                    <a:p>
                      <a:pPr algn="ctr" fontAlgn="ctr"/>
                      <a:r>
                        <a:rPr lang="en-GB" sz="900" u="none" strike="noStrike">
                          <a:effectLst/>
                        </a:rPr>
                        <a:t> </a:t>
                      </a:r>
                      <a:endParaRPr lang="en-GB" sz="900" b="0" i="0" u="none" strike="noStrike">
                        <a:solidFill>
                          <a:srgbClr val="000000"/>
                        </a:solidFill>
                        <a:effectLst/>
                        <a:latin typeface="Arial" panose="020B0604020202020204" pitchFamily="34" charset="0"/>
                      </a:endParaRPr>
                    </a:p>
                  </a:txBody>
                  <a:tcPr marL="2765" marR="2765" marT="2765" marB="0" anchor="ctr"/>
                </a:tc>
                <a:tc rowSpan="2">
                  <a:txBody>
                    <a:bodyPr/>
                    <a:lstStyle/>
                    <a:p>
                      <a:pPr algn="ctr" fontAlgn="ctr"/>
                      <a:r>
                        <a:rPr lang="en-GB" sz="900" u="none" strike="noStrike">
                          <a:effectLst/>
                        </a:rPr>
                        <a:t> </a:t>
                      </a:r>
                      <a:endParaRPr lang="en-GB" sz="900" b="0" i="0" u="none" strike="noStrike">
                        <a:solidFill>
                          <a:srgbClr val="000000"/>
                        </a:solidFill>
                        <a:effectLst/>
                        <a:latin typeface="Arial" panose="020B0604020202020204" pitchFamily="34" charset="0"/>
                      </a:endParaRPr>
                    </a:p>
                  </a:txBody>
                  <a:tcPr marL="2765" marR="2765" marT="2765" marB="0" anchor="ctr"/>
                </a:tc>
              </a:tr>
              <a:tr h="196377">
                <a:tc vMerge="1">
                  <a:txBody>
                    <a:bodyPr/>
                    <a:lstStyle/>
                    <a:p>
                      <a:endParaRPr lang="en-GB"/>
                    </a:p>
                  </a:txBody>
                  <a:tcPr/>
                </a:tc>
                <a:tc>
                  <a:txBody>
                    <a:bodyPr/>
                    <a:lstStyle/>
                    <a:p>
                      <a:pPr algn="ctr" fontAlgn="ctr"/>
                      <a:r>
                        <a:rPr lang="en-GB" sz="900" u="none" strike="noStrike">
                          <a:effectLst/>
                        </a:rPr>
                        <a:t>Varnishing wood work, including cleaning and preparing</a:t>
                      </a:r>
                      <a:br>
                        <a:rPr lang="en-GB" sz="900" u="none" strike="noStrike">
                          <a:effectLst/>
                        </a:rPr>
                      </a:br>
                      <a:r>
                        <a:rPr lang="en-GB" sz="900" u="none" strike="noStrike">
                          <a:effectLst/>
                        </a:rPr>
                        <a:t>surface.</a:t>
                      </a:r>
                      <a:endParaRPr lang="en-GB" sz="900" b="0" i="0" u="none" strike="noStrike">
                        <a:solidFill>
                          <a:srgbClr val="000000"/>
                        </a:solidFill>
                        <a:effectLst/>
                        <a:latin typeface="Arial" panose="020B0604020202020204" pitchFamily="34" charset="0"/>
                      </a:endParaRPr>
                    </a:p>
                  </a:txBody>
                  <a:tcPr marL="2765" marR="2765" marT="2765" marB="0" anchor="ctr"/>
                </a:tc>
                <a:tc vMerge="1">
                  <a:txBody>
                    <a:bodyPr/>
                    <a:lstStyle/>
                    <a:p>
                      <a:endParaRPr lang="en-GB"/>
                    </a:p>
                  </a:txBody>
                  <a:tcPr/>
                </a:tc>
                <a:tc vMerge="1">
                  <a:txBody>
                    <a:bodyPr/>
                    <a:lstStyle/>
                    <a:p>
                      <a:endParaRPr lang="en-GB"/>
                    </a:p>
                  </a:txBody>
                  <a:tcPr/>
                </a:tc>
                <a:tc vMerge="1">
                  <a:txBody>
                    <a:bodyPr/>
                    <a:lstStyle/>
                    <a:p>
                      <a:endParaRPr lang="en-GB"/>
                    </a:p>
                  </a:txBody>
                  <a:tcPr/>
                </a:tc>
                <a:tc vMerge="1">
                  <a:txBody>
                    <a:bodyPr/>
                    <a:lstStyle/>
                    <a:p>
                      <a:endParaRPr lang="en-GB"/>
                    </a:p>
                  </a:txBody>
                  <a:tcPr/>
                </a:tc>
              </a:tr>
              <a:tr h="99168">
                <a:tc vMerge="1">
                  <a:txBody>
                    <a:bodyPr/>
                    <a:lstStyle/>
                    <a:p>
                      <a:endParaRPr lang="en-GB"/>
                    </a:p>
                  </a:txBody>
                  <a:tcPr/>
                </a:tc>
                <a:tc>
                  <a:txBody>
                    <a:bodyPr/>
                    <a:lstStyle/>
                    <a:p>
                      <a:pPr algn="ctr" fontAlgn="ctr"/>
                      <a:r>
                        <a:rPr lang="en-GB" sz="900" u="none" strike="noStrike">
                          <a:effectLst/>
                        </a:rPr>
                        <a:t>First coat</a:t>
                      </a:r>
                      <a:endParaRPr lang="en-GB" sz="900" b="0" i="0" u="none" strike="noStrike">
                        <a:solidFill>
                          <a:srgbClr val="000000"/>
                        </a:solidFill>
                        <a:effectLst/>
                        <a:latin typeface="Arial" panose="020B0604020202020204" pitchFamily="34" charset="0"/>
                      </a:endParaRPr>
                    </a:p>
                  </a:txBody>
                  <a:tcPr marL="2765" marR="2765" marT="2765" marB="0" anchor="ctr"/>
                </a:tc>
                <a:tc vMerge="1">
                  <a:txBody>
                    <a:bodyPr/>
                    <a:lstStyle/>
                    <a:p>
                      <a:endParaRPr lang="en-GB"/>
                    </a:p>
                  </a:txBody>
                  <a:tcPr/>
                </a:tc>
                <a:tc vMerge="1">
                  <a:txBody>
                    <a:bodyPr/>
                    <a:lstStyle/>
                    <a:p>
                      <a:endParaRPr lang="en-GB"/>
                    </a:p>
                  </a:txBody>
                  <a:tcPr/>
                </a:tc>
                <a:tc>
                  <a:txBody>
                    <a:bodyPr/>
                    <a:lstStyle/>
                    <a:p>
                      <a:pPr algn="ctr" fontAlgn="ctr"/>
                      <a:r>
                        <a:rPr lang="en-GB" sz="900" u="none" strike="noStrike">
                          <a:effectLst/>
                        </a:rPr>
                        <a:t>356.65</a:t>
                      </a:r>
                      <a:endParaRPr lang="en-GB" sz="900" b="0" i="0" u="none" strike="noStrike">
                        <a:solidFill>
                          <a:srgbClr val="000000"/>
                        </a:solidFill>
                        <a:effectLst/>
                        <a:latin typeface="Arial" panose="020B0604020202020204" pitchFamily="34" charset="0"/>
                      </a:endParaRPr>
                    </a:p>
                  </a:txBody>
                  <a:tcPr marL="2765" marR="2765" marT="2765" marB="0" anchor="ctr"/>
                </a:tc>
                <a:tc>
                  <a:txBody>
                    <a:bodyPr/>
                    <a:lstStyle/>
                    <a:p>
                      <a:pPr algn="ctr" fontAlgn="ctr"/>
                      <a:r>
                        <a:rPr lang="en-GB" sz="900" u="none" strike="noStrike">
                          <a:effectLst/>
                        </a:rPr>
                        <a:t>748.965</a:t>
                      </a:r>
                      <a:endParaRPr lang="en-GB" sz="900" b="0" i="0" u="none" strike="noStrike">
                        <a:solidFill>
                          <a:srgbClr val="000000"/>
                        </a:solidFill>
                        <a:effectLst/>
                        <a:latin typeface="Arial" panose="020B0604020202020204" pitchFamily="34" charset="0"/>
                      </a:endParaRPr>
                    </a:p>
                  </a:txBody>
                  <a:tcPr marL="2765" marR="2765" marT="2765" marB="0" anchor="ctr"/>
                </a:tc>
              </a:tr>
              <a:tr h="99168">
                <a:tc vMerge="1">
                  <a:txBody>
                    <a:bodyPr/>
                    <a:lstStyle/>
                    <a:p>
                      <a:endParaRPr lang="en-GB"/>
                    </a:p>
                  </a:txBody>
                  <a:tcPr/>
                </a:tc>
                <a:tc>
                  <a:txBody>
                    <a:bodyPr/>
                    <a:lstStyle/>
                    <a:p>
                      <a:pPr algn="ctr" fontAlgn="ctr"/>
                      <a:r>
                        <a:rPr lang="en-GB" sz="900" u="none" strike="noStrike">
                          <a:effectLst/>
                        </a:rPr>
                        <a:t>Second coat</a:t>
                      </a:r>
                      <a:endParaRPr lang="en-GB" sz="900" b="0" i="0" u="none" strike="noStrike">
                        <a:solidFill>
                          <a:srgbClr val="000000"/>
                        </a:solidFill>
                        <a:effectLst/>
                        <a:latin typeface="Arial" panose="020B0604020202020204" pitchFamily="34" charset="0"/>
                      </a:endParaRPr>
                    </a:p>
                  </a:txBody>
                  <a:tcPr marL="2765" marR="2765" marT="2765" marB="0" anchor="ctr"/>
                </a:tc>
                <a:tc vMerge="1">
                  <a:txBody>
                    <a:bodyPr/>
                    <a:lstStyle/>
                    <a:p>
                      <a:endParaRPr lang="en-GB"/>
                    </a:p>
                  </a:txBody>
                  <a:tcPr/>
                </a:tc>
                <a:tc vMerge="1">
                  <a:txBody>
                    <a:bodyPr/>
                    <a:lstStyle/>
                    <a:p>
                      <a:endParaRPr lang="en-GB"/>
                    </a:p>
                  </a:txBody>
                  <a:tcPr/>
                </a:tc>
                <a:tc>
                  <a:txBody>
                    <a:bodyPr/>
                    <a:lstStyle/>
                    <a:p>
                      <a:pPr algn="ctr" fontAlgn="ctr"/>
                      <a:r>
                        <a:rPr lang="en-GB" sz="900" u="none" strike="noStrike">
                          <a:effectLst/>
                        </a:rPr>
                        <a:t>184.85</a:t>
                      </a:r>
                      <a:endParaRPr lang="en-GB" sz="900" b="0" i="0" u="none" strike="noStrike">
                        <a:solidFill>
                          <a:srgbClr val="000000"/>
                        </a:solidFill>
                        <a:effectLst/>
                        <a:latin typeface="Arial" panose="020B0604020202020204" pitchFamily="34" charset="0"/>
                      </a:endParaRPr>
                    </a:p>
                  </a:txBody>
                  <a:tcPr marL="2765" marR="2765" marT="2765" marB="0" anchor="ctr"/>
                </a:tc>
                <a:tc>
                  <a:txBody>
                    <a:bodyPr/>
                    <a:lstStyle/>
                    <a:p>
                      <a:pPr algn="ctr" fontAlgn="ctr"/>
                      <a:r>
                        <a:rPr lang="en-GB" sz="900" u="none" strike="noStrike">
                          <a:effectLst/>
                        </a:rPr>
                        <a:t>388.164</a:t>
                      </a:r>
                      <a:endParaRPr lang="en-GB" sz="900" b="0" i="0" u="none" strike="noStrike">
                        <a:solidFill>
                          <a:srgbClr val="000000"/>
                        </a:solidFill>
                        <a:effectLst/>
                        <a:latin typeface="Arial" panose="020B0604020202020204" pitchFamily="34" charset="0"/>
                      </a:endParaRPr>
                    </a:p>
                  </a:txBody>
                  <a:tcPr marL="2765" marR="2765" marT="2765" marB="0" anchor="ctr"/>
                </a:tc>
              </a:tr>
              <a:tr h="99168">
                <a:tc rowSpan="3">
                  <a:txBody>
                    <a:bodyPr/>
                    <a:lstStyle/>
                    <a:p>
                      <a:pPr algn="ctr" fontAlgn="ctr"/>
                      <a:r>
                        <a:rPr lang="en-GB" sz="900" u="none" strike="noStrike">
                          <a:effectLst/>
                        </a:rPr>
                        <a:t>10</a:t>
                      </a:r>
                      <a:endParaRPr lang="en-GB" sz="900" b="1" i="0" u="none" strike="noStrike">
                        <a:solidFill>
                          <a:srgbClr val="000000"/>
                        </a:solidFill>
                        <a:effectLst/>
                        <a:latin typeface="Arial" panose="020B0604020202020204" pitchFamily="34" charset="0"/>
                      </a:endParaRPr>
                    </a:p>
                  </a:txBody>
                  <a:tcPr marL="2765" marR="2765" marT="2765" marB="0" anchor="ctr"/>
                </a:tc>
                <a:tc>
                  <a:txBody>
                    <a:bodyPr/>
                    <a:lstStyle/>
                    <a:p>
                      <a:pPr algn="ctr" fontAlgn="ctr"/>
                      <a:r>
                        <a:rPr lang="en-GB" sz="900" u="sng" strike="noStrike">
                          <a:effectLst/>
                        </a:rPr>
                        <a:t>Skirting</a:t>
                      </a:r>
                      <a:endParaRPr lang="en-GB" sz="900" b="1" i="0" u="sng" strike="noStrike">
                        <a:solidFill>
                          <a:srgbClr val="000000"/>
                        </a:solidFill>
                        <a:effectLst/>
                        <a:latin typeface="Arial" panose="020B0604020202020204" pitchFamily="34" charset="0"/>
                      </a:endParaRPr>
                    </a:p>
                  </a:txBody>
                  <a:tcPr marL="2765" marR="2765" marT="2765" marB="0" anchor="ctr"/>
                </a:tc>
                <a:tc rowSpan="3">
                  <a:txBody>
                    <a:bodyPr/>
                    <a:lstStyle/>
                    <a:p>
                      <a:pPr algn="ctr" fontAlgn="ctr"/>
                      <a:r>
                        <a:rPr lang="en-GB" sz="900" u="none" strike="noStrike">
                          <a:effectLst/>
                        </a:rPr>
                        <a:t>100sft</a:t>
                      </a:r>
                      <a:endParaRPr lang="en-GB" sz="900" b="0" i="0" u="none" strike="noStrike">
                        <a:solidFill>
                          <a:srgbClr val="000000"/>
                        </a:solidFill>
                        <a:effectLst/>
                        <a:latin typeface="Arial" panose="020B0604020202020204" pitchFamily="34" charset="0"/>
                      </a:endParaRPr>
                    </a:p>
                  </a:txBody>
                  <a:tcPr marL="2765" marR="2765" marT="2765" marB="0" anchor="ctr"/>
                </a:tc>
                <a:tc rowSpan="3">
                  <a:txBody>
                    <a:bodyPr/>
                    <a:lstStyle/>
                    <a:p>
                      <a:pPr algn="ctr" fontAlgn="ctr"/>
                      <a:r>
                        <a:rPr lang="en-GB" sz="900" u="none" strike="noStrike">
                          <a:effectLst/>
                        </a:rPr>
                        <a:t>90.23</a:t>
                      </a:r>
                      <a:endParaRPr lang="en-GB" sz="900" b="0" i="0" u="none" strike="noStrike">
                        <a:solidFill>
                          <a:srgbClr val="000000"/>
                        </a:solidFill>
                        <a:effectLst/>
                        <a:latin typeface="Arial" panose="020B0604020202020204" pitchFamily="34" charset="0"/>
                      </a:endParaRPr>
                    </a:p>
                  </a:txBody>
                  <a:tcPr marL="2765" marR="2765" marT="2765" marB="0" anchor="ctr"/>
                </a:tc>
                <a:tc rowSpan="3">
                  <a:txBody>
                    <a:bodyPr/>
                    <a:lstStyle/>
                    <a:p>
                      <a:pPr algn="ctr" fontAlgn="ctr"/>
                      <a:r>
                        <a:rPr lang="en-GB" sz="900" u="none" strike="noStrike">
                          <a:effectLst/>
                        </a:rPr>
                        <a:t>11,410.80</a:t>
                      </a:r>
                      <a:endParaRPr lang="en-GB" sz="900" b="0" i="0" u="none" strike="noStrike">
                        <a:solidFill>
                          <a:srgbClr val="000000"/>
                        </a:solidFill>
                        <a:effectLst/>
                        <a:latin typeface="Arial" panose="020B0604020202020204" pitchFamily="34" charset="0"/>
                      </a:endParaRPr>
                    </a:p>
                  </a:txBody>
                  <a:tcPr marL="2765" marR="2765" marT="2765" marB="0" anchor="ctr"/>
                </a:tc>
                <a:tc rowSpan="3">
                  <a:txBody>
                    <a:bodyPr/>
                    <a:lstStyle/>
                    <a:p>
                      <a:pPr algn="ctr" fontAlgn="ctr"/>
                      <a:r>
                        <a:rPr lang="en-GB" sz="900" u="none" strike="noStrike">
                          <a:effectLst/>
                        </a:rPr>
                        <a:t>10295.96</a:t>
                      </a:r>
                      <a:endParaRPr lang="en-GB" sz="900" b="0" i="0" u="none" strike="noStrike">
                        <a:solidFill>
                          <a:srgbClr val="000000"/>
                        </a:solidFill>
                        <a:effectLst/>
                        <a:latin typeface="Arial" panose="020B0604020202020204" pitchFamily="34" charset="0"/>
                      </a:endParaRPr>
                    </a:p>
                  </a:txBody>
                  <a:tcPr marL="2765" marR="2765" marT="2765" marB="0" anchor="ctr"/>
                </a:tc>
              </a:tr>
              <a:tr h="293586">
                <a:tc vMerge="1">
                  <a:txBody>
                    <a:bodyPr/>
                    <a:lstStyle/>
                    <a:p>
                      <a:endParaRPr lang="en-GB"/>
                    </a:p>
                  </a:txBody>
                  <a:tcPr/>
                </a:tc>
                <a:tc>
                  <a:txBody>
                    <a:bodyPr/>
                    <a:lstStyle/>
                    <a:p>
                      <a:pPr algn="ctr" fontAlgn="ctr"/>
                      <a:r>
                        <a:rPr lang="en-GB" sz="900" u="none" strike="noStrike">
                          <a:effectLst/>
                        </a:rPr>
                        <a:t> Tile skirting laid in 1:2 cement mortar, over ¾"(20 mm) thick cement mortar, 1:2 including cement washing and</a:t>
                      </a:r>
                      <a:br>
                        <a:rPr lang="en-GB" sz="900" u="none" strike="noStrike">
                          <a:effectLst/>
                        </a:rPr>
                      </a:br>
                      <a:r>
                        <a:rPr lang="en-GB" sz="900" u="none" strike="noStrike">
                          <a:effectLst/>
                        </a:rPr>
                        <a:t>filling joints complete:-                               b) mosaic tiles                           </a:t>
                      </a:r>
                      <a:endParaRPr lang="en-GB" sz="900" b="0" i="0" u="none" strike="noStrike">
                        <a:solidFill>
                          <a:srgbClr val="000000"/>
                        </a:solidFill>
                        <a:effectLst/>
                        <a:latin typeface="Arial" panose="020B0604020202020204" pitchFamily="34" charset="0"/>
                      </a:endParaRPr>
                    </a:p>
                  </a:txBody>
                  <a:tcPr marL="2765" marR="2765" marT="2765" marB="0" anchor="ctr"/>
                </a:tc>
                <a:tc vMerge="1">
                  <a:txBody>
                    <a:bodyPr/>
                    <a:lstStyle/>
                    <a:p>
                      <a:endParaRPr lang="en-GB"/>
                    </a:p>
                  </a:txBody>
                  <a:tcPr/>
                </a:tc>
                <a:tc vMerge="1">
                  <a:txBody>
                    <a:bodyPr/>
                    <a:lstStyle/>
                    <a:p>
                      <a:endParaRPr lang="en-GB"/>
                    </a:p>
                  </a:txBody>
                  <a:tcPr/>
                </a:tc>
                <a:tc vMerge="1">
                  <a:txBody>
                    <a:bodyPr/>
                    <a:lstStyle/>
                    <a:p>
                      <a:endParaRPr lang="en-GB"/>
                    </a:p>
                  </a:txBody>
                  <a:tcPr/>
                </a:tc>
                <a:tc vMerge="1">
                  <a:txBody>
                    <a:bodyPr/>
                    <a:lstStyle/>
                    <a:p>
                      <a:endParaRPr lang="en-GB"/>
                    </a:p>
                  </a:txBody>
                  <a:tcPr/>
                </a:tc>
              </a:tr>
              <a:tr h="99168">
                <a:tc vMerge="1">
                  <a:txBody>
                    <a:bodyPr/>
                    <a:lstStyle/>
                    <a:p>
                      <a:endParaRPr lang="en-GB"/>
                    </a:p>
                  </a:txBody>
                  <a:tcPr/>
                </a:tc>
                <a:tc>
                  <a:txBody>
                    <a:bodyPr/>
                    <a:lstStyle/>
                    <a:p>
                      <a:pPr algn="ctr" fontAlgn="ctr"/>
                      <a:r>
                        <a:rPr lang="en-GB" sz="900" u="none" strike="noStrike">
                          <a:effectLst/>
                        </a:rPr>
                        <a:t> </a:t>
                      </a:r>
                      <a:endParaRPr lang="en-GB" sz="900" b="0" i="0" u="none" strike="noStrike">
                        <a:solidFill>
                          <a:srgbClr val="000000"/>
                        </a:solidFill>
                        <a:effectLst/>
                        <a:latin typeface="Arial" panose="020B0604020202020204" pitchFamily="34" charset="0"/>
                      </a:endParaRPr>
                    </a:p>
                  </a:txBody>
                  <a:tcPr marL="2765" marR="2765" marT="2765" marB="0" anchor="ctr"/>
                </a:tc>
                <a:tc vMerge="1">
                  <a:txBody>
                    <a:bodyPr/>
                    <a:lstStyle/>
                    <a:p>
                      <a:endParaRPr lang="en-GB"/>
                    </a:p>
                  </a:txBody>
                  <a:tcPr/>
                </a:tc>
                <a:tc vMerge="1">
                  <a:txBody>
                    <a:bodyPr/>
                    <a:lstStyle/>
                    <a:p>
                      <a:endParaRPr lang="en-GB"/>
                    </a:p>
                  </a:txBody>
                  <a:tcPr/>
                </a:tc>
                <a:tc vMerge="1">
                  <a:txBody>
                    <a:bodyPr/>
                    <a:lstStyle/>
                    <a:p>
                      <a:endParaRPr lang="en-GB"/>
                    </a:p>
                  </a:txBody>
                  <a:tcPr/>
                </a:tc>
                <a:tc vMerge="1">
                  <a:txBody>
                    <a:bodyPr/>
                    <a:lstStyle/>
                    <a:p>
                      <a:endParaRPr lang="en-GB"/>
                    </a:p>
                  </a:txBody>
                  <a:tcPr/>
                </a:tc>
              </a:tr>
              <a:tr h="99168">
                <a:tc rowSpan="6">
                  <a:txBody>
                    <a:bodyPr/>
                    <a:lstStyle/>
                    <a:p>
                      <a:pPr algn="ctr" fontAlgn="ctr"/>
                      <a:r>
                        <a:rPr lang="en-GB" sz="900" u="none" strike="noStrike">
                          <a:effectLst/>
                        </a:rPr>
                        <a:t>11</a:t>
                      </a:r>
                      <a:endParaRPr lang="en-GB" sz="900" b="1" i="0" u="none" strike="noStrike">
                        <a:solidFill>
                          <a:srgbClr val="000000"/>
                        </a:solidFill>
                        <a:effectLst/>
                        <a:latin typeface="Arial" panose="020B0604020202020204" pitchFamily="34" charset="0"/>
                      </a:endParaRPr>
                    </a:p>
                  </a:txBody>
                  <a:tcPr marL="2765" marR="2765" marT="2765" marB="0" anchor="ctr"/>
                </a:tc>
                <a:tc>
                  <a:txBody>
                    <a:bodyPr/>
                    <a:lstStyle/>
                    <a:p>
                      <a:pPr algn="ctr" fontAlgn="ctr"/>
                      <a:r>
                        <a:rPr lang="en-GB" sz="900" u="sng" strike="noStrike">
                          <a:effectLst/>
                        </a:rPr>
                        <a:t>Flooring</a:t>
                      </a:r>
                      <a:endParaRPr lang="en-GB" sz="900" b="1" i="0" u="sng" strike="noStrike">
                        <a:solidFill>
                          <a:srgbClr val="000000"/>
                        </a:solidFill>
                        <a:effectLst/>
                        <a:latin typeface="Arial" panose="020B0604020202020204" pitchFamily="34" charset="0"/>
                      </a:endParaRPr>
                    </a:p>
                  </a:txBody>
                  <a:tcPr marL="2765" marR="2765" marT="2765" marB="0" anchor="ctr"/>
                </a:tc>
                <a:tc rowSpan="2">
                  <a:txBody>
                    <a:bodyPr/>
                    <a:lstStyle/>
                    <a:p>
                      <a:pPr algn="ctr" fontAlgn="ctr"/>
                      <a:r>
                        <a:rPr lang="en-GB" sz="900" u="none" strike="noStrike">
                          <a:effectLst/>
                        </a:rPr>
                        <a:t>100sft</a:t>
                      </a:r>
                      <a:endParaRPr lang="en-GB" sz="900" b="0" i="0" u="none" strike="noStrike">
                        <a:solidFill>
                          <a:srgbClr val="000000"/>
                        </a:solidFill>
                        <a:effectLst/>
                        <a:latin typeface="Arial" panose="020B0604020202020204" pitchFamily="34" charset="0"/>
                      </a:endParaRPr>
                    </a:p>
                  </a:txBody>
                  <a:tcPr marL="2765" marR="2765" marT="2765" marB="0" anchor="ctr"/>
                </a:tc>
                <a:tc rowSpan="2">
                  <a:txBody>
                    <a:bodyPr/>
                    <a:lstStyle/>
                    <a:p>
                      <a:pPr algn="ctr" fontAlgn="ctr"/>
                      <a:r>
                        <a:rPr lang="en-GB" sz="900" u="none" strike="noStrike">
                          <a:effectLst/>
                        </a:rPr>
                        <a:t>4286.5</a:t>
                      </a:r>
                      <a:endParaRPr lang="en-GB" sz="900" b="0" i="0" u="none" strike="noStrike">
                        <a:solidFill>
                          <a:srgbClr val="000000"/>
                        </a:solidFill>
                        <a:effectLst/>
                        <a:latin typeface="Arial" panose="020B0604020202020204" pitchFamily="34" charset="0"/>
                      </a:endParaRPr>
                    </a:p>
                  </a:txBody>
                  <a:tcPr marL="2765" marR="2765" marT="2765" marB="0" anchor="ctr"/>
                </a:tc>
                <a:tc rowSpan="2">
                  <a:txBody>
                    <a:bodyPr/>
                    <a:lstStyle/>
                    <a:p>
                      <a:pPr algn="ctr" fontAlgn="ctr"/>
                      <a:r>
                        <a:rPr lang="en-GB" sz="900" u="none" strike="noStrike">
                          <a:effectLst/>
                        </a:rPr>
                        <a:t>1,437.10</a:t>
                      </a:r>
                      <a:endParaRPr lang="en-GB" sz="900" b="0" i="0" u="none" strike="noStrike">
                        <a:solidFill>
                          <a:srgbClr val="000000"/>
                        </a:solidFill>
                        <a:effectLst/>
                        <a:latin typeface="Arial" panose="020B0604020202020204" pitchFamily="34" charset="0"/>
                      </a:endParaRPr>
                    </a:p>
                  </a:txBody>
                  <a:tcPr marL="2765" marR="2765" marT="2765" marB="0" anchor="ctr"/>
                </a:tc>
                <a:tc rowSpan="2">
                  <a:txBody>
                    <a:bodyPr/>
                    <a:lstStyle/>
                    <a:p>
                      <a:pPr algn="ctr" fontAlgn="ctr"/>
                      <a:r>
                        <a:rPr lang="en-GB" sz="900" u="none" strike="noStrike">
                          <a:effectLst/>
                        </a:rPr>
                        <a:t>61601.29</a:t>
                      </a:r>
                      <a:endParaRPr lang="en-GB" sz="900" b="0" i="0" u="none" strike="noStrike">
                        <a:solidFill>
                          <a:srgbClr val="000000"/>
                        </a:solidFill>
                        <a:effectLst/>
                        <a:latin typeface="Arial" panose="020B0604020202020204" pitchFamily="34" charset="0"/>
                      </a:endParaRPr>
                    </a:p>
                  </a:txBody>
                  <a:tcPr marL="2765" marR="2765" marT="2765" marB="0" anchor="ctr"/>
                </a:tc>
              </a:tr>
              <a:tr h="196377">
                <a:tc vMerge="1">
                  <a:txBody>
                    <a:bodyPr/>
                    <a:lstStyle/>
                    <a:p>
                      <a:endParaRPr lang="en-GB"/>
                    </a:p>
                  </a:txBody>
                  <a:tcPr/>
                </a:tc>
                <a:tc>
                  <a:txBody>
                    <a:bodyPr/>
                    <a:lstStyle/>
                    <a:p>
                      <a:pPr algn="ctr" fontAlgn="ctr"/>
                      <a:r>
                        <a:rPr lang="en-GB" sz="900" u="none" strike="noStrike">
                          <a:effectLst/>
                        </a:rPr>
                        <a:t>Earth flooring, consisting of 6"(150 mm) thick consolidated layer of moistened earth, including ramming.</a:t>
                      </a:r>
                      <a:endParaRPr lang="en-GB" sz="900" b="0" i="0" u="none" strike="noStrike">
                        <a:solidFill>
                          <a:srgbClr val="000000"/>
                        </a:solidFill>
                        <a:effectLst/>
                        <a:latin typeface="Arial" panose="020B0604020202020204" pitchFamily="34" charset="0"/>
                      </a:endParaRPr>
                    </a:p>
                  </a:txBody>
                  <a:tcPr marL="2765" marR="2765" marT="2765" marB="0" anchor="ctr"/>
                </a:tc>
                <a:tc vMerge="1">
                  <a:txBody>
                    <a:bodyPr/>
                    <a:lstStyle/>
                    <a:p>
                      <a:endParaRPr lang="en-GB"/>
                    </a:p>
                  </a:txBody>
                  <a:tcPr/>
                </a:tc>
                <a:tc vMerge="1">
                  <a:txBody>
                    <a:bodyPr/>
                    <a:lstStyle/>
                    <a:p>
                      <a:endParaRPr lang="en-GB"/>
                    </a:p>
                  </a:txBody>
                  <a:tcPr/>
                </a:tc>
                <a:tc vMerge="1">
                  <a:txBody>
                    <a:bodyPr/>
                    <a:lstStyle/>
                    <a:p>
                      <a:endParaRPr lang="en-GB"/>
                    </a:p>
                  </a:txBody>
                  <a:tcPr/>
                </a:tc>
                <a:tc vMerge="1">
                  <a:txBody>
                    <a:bodyPr/>
                    <a:lstStyle/>
                    <a:p>
                      <a:endParaRPr lang="en-GB"/>
                    </a:p>
                  </a:txBody>
                  <a:tcPr/>
                </a:tc>
              </a:tr>
              <a:tr h="293586">
                <a:tc vMerge="1">
                  <a:txBody>
                    <a:bodyPr/>
                    <a:lstStyle/>
                    <a:p>
                      <a:endParaRPr lang="en-GB"/>
                    </a:p>
                  </a:txBody>
                  <a:tcPr/>
                </a:tc>
                <a:tc>
                  <a:txBody>
                    <a:bodyPr/>
                    <a:lstStyle/>
                    <a:p>
                      <a:pPr algn="ctr" fontAlgn="ctr"/>
                      <a:r>
                        <a:rPr lang="en-GB" sz="900" u="none" strike="noStrike">
                          <a:effectLst/>
                        </a:rPr>
                        <a:t>Providing, laying, watering and ramming brick ballast 1½" to 2"(40 mm to 50 mm) gauge mixed with 25% sand, for floor foundation, complete in all respects.                      </a:t>
                      </a:r>
                      <a:endParaRPr lang="en-GB" sz="900" b="0" i="0" u="none" strike="noStrike">
                        <a:solidFill>
                          <a:srgbClr val="000000"/>
                        </a:solidFill>
                        <a:effectLst/>
                        <a:latin typeface="Arial" panose="020B0604020202020204" pitchFamily="34" charset="0"/>
                      </a:endParaRPr>
                    </a:p>
                  </a:txBody>
                  <a:tcPr marL="2765" marR="2765" marT="2765" marB="0" anchor="ctr"/>
                </a:tc>
                <a:tc>
                  <a:txBody>
                    <a:bodyPr/>
                    <a:lstStyle/>
                    <a:p>
                      <a:pPr algn="ctr" fontAlgn="ctr"/>
                      <a:r>
                        <a:rPr lang="en-GB" sz="900" u="none" strike="noStrike">
                          <a:effectLst/>
                        </a:rPr>
                        <a:t>100cft</a:t>
                      </a:r>
                      <a:endParaRPr lang="en-GB" sz="900" b="0" i="0" u="none" strike="noStrike">
                        <a:solidFill>
                          <a:srgbClr val="000000"/>
                        </a:solidFill>
                        <a:effectLst/>
                        <a:latin typeface="Arial" panose="020B0604020202020204" pitchFamily="34" charset="0"/>
                      </a:endParaRPr>
                    </a:p>
                  </a:txBody>
                  <a:tcPr marL="2765" marR="2765" marT="2765" marB="0" anchor="ctr"/>
                </a:tc>
                <a:tc>
                  <a:txBody>
                    <a:bodyPr/>
                    <a:lstStyle/>
                    <a:p>
                      <a:pPr algn="ctr" fontAlgn="ctr"/>
                      <a:r>
                        <a:rPr lang="en-GB" sz="900" u="none" strike="noStrike">
                          <a:effectLst/>
                        </a:rPr>
                        <a:t>494.74</a:t>
                      </a:r>
                      <a:endParaRPr lang="en-GB" sz="900" b="0" i="0" u="none" strike="noStrike">
                        <a:solidFill>
                          <a:srgbClr val="000000"/>
                        </a:solidFill>
                        <a:effectLst/>
                        <a:latin typeface="Arial" panose="020B0604020202020204" pitchFamily="34" charset="0"/>
                      </a:endParaRPr>
                    </a:p>
                  </a:txBody>
                  <a:tcPr marL="2765" marR="2765" marT="2765" marB="0" anchor="ctr"/>
                </a:tc>
                <a:tc>
                  <a:txBody>
                    <a:bodyPr/>
                    <a:lstStyle/>
                    <a:p>
                      <a:pPr algn="ctr" fontAlgn="ctr"/>
                      <a:r>
                        <a:rPr lang="en-GB" sz="900" u="none" strike="noStrike">
                          <a:effectLst/>
                        </a:rPr>
                        <a:t>4668.15</a:t>
                      </a:r>
                      <a:endParaRPr lang="en-GB" sz="900" b="0" i="0" u="none" strike="noStrike">
                        <a:solidFill>
                          <a:srgbClr val="000000"/>
                        </a:solidFill>
                        <a:effectLst/>
                        <a:latin typeface="Arial" panose="020B0604020202020204" pitchFamily="34" charset="0"/>
                      </a:endParaRPr>
                    </a:p>
                  </a:txBody>
                  <a:tcPr marL="2765" marR="2765" marT="2765" marB="0" anchor="ctr"/>
                </a:tc>
                <a:tc>
                  <a:txBody>
                    <a:bodyPr/>
                    <a:lstStyle/>
                    <a:p>
                      <a:pPr algn="ctr" fontAlgn="ctr"/>
                      <a:r>
                        <a:rPr lang="en-GB" sz="900" u="none" strike="noStrike">
                          <a:effectLst/>
                        </a:rPr>
                        <a:t>23095.2</a:t>
                      </a:r>
                      <a:endParaRPr lang="en-GB" sz="900" b="0" i="0" u="none" strike="noStrike">
                        <a:solidFill>
                          <a:srgbClr val="000000"/>
                        </a:solidFill>
                        <a:effectLst/>
                        <a:latin typeface="Arial" panose="020B0604020202020204" pitchFamily="34" charset="0"/>
                      </a:endParaRPr>
                    </a:p>
                  </a:txBody>
                  <a:tcPr marL="2765" marR="2765" marT="2765" marB="0" anchor="ctr"/>
                </a:tc>
              </a:tr>
              <a:tr h="99168">
                <a:tc vMerge="1">
                  <a:txBody>
                    <a:bodyPr/>
                    <a:lstStyle/>
                    <a:p>
                      <a:endParaRPr lang="en-GB"/>
                    </a:p>
                  </a:txBody>
                  <a:tcPr/>
                </a:tc>
                <a:tc>
                  <a:txBody>
                    <a:bodyPr/>
                    <a:lstStyle/>
                    <a:p>
                      <a:pPr algn="ctr" fontAlgn="ctr"/>
                      <a:r>
                        <a:rPr lang="en-GB" sz="900" u="none" strike="noStrike">
                          <a:effectLst/>
                        </a:rPr>
                        <a:t>Cement plaster 1:2 upto 20' (6.00 m) height:- ½" (13 mm) thick</a:t>
                      </a:r>
                      <a:endParaRPr lang="en-GB" sz="900" b="0" i="0" u="none" strike="noStrike">
                        <a:solidFill>
                          <a:srgbClr val="000000"/>
                        </a:solidFill>
                        <a:effectLst/>
                        <a:latin typeface="Arial" panose="020B0604020202020204" pitchFamily="34" charset="0"/>
                      </a:endParaRPr>
                    </a:p>
                  </a:txBody>
                  <a:tcPr marL="2765" marR="2765" marT="2765" marB="0" anchor="ctr"/>
                </a:tc>
                <a:tc>
                  <a:txBody>
                    <a:bodyPr/>
                    <a:lstStyle/>
                    <a:p>
                      <a:pPr algn="ctr" fontAlgn="ctr"/>
                      <a:r>
                        <a:rPr lang="en-GB" sz="900" u="none" strike="noStrike">
                          <a:effectLst/>
                        </a:rPr>
                        <a:t>100cft</a:t>
                      </a:r>
                      <a:endParaRPr lang="en-GB" sz="900" b="0" i="0" u="none" strike="noStrike">
                        <a:solidFill>
                          <a:srgbClr val="000000"/>
                        </a:solidFill>
                        <a:effectLst/>
                        <a:latin typeface="Arial" panose="020B0604020202020204" pitchFamily="34" charset="0"/>
                      </a:endParaRPr>
                    </a:p>
                  </a:txBody>
                  <a:tcPr marL="2765" marR="2765" marT="2765" marB="0" anchor="ctr"/>
                </a:tc>
                <a:tc>
                  <a:txBody>
                    <a:bodyPr/>
                    <a:lstStyle/>
                    <a:p>
                      <a:pPr algn="ctr" fontAlgn="ctr"/>
                      <a:r>
                        <a:rPr lang="en-GB" sz="900" u="none" strike="noStrike">
                          <a:effectLst/>
                        </a:rPr>
                        <a:t>76.88</a:t>
                      </a:r>
                      <a:endParaRPr lang="en-GB" sz="900" b="0" i="0" u="none" strike="noStrike">
                        <a:solidFill>
                          <a:srgbClr val="000000"/>
                        </a:solidFill>
                        <a:effectLst/>
                        <a:latin typeface="Arial" panose="020B0604020202020204" pitchFamily="34" charset="0"/>
                      </a:endParaRPr>
                    </a:p>
                  </a:txBody>
                  <a:tcPr marL="2765" marR="2765" marT="2765" marB="0" anchor="ctr"/>
                </a:tc>
                <a:tc>
                  <a:txBody>
                    <a:bodyPr/>
                    <a:lstStyle/>
                    <a:p>
                      <a:pPr algn="ctr" fontAlgn="ctr"/>
                      <a:r>
                        <a:rPr lang="en-GB" sz="900" u="none" strike="noStrike">
                          <a:effectLst/>
                        </a:rPr>
                        <a:t>2207.15</a:t>
                      </a:r>
                      <a:endParaRPr lang="en-GB" sz="900" b="0" i="0" u="none" strike="noStrike">
                        <a:solidFill>
                          <a:srgbClr val="000000"/>
                        </a:solidFill>
                        <a:effectLst/>
                        <a:latin typeface="Arial" panose="020B0604020202020204" pitchFamily="34" charset="0"/>
                      </a:endParaRPr>
                    </a:p>
                  </a:txBody>
                  <a:tcPr marL="2765" marR="2765" marT="2765" marB="0" anchor="ctr"/>
                </a:tc>
                <a:tc>
                  <a:txBody>
                    <a:bodyPr/>
                    <a:lstStyle/>
                    <a:p>
                      <a:pPr algn="ctr" fontAlgn="ctr"/>
                      <a:r>
                        <a:rPr lang="en-GB" sz="900" u="none" strike="noStrike">
                          <a:effectLst/>
                        </a:rPr>
                        <a:t>1696.85</a:t>
                      </a:r>
                      <a:endParaRPr lang="en-GB" sz="900" b="0" i="0" u="none" strike="noStrike">
                        <a:solidFill>
                          <a:srgbClr val="000000"/>
                        </a:solidFill>
                        <a:effectLst/>
                        <a:latin typeface="Arial" panose="020B0604020202020204" pitchFamily="34" charset="0"/>
                      </a:endParaRPr>
                    </a:p>
                  </a:txBody>
                  <a:tcPr marL="2765" marR="2765" marT="2765" marB="0" anchor="ctr"/>
                </a:tc>
              </a:tr>
              <a:tr h="196377">
                <a:tc vMerge="1">
                  <a:txBody>
                    <a:bodyPr/>
                    <a:lstStyle/>
                    <a:p>
                      <a:endParaRPr lang="en-GB"/>
                    </a:p>
                  </a:txBody>
                  <a:tcPr/>
                </a:tc>
                <a:tc>
                  <a:txBody>
                    <a:bodyPr/>
                    <a:lstStyle/>
                    <a:p>
                      <a:pPr algn="ctr" fontAlgn="ctr"/>
                      <a:r>
                        <a:rPr lang="en-GB" sz="900" u="none" strike="noStrike">
                          <a:effectLst/>
                        </a:rPr>
                        <a:t>Cement concreting using washed screened and graded stone aggregate:  ratio 1:4:8</a:t>
                      </a:r>
                      <a:endParaRPr lang="en-GB" sz="900" b="0" i="0" u="none" strike="noStrike">
                        <a:solidFill>
                          <a:srgbClr val="000000"/>
                        </a:solidFill>
                        <a:effectLst/>
                        <a:latin typeface="Arial" panose="020B0604020202020204" pitchFamily="34" charset="0"/>
                      </a:endParaRPr>
                    </a:p>
                  </a:txBody>
                  <a:tcPr marL="2765" marR="2765" marT="2765" marB="0" anchor="ctr"/>
                </a:tc>
                <a:tc>
                  <a:txBody>
                    <a:bodyPr/>
                    <a:lstStyle/>
                    <a:p>
                      <a:pPr algn="ctr" fontAlgn="ctr"/>
                      <a:r>
                        <a:rPr lang="en-GB" sz="900" u="none" strike="noStrike">
                          <a:effectLst/>
                        </a:rPr>
                        <a:t>100cft</a:t>
                      </a:r>
                      <a:endParaRPr lang="en-GB" sz="900" b="0" i="0" u="none" strike="noStrike">
                        <a:solidFill>
                          <a:srgbClr val="000000"/>
                        </a:solidFill>
                        <a:effectLst/>
                        <a:latin typeface="Arial" panose="020B0604020202020204" pitchFamily="34" charset="0"/>
                      </a:endParaRPr>
                    </a:p>
                  </a:txBody>
                  <a:tcPr marL="2765" marR="2765" marT="2765" marB="0" anchor="ctr"/>
                </a:tc>
                <a:tc>
                  <a:txBody>
                    <a:bodyPr/>
                    <a:lstStyle/>
                    <a:p>
                      <a:pPr algn="ctr" fontAlgn="ctr"/>
                      <a:r>
                        <a:rPr lang="en-GB" sz="900" u="none" strike="noStrike">
                          <a:effectLst/>
                        </a:rPr>
                        <a:t>435.27</a:t>
                      </a:r>
                      <a:endParaRPr lang="en-GB" sz="900" b="0" i="0" u="none" strike="noStrike">
                        <a:solidFill>
                          <a:srgbClr val="000000"/>
                        </a:solidFill>
                        <a:effectLst/>
                        <a:latin typeface="Arial" panose="020B0604020202020204" pitchFamily="34" charset="0"/>
                      </a:endParaRPr>
                    </a:p>
                  </a:txBody>
                  <a:tcPr marL="2765" marR="2765" marT="2765" marB="0" anchor="ctr"/>
                </a:tc>
                <a:tc>
                  <a:txBody>
                    <a:bodyPr/>
                    <a:lstStyle/>
                    <a:p>
                      <a:pPr algn="ctr" fontAlgn="ctr"/>
                      <a:r>
                        <a:rPr lang="en-GB" sz="900" u="none" strike="noStrike">
                          <a:effectLst/>
                        </a:rPr>
                        <a:t>17597</a:t>
                      </a:r>
                      <a:endParaRPr lang="en-GB" sz="900" b="0" i="0" u="none" strike="noStrike">
                        <a:solidFill>
                          <a:srgbClr val="000000"/>
                        </a:solidFill>
                        <a:effectLst/>
                        <a:latin typeface="Arial" panose="020B0604020202020204" pitchFamily="34" charset="0"/>
                      </a:endParaRPr>
                    </a:p>
                  </a:txBody>
                  <a:tcPr marL="2765" marR="2765" marT="2765" marB="0" anchor="ctr"/>
                </a:tc>
                <a:tc>
                  <a:txBody>
                    <a:bodyPr/>
                    <a:lstStyle/>
                    <a:p>
                      <a:pPr algn="ctr" fontAlgn="ctr"/>
                      <a:r>
                        <a:rPr lang="en-GB" sz="900" u="none" strike="noStrike">
                          <a:effectLst/>
                        </a:rPr>
                        <a:t>76594.46</a:t>
                      </a:r>
                      <a:endParaRPr lang="en-GB" sz="900" b="0" i="0" u="none" strike="noStrike">
                        <a:solidFill>
                          <a:srgbClr val="000000"/>
                        </a:solidFill>
                        <a:effectLst/>
                        <a:latin typeface="Arial" panose="020B0604020202020204" pitchFamily="34" charset="0"/>
                      </a:endParaRPr>
                    </a:p>
                  </a:txBody>
                  <a:tcPr marL="2765" marR="2765" marT="2765" marB="0" anchor="ctr"/>
                </a:tc>
              </a:tr>
              <a:tr h="293586">
                <a:tc vMerge="1">
                  <a:txBody>
                    <a:bodyPr/>
                    <a:lstStyle/>
                    <a:p>
                      <a:endParaRPr lang="en-GB"/>
                    </a:p>
                  </a:txBody>
                  <a:tcPr/>
                </a:tc>
                <a:tc>
                  <a:txBody>
                    <a:bodyPr/>
                    <a:lstStyle/>
                    <a:p>
                      <a:pPr algn="ctr" fontAlgn="ctr"/>
                      <a:r>
                        <a:rPr lang="en-GB" sz="900" u="none" strike="noStrike">
                          <a:effectLst/>
                        </a:rPr>
                        <a:t>White glazed tile (6"x6"x¼") (6 mm) thick dado jointed in white cement and laid over 1:2 cement sand mortar 3/4" (20mm)</a:t>
                      </a:r>
                      <a:br>
                        <a:rPr lang="en-GB" sz="900" u="none" strike="noStrike">
                          <a:effectLst/>
                        </a:rPr>
                      </a:br>
                      <a:r>
                        <a:rPr lang="en-GB" sz="900" u="none" strike="noStrike">
                          <a:effectLst/>
                        </a:rPr>
                        <a:t>thick, including finishing.</a:t>
                      </a:r>
                      <a:endParaRPr lang="en-GB" sz="900" b="0" i="0" u="none" strike="noStrike">
                        <a:solidFill>
                          <a:srgbClr val="000000"/>
                        </a:solidFill>
                        <a:effectLst/>
                        <a:latin typeface="Arial" panose="020B0604020202020204" pitchFamily="34" charset="0"/>
                      </a:endParaRPr>
                    </a:p>
                  </a:txBody>
                  <a:tcPr marL="2765" marR="2765" marT="2765" marB="0" anchor="ctr"/>
                </a:tc>
                <a:tc>
                  <a:txBody>
                    <a:bodyPr/>
                    <a:lstStyle/>
                    <a:p>
                      <a:pPr algn="ctr" fontAlgn="ctr"/>
                      <a:r>
                        <a:rPr lang="en-GB" sz="900" u="none" strike="noStrike">
                          <a:effectLst/>
                        </a:rPr>
                        <a:t>100sft</a:t>
                      </a:r>
                      <a:endParaRPr lang="en-GB" sz="900" b="0" i="0" u="none" strike="noStrike">
                        <a:solidFill>
                          <a:srgbClr val="000000"/>
                        </a:solidFill>
                        <a:effectLst/>
                        <a:latin typeface="Arial" panose="020B0604020202020204" pitchFamily="34" charset="0"/>
                      </a:endParaRPr>
                    </a:p>
                  </a:txBody>
                  <a:tcPr marL="2765" marR="2765" marT="2765" marB="0" anchor="ctr"/>
                </a:tc>
                <a:tc>
                  <a:txBody>
                    <a:bodyPr/>
                    <a:lstStyle/>
                    <a:p>
                      <a:pPr algn="ctr" fontAlgn="ctr"/>
                      <a:r>
                        <a:rPr lang="en-GB" sz="900" u="none" strike="noStrike">
                          <a:effectLst/>
                        </a:rPr>
                        <a:t>1381.942</a:t>
                      </a:r>
                      <a:endParaRPr lang="en-GB" sz="900" b="0" i="0" u="none" strike="noStrike">
                        <a:solidFill>
                          <a:srgbClr val="000000"/>
                        </a:solidFill>
                        <a:effectLst/>
                        <a:latin typeface="Arial" panose="020B0604020202020204" pitchFamily="34" charset="0"/>
                      </a:endParaRPr>
                    </a:p>
                  </a:txBody>
                  <a:tcPr marL="2765" marR="2765" marT="2765" marB="0" anchor="ctr"/>
                </a:tc>
                <a:tc>
                  <a:txBody>
                    <a:bodyPr/>
                    <a:lstStyle/>
                    <a:p>
                      <a:pPr algn="ctr" fontAlgn="ctr"/>
                      <a:r>
                        <a:rPr lang="en-GB" sz="900" u="none" strike="noStrike">
                          <a:effectLst/>
                        </a:rPr>
                        <a:t>15,743.60</a:t>
                      </a:r>
                      <a:endParaRPr lang="en-GB" sz="900" b="0" i="0" u="none" strike="noStrike">
                        <a:solidFill>
                          <a:srgbClr val="000000"/>
                        </a:solidFill>
                        <a:effectLst/>
                        <a:latin typeface="Arial" panose="020B0604020202020204" pitchFamily="34" charset="0"/>
                      </a:endParaRPr>
                    </a:p>
                  </a:txBody>
                  <a:tcPr marL="2765" marR="2765" marT="2765" marB="0" anchor="ctr"/>
                </a:tc>
                <a:tc>
                  <a:txBody>
                    <a:bodyPr/>
                    <a:lstStyle/>
                    <a:p>
                      <a:pPr algn="ctr" fontAlgn="ctr"/>
                      <a:r>
                        <a:rPr lang="en-GB" sz="900" u="none" strike="noStrike" dirty="0">
                          <a:effectLst/>
                        </a:rPr>
                        <a:t>217567.42</a:t>
                      </a:r>
                      <a:endParaRPr lang="en-GB" sz="900" b="0" i="0" u="none" strike="noStrike" dirty="0">
                        <a:solidFill>
                          <a:srgbClr val="000000"/>
                        </a:solidFill>
                        <a:effectLst/>
                        <a:latin typeface="Arial" panose="020B0604020202020204" pitchFamily="34" charset="0"/>
                      </a:endParaRPr>
                    </a:p>
                  </a:txBody>
                  <a:tcPr marL="2765" marR="2765" marT="2765" marB="0" anchor="ctr"/>
                </a:tc>
              </a:tr>
            </a:tbl>
          </a:graphicData>
        </a:graphic>
      </p:graphicFrame>
    </p:spTree>
    <p:extLst>
      <p:ext uri="{BB962C8B-B14F-4D97-AF65-F5344CB8AC3E}">
        <p14:creationId xmlns:p14="http://schemas.microsoft.com/office/powerpoint/2010/main" val="3048218130"/>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B044332-3263-44D5-AFA1-4EDF1AFC60D8}"/>
              </a:ext>
            </a:extLst>
          </p:cNvPr>
          <p:cNvSpPr>
            <a:spLocks noGrp="1"/>
          </p:cNvSpPr>
          <p:nvPr>
            <p:ph type="title"/>
          </p:nvPr>
        </p:nvSpPr>
        <p:spPr/>
        <p:txBody>
          <a:bodyPr>
            <a:normAutofit/>
          </a:bodyPr>
          <a:lstStyle/>
          <a:p>
            <a:r>
              <a:rPr lang="en-US" dirty="0"/>
              <a:t>BOQ </a:t>
            </a:r>
            <a:r>
              <a:rPr lang="en-US" dirty="0" smtClean="0"/>
              <a:t>CONTINUED…</a:t>
            </a:r>
            <a:endParaRPr lang="en-US"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270544674"/>
              </p:ext>
            </p:extLst>
          </p:nvPr>
        </p:nvGraphicFramePr>
        <p:xfrm>
          <a:off x="510241" y="1197405"/>
          <a:ext cx="7787955" cy="3795836"/>
        </p:xfrm>
        <a:graphic>
          <a:graphicData uri="http://schemas.openxmlformats.org/drawingml/2006/table">
            <a:tbl>
              <a:tblPr>
                <a:tableStyleId>{5C22544A-7EE6-4342-B048-85BDC9FD1C3A}</a:tableStyleId>
              </a:tblPr>
              <a:tblGrid>
                <a:gridCol w="310758"/>
                <a:gridCol w="2463860"/>
                <a:gridCol w="489918"/>
                <a:gridCol w="608830"/>
                <a:gridCol w="1293764"/>
                <a:gridCol w="989350"/>
                <a:gridCol w="1631475"/>
              </a:tblGrid>
              <a:tr h="568839">
                <a:tc rowSpan="2">
                  <a:txBody>
                    <a:bodyPr/>
                    <a:lstStyle/>
                    <a:p>
                      <a:pPr algn="ctr" fontAlgn="ctr"/>
                      <a:r>
                        <a:rPr lang="en-GB" sz="800" u="none" strike="noStrike" dirty="0">
                          <a:effectLst/>
                        </a:rPr>
                        <a:t>12</a:t>
                      </a:r>
                      <a:endParaRPr lang="en-GB" sz="800" b="1" i="0" u="none" strike="noStrike" dirty="0">
                        <a:solidFill>
                          <a:srgbClr val="000000"/>
                        </a:solidFill>
                        <a:effectLst/>
                        <a:latin typeface="Arial" panose="020B0604020202020204" pitchFamily="34" charset="0"/>
                      </a:endParaRPr>
                    </a:p>
                  </a:txBody>
                  <a:tcPr marL="4824" marR="4824" marT="4824" marB="0" anchor="ctr"/>
                </a:tc>
                <a:tc>
                  <a:txBody>
                    <a:bodyPr/>
                    <a:lstStyle/>
                    <a:p>
                      <a:pPr algn="ctr" fontAlgn="ctr"/>
                      <a:r>
                        <a:rPr lang="en-GB" sz="800" u="sng" strike="noStrike">
                          <a:effectLst/>
                        </a:rPr>
                        <a:t>Double Glazed Aluminium</a:t>
                      </a:r>
                      <a:endParaRPr lang="en-GB" sz="800" b="1" i="0" u="sng" strike="noStrike">
                        <a:solidFill>
                          <a:srgbClr val="000000"/>
                        </a:solidFill>
                        <a:effectLst/>
                        <a:latin typeface="Arial" panose="020B0604020202020204" pitchFamily="34" charset="0"/>
                      </a:endParaRPr>
                    </a:p>
                  </a:txBody>
                  <a:tcPr marL="4824" marR="4824" marT="4824" marB="0" anchor="ctr"/>
                </a:tc>
                <a:tc rowSpan="2">
                  <a:txBody>
                    <a:bodyPr/>
                    <a:lstStyle/>
                    <a:p>
                      <a:pPr algn="ctr" fontAlgn="ctr"/>
                      <a:r>
                        <a:rPr lang="en-GB" sz="800" u="none" strike="noStrike">
                          <a:effectLst/>
                        </a:rPr>
                        <a:t>per sft</a:t>
                      </a:r>
                      <a:endParaRPr lang="en-GB" sz="800" b="0" i="0" u="none" strike="noStrike">
                        <a:solidFill>
                          <a:srgbClr val="000000"/>
                        </a:solidFill>
                        <a:effectLst/>
                        <a:latin typeface="Arial" panose="020B0604020202020204" pitchFamily="34" charset="0"/>
                      </a:endParaRPr>
                    </a:p>
                  </a:txBody>
                  <a:tcPr marL="4824" marR="4824" marT="4824" marB="0" anchor="ctr"/>
                </a:tc>
                <a:tc rowSpan="2">
                  <a:txBody>
                    <a:bodyPr/>
                    <a:lstStyle/>
                    <a:p>
                      <a:pPr algn="ctr" fontAlgn="ctr"/>
                      <a:r>
                        <a:rPr lang="en-GB" sz="800" u="none" strike="noStrike">
                          <a:effectLst/>
                        </a:rPr>
                        <a:t>136.125</a:t>
                      </a:r>
                      <a:endParaRPr lang="en-GB" sz="800" b="0" i="0" u="none" strike="noStrike">
                        <a:solidFill>
                          <a:srgbClr val="000000"/>
                        </a:solidFill>
                        <a:effectLst/>
                        <a:latin typeface="Arial" panose="020B0604020202020204" pitchFamily="34" charset="0"/>
                      </a:endParaRPr>
                    </a:p>
                  </a:txBody>
                  <a:tcPr marL="4824" marR="4824" marT="4824" marB="0" anchor="ctr"/>
                </a:tc>
                <a:tc rowSpan="2">
                  <a:txBody>
                    <a:bodyPr/>
                    <a:lstStyle/>
                    <a:p>
                      <a:pPr algn="ctr" fontAlgn="ctr"/>
                      <a:r>
                        <a:rPr lang="en-GB" sz="800" u="none" strike="noStrike">
                          <a:effectLst/>
                        </a:rPr>
                        <a:t>452.25</a:t>
                      </a:r>
                      <a:endParaRPr lang="en-GB" sz="800" b="0" i="0" u="none" strike="noStrike">
                        <a:solidFill>
                          <a:srgbClr val="000000"/>
                        </a:solidFill>
                        <a:effectLst/>
                        <a:latin typeface="Arial" panose="020B0604020202020204" pitchFamily="34" charset="0"/>
                      </a:endParaRPr>
                    </a:p>
                  </a:txBody>
                  <a:tcPr marL="4824" marR="4824" marT="4824" marB="0" anchor="ctr"/>
                </a:tc>
                <a:tc rowSpan="2">
                  <a:txBody>
                    <a:bodyPr/>
                    <a:lstStyle/>
                    <a:p>
                      <a:pPr algn="ctr" fontAlgn="ctr"/>
                      <a:r>
                        <a:rPr lang="en-GB" sz="800" u="none" strike="noStrike">
                          <a:effectLst/>
                        </a:rPr>
                        <a:t>61562.5</a:t>
                      </a:r>
                      <a:endParaRPr lang="en-GB" sz="800" b="0" i="0" u="none" strike="noStrike">
                        <a:solidFill>
                          <a:srgbClr val="000000"/>
                        </a:solidFill>
                        <a:effectLst/>
                        <a:latin typeface="Arial" panose="020B0604020202020204" pitchFamily="34" charset="0"/>
                      </a:endParaRPr>
                    </a:p>
                  </a:txBody>
                  <a:tcPr marL="4824" marR="4824" marT="4824" marB="0" anchor="ctr"/>
                </a:tc>
                <a:tc rowSpan="2">
                  <a:txBody>
                    <a:bodyPr/>
                    <a:lstStyle/>
                    <a:p>
                      <a:pPr algn="ctr" fontAlgn="ctr"/>
                      <a:r>
                        <a:rPr lang="en-GB" sz="800" u="none" strike="noStrike">
                          <a:effectLst/>
                        </a:rPr>
                        <a:t>(1) Reduce rate by 20/sft if section thickness is 1.2mm.</a:t>
                      </a:r>
                      <a:br>
                        <a:rPr lang="en-GB" sz="800" u="none" strike="noStrike">
                          <a:effectLst/>
                        </a:rPr>
                      </a:br>
                      <a:r>
                        <a:rPr lang="en-GB" sz="800" u="none" strike="noStrike">
                          <a:effectLst/>
                        </a:rPr>
                        <a:t/>
                      </a:r>
                      <a:br>
                        <a:rPr lang="en-GB" sz="800" u="none" strike="noStrike">
                          <a:effectLst/>
                        </a:rPr>
                      </a:br>
                      <a:r>
                        <a:rPr lang="en-GB" sz="800" u="none" strike="noStrike">
                          <a:effectLst/>
                        </a:rPr>
                        <a:t>(2) Reduce rate by 20/sft if sections are of dual aluminum shade.</a:t>
                      </a:r>
                      <a:br>
                        <a:rPr lang="en-GB" sz="800" u="none" strike="noStrike">
                          <a:effectLst/>
                        </a:rPr>
                      </a:br>
                      <a:r>
                        <a:rPr lang="en-GB" sz="800" u="none" strike="noStrike">
                          <a:effectLst/>
                        </a:rPr>
                        <a:t/>
                      </a:r>
                      <a:br>
                        <a:rPr lang="en-GB" sz="800" u="none" strike="noStrike">
                          <a:effectLst/>
                        </a:rPr>
                      </a:br>
                      <a:r>
                        <a:rPr lang="en-GB" sz="800" u="none" strike="noStrike">
                          <a:effectLst/>
                        </a:rPr>
                        <a:t>(3) Reduce rate by 20/sft if local glass is used.</a:t>
                      </a:r>
                      <a:br>
                        <a:rPr lang="en-GB" sz="800" u="none" strike="noStrike">
                          <a:effectLst/>
                        </a:rPr>
                      </a:br>
                      <a:endParaRPr lang="en-GB" sz="800" b="0" i="0" u="none" strike="noStrike">
                        <a:solidFill>
                          <a:srgbClr val="000000"/>
                        </a:solidFill>
                        <a:effectLst/>
                        <a:latin typeface="Arial" panose="020B0604020202020204" pitchFamily="34" charset="0"/>
                      </a:endParaRPr>
                    </a:p>
                  </a:txBody>
                  <a:tcPr marL="4824" marR="4824" marT="4824" marB="0" anchor="ctr"/>
                </a:tc>
              </a:tr>
              <a:tr h="847424">
                <a:tc vMerge="1">
                  <a:txBody>
                    <a:bodyPr/>
                    <a:lstStyle/>
                    <a:p>
                      <a:endParaRPr lang="en-GB"/>
                    </a:p>
                  </a:txBody>
                  <a:tcPr/>
                </a:tc>
                <a:tc>
                  <a:txBody>
                    <a:bodyPr/>
                    <a:lstStyle/>
                    <a:p>
                      <a:pPr algn="l" fontAlgn="ctr"/>
                      <a:r>
                        <a:rPr lang="en-GB" sz="800" u="none" strike="noStrike">
                          <a:effectLst/>
                        </a:rPr>
                        <a:t>Providing and fitting all types of glazed aluminum windows of glazed anodized bronze color partly fixed and partly sliding using deluxe sections having frame size of 4"x0.75" and leaf frame sections of 2"x0.75" all of 1.6 mm thickness including 5mm thick imported tinted glass with rubber gasket using approved standard latches, hardware etc. as approved by engineer in charge.                                                                   </a:t>
                      </a:r>
                      <a:endParaRPr lang="en-GB" sz="800" b="0" i="0" u="none" strike="noStrike">
                        <a:solidFill>
                          <a:srgbClr val="000000"/>
                        </a:solidFill>
                        <a:effectLst/>
                        <a:latin typeface="Arial" panose="020B0604020202020204" pitchFamily="34" charset="0"/>
                      </a:endParaRPr>
                    </a:p>
                  </a:txBody>
                  <a:tcPr marL="4824" marR="4824" marT="4824" marB="0" anchor="ctr"/>
                </a:tc>
                <a:tc vMerge="1">
                  <a:txBody>
                    <a:bodyPr/>
                    <a:lstStyle/>
                    <a:p>
                      <a:endParaRPr lang="en-GB"/>
                    </a:p>
                  </a:txBody>
                  <a:tcPr/>
                </a:tc>
                <a:tc vMerge="1">
                  <a:txBody>
                    <a:bodyPr/>
                    <a:lstStyle/>
                    <a:p>
                      <a:endParaRPr lang="en-GB"/>
                    </a:p>
                  </a:txBody>
                  <a:tcPr/>
                </a:tc>
                <a:tc vMerge="1">
                  <a:txBody>
                    <a:bodyPr/>
                    <a:lstStyle/>
                    <a:p>
                      <a:endParaRPr lang="en-GB"/>
                    </a:p>
                  </a:txBody>
                  <a:tcPr/>
                </a:tc>
                <a:tc vMerge="1">
                  <a:txBody>
                    <a:bodyPr/>
                    <a:lstStyle/>
                    <a:p>
                      <a:endParaRPr lang="en-GB"/>
                    </a:p>
                  </a:txBody>
                  <a:tcPr/>
                </a:tc>
                <a:tc vMerge="1">
                  <a:txBody>
                    <a:bodyPr/>
                    <a:lstStyle/>
                    <a:p>
                      <a:endParaRPr lang="en-GB"/>
                    </a:p>
                  </a:txBody>
                  <a:tcPr/>
                </a:tc>
              </a:tr>
              <a:tr h="147315">
                <a:tc rowSpan="2">
                  <a:txBody>
                    <a:bodyPr/>
                    <a:lstStyle/>
                    <a:p>
                      <a:pPr algn="ctr" fontAlgn="ctr"/>
                      <a:r>
                        <a:rPr lang="en-GB" sz="800" u="none" strike="noStrike">
                          <a:effectLst/>
                        </a:rPr>
                        <a:t>13</a:t>
                      </a:r>
                      <a:endParaRPr lang="en-GB" sz="800" b="1" i="0" u="none" strike="noStrike">
                        <a:solidFill>
                          <a:srgbClr val="000000"/>
                        </a:solidFill>
                        <a:effectLst/>
                        <a:latin typeface="Arial" panose="020B0604020202020204" pitchFamily="34" charset="0"/>
                      </a:endParaRPr>
                    </a:p>
                  </a:txBody>
                  <a:tcPr marL="4824" marR="4824" marT="4824" marB="0" anchor="ctr"/>
                </a:tc>
                <a:tc>
                  <a:txBody>
                    <a:bodyPr/>
                    <a:lstStyle/>
                    <a:p>
                      <a:pPr algn="ctr" fontAlgn="ctr"/>
                      <a:r>
                        <a:rPr lang="en-GB" sz="800" u="sng" strike="noStrike">
                          <a:effectLst/>
                        </a:rPr>
                        <a:t>Bitumen</a:t>
                      </a:r>
                      <a:endParaRPr lang="en-GB" sz="800" b="1" i="0" u="sng" strike="noStrike">
                        <a:solidFill>
                          <a:srgbClr val="000000"/>
                        </a:solidFill>
                        <a:effectLst/>
                        <a:latin typeface="Arial" panose="020B0604020202020204" pitchFamily="34" charset="0"/>
                      </a:endParaRPr>
                    </a:p>
                  </a:txBody>
                  <a:tcPr marL="4824" marR="4824" marT="4824" marB="0" anchor="ctr"/>
                </a:tc>
                <a:tc rowSpan="2">
                  <a:txBody>
                    <a:bodyPr/>
                    <a:lstStyle/>
                    <a:p>
                      <a:pPr algn="ctr" fontAlgn="ctr"/>
                      <a:r>
                        <a:rPr lang="en-GB" sz="800" u="none" strike="noStrike">
                          <a:effectLst/>
                        </a:rPr>
                        <a:t>100sft</a:t>
                      </a:r>
                      <a:endParaRPr lang="en-GB" sz="800" b="0" i="0" u="none" strike="noStrike">
                        <a:solidFill>
                          <a:srgbClr val="000000"/>
                        </a:solidFill>
                        <a:effectLst/>
                        <a:latin typeface="Arial" panose="020B0604020202020204" pitchFamily="34" charset="0"/>
                      </a:endParaRPr>
                    </a:p>
                  </a:txBody>
                  <a:tcPr marL="4824" marR="4824" marT="4824" marB="0" anchor="ctr"/>
                </a:tc>
                <a:tc rowSpan="2">
                  <a:txBody>
                    <a:bodyPr/>
                    <a:lstStyle/>
                    <a:p>
                      <a:pPr algn="ctr" fontAlgn="ctr"/>
                      <a:r>
                        <a:rPr lang="en-GB" sz="800" u="none" strike="noStrike">
                          <a:effectLst/>
                        </a:rPr>
                        <a:t>267.4845</a:t>
                      </a:r>
                      <a:endParaRPr lang="en-GB" sz="800" b="0" i="0" u="none" strike="noStrike">
                        <a:solidFill>
                          <a:srgbClr val="000000"/>
                        </a:solidFill>
                        <a:effectLst/>
                        <a:latin typeface="Arial" panose="020B0604020202020204" pitchFamily="34" charset="0"/>
                      </a:endParaRPr>
                    </a:p>
                  </a:txBody>
                  <a:tcPr marL="4824" marR="4824" marT="4824" marB="0" anchor="ctr"/>
                </a:tc>
                <a:tc rowSpan="2">
                  <a:txBody>
                    <a:bodyPr/>
                    <a:lstStyle/>
                    <a:p>
                      <a:pPr algn="ctr" fontAlgn="ctr"/>
                      <a:r>
                        <a:rPr lang="en-GB" sz="800" u="none" strike="noStrike">
                          <a:effectLst/>
                        </a:rPr>
                        <a:t>3167.7</a:t>
                      </a:r>
                      <a:endParaRPr lang="en-GB" sz="800" b="0" i="0" u="none" strike="noStrike">
                        <a:solidFill>
                          <a:srgbClr val="000000"/>
                        </a:solidFill>
                        <a:effectLst/>
                        <a:latin typeface="Arial" panose="020B0604020202020204" pitchFamily="34" charset="0"/>
                      </a:endParaRPr>
                    </a:p>
                  </a:txBody>
                  <a:tcPr marL="4824" marR="4824" marT="4824" marB="0" anchor="ctr"/>
                </a:tc>
                <a:tc rowSpan="2">
                  <a:txBody>
                    <a:bodyPr/>
                    <a:lstStyle/>
                    <a:p>
                      <a:pPr algn="ctr" fontAlgn="ctr"/>
                      <a:r>
                        <a:rPr lang="en-GB" sz="800" u="none" strike="noStrike">
                          <a:effectLst/>
                        </a:rPr>
                        <a:t>8473.1</a:t>
                      </a:r>
                      <a:endParaRPr lang="en-GB" sz="800" b="0" i="0" u="none" strike="noStrike">
                        <a:solidFill>
                          <a:srgbClr val="000000"/>
                        </a:solidFill>
                        <a:effectLst/>
                        <a:latin typeface="Arial" panose="020B0604020202020204" pitchFamily="34" charset="0"/>
                      </a:endParaRPr>
                    </a:p>
                  </a:txBody>
                  <a:tcPr marL="4824" marR="4824" marT="4824" marB="0" anchor="ctr"/>
                </a:tc>
                <a:tc rowSpan="2">
                  <a:txBody>
                    <a:bodyPr/>
                    <a:lstStyle/>
                    <a:p>
                      <a:pPr algn="ctr" fontAlgn="ctr"/>
                      <a:r>
                        <a:rPr lang="en-GB" sz="800" u="none" strike="noStrike">
                          <a:effectLst/>
                        </a:rPr>
                        <a:t> </a:t>
                      </a:r>
                      <a:endParaRPr lang="en-GB" sz="800" b="0" i="0" u="none" strike="noStrike">
                        <a:solidFill>
                          <a:srgbClr val="000000"/>
                        </a:solidFill>
                        <a:effectLst/>
                        <a:latin typeface="Arial" panose="020B0604020202020204" pitchFamily="34" charset="0"/>
                      </a:endParaRPr>
                    </a:p>
                  </a:txBody>
                  <a:tcPr marL="4824" marR="4824" marT="4824" marB="0" anchor="ctr"/>
                </a:tc>
              </a:tr>
              <a:tr h="707402">
                <a:tc vMerge="1">
                  <a:txBody>
                    <a:bodyPr/>
                    <a:lstStyle/>
                    <a:p>
                      <a:endParaRPr lang="en-GB"/>
                    </a:p>
                  </a:txBody>
                  <a:tcPr/>
                </a:tc>
                <a:tc>
                  <a:txBody>
                    <a:bodyPr/>
                    <a:lstStyle/>
                    <a:p>
                      <a:pPr algn="ctr" fontAlgn="ctr"/>
                      <a:r>
                        <a:rPr lang="en-GB" sz="800" u="none" strike="noStrike" dirty="0">
                          <a:effectLst/>
                        </a:rPr>
                        <a:t>Providing and laying damp proof course with cement sand</a:t>
                      </a:r>
                      <a:br>
                        <a:rPr lang="en-GB" sz="800" u="none" strike="noStrike" dirty="0">
                          <a:effectLst/>
                        </a:rPr>
                      </a:br>
                      <a:r>
                        <a:rPr lang="en-GB" sz="800" u="none" strike="noStrike" dirty="0">
                          <a:effectLst/>
                        </a:rPr>
                        <a:t>plaster and bitumen coating:-</a:t>
                      </a:r>
                      <a:br>
                        <a:rPr lang="en-GB" sz="800" u="none" strike="noStrike" dirty="0">
                          <a:effectLst/>
                        </a:rPr>
                      </a:br>
                      <a:r>
                        <a:rPr lang="en-GB" sz="800" u="none" strike="noStrike" dirty="0">
                          <a:effectLst/>
                        </a:rPr>
                        <a:t>(a) with one coat of bitumen and one coat of polythene sheet</a:t>
                      </a:r>
                      <a:br>
                        <a:rPr lang="en-GB" sz="800" u="none" strike="noStrike" dirty="0">
                          <a:effectLst/>
                        </a:rPr>
                      </a:br>
                      <a:r>
                        <a:rPr lang="en-GB" sz="800" u="none" strike="noStrike" dirty="0">
                          <a:effectLst/>
                        </a:rPr>
                        <a:t>500 gauge :-</a:t>
                      </a:r>
                      <a:br>
                        <a:rPr lang="en-GB" sz="800" u="none" strike="noStrike" dirty="0">
                          <a:effectLst/>
                        </a:rPr>
                      </a:br>
                      <a:r>
                        <a:rPr lang="en-GB" sz="800" u="none" strike="noStrike" dirty="0" err="1">
                          <a:effectLst/>
                        </a:rPr>
                        <a:t>i</a:t>
                      </a:r>
                      <a:r>
                        <a:rPr lang="en-GB" sz="800" u="none" strike="noStrike" dirty="0">
                          <a:effectLst/>
                        </a:rPr>
                        <a:t>) Ratio 1: 4 a) ½" thick (13 mm)</a:t>
                      </a:r>
                      <a:endParaRPr lang="en-GB" sz="800" b="0" i="0" u="none" strike="noStrike" dirty="0">
                        <a:solidFill>
                          <a:srgbClr val="000000"/>
                        </a:solidFill>
                        <a:effectLst/>
                        <a:latin typeface="Arial" panose="020B0604020202020204" pitchFamily="34" charset="0"/>
                      </a:endParaRPr>
                    </a:p>
                  </a:txBody>
                  <a:tcPr marL="4824" marR="4824" marT="4824" marB="0" anchor="ctr"/>
                </a:tc>
                <a:tc vMerge="1">
                  <a:txBody>
                    <a:bodyPr/>
                    <a:lstStyle/>
                    <a:p>
                      <a:endParaRPr lang="en-GB"/>
                    </a:p>
                  </a:txBody>
                  <a:tcPr/>
                </a:tc>
                <a:tc vMerge="1">
                  <a:txBody>
                    <a:bodyPr/>
                    <a:lstStyle/>
                    <a:p>
                      <a:endParaRPr lang="en-GB"/>
                    </a:p>
                  </a:txBody>
                  <a:tcPr/>
                </a:tc>
                <a:tc vMerge="1">
                  <a:txBody>
                    <a:bodyPr/>
                    <a:lstStyle/>
                    <a:p>
                      <a:endParaRPr lang="en-GB"/>
                    </a:p>
                  </a:txBody>
                  <a:tcPr/>
                </a:tc>
                <a:tc vMerge="1">
                  <a:txBody>
                    <a:bodyPr/>
                    <a:lstStyle/>
                    <a:p>
                      <a:endParaRPr lang="en-GB"/>
                    </a:p>
                  </a:txBody>
                  <a:tcPr/>
                </a:tc>
                <a:tc vMerge="1">
                  <a:txBody>
                    <a:bodyPr/>
                    <a:lstStyle/>
                    <a:p>
                      <a:endParaRPr lang="en-GB"/>
                    </a:p>
                  </a:txBody>
                  <a:tcPr/>
                </a:tc>
              </a:tr>
              <a:tr h="167733">
                <a:tc rowSpan="3">
                  <a:txBody>
                    <a:bodyPr/>
                    <a:lstStyle/>
                    <a:p>
                      <a:pPr algn="ctr" fontAlgn="ctr"/>
                      <a:r>
                        <a:rPr lang="en-GB" sz="800" u="none" strike="noStrike">
                          <a:effectLst/>
                        </a:rPr>
                        <a:t>14</a:t>
                      </a:r>
                      <a:endParaRPr lang="en-GB" sz="800" b="1" i="0" u="none" strike="noStrike">
                        <a:solidFill>
                          <a:srgbClr val="000000"/>
                        </a:solidFill>
                        <a:effectLst/>
                        <a:latin typeface="Arial" panose="020B0604020202020204" pitchFamily="34" charset="0"/>
                      </a:endParaRPr>
                    </a:p>
                  </a:txBody>
                  <a:tcPr marL="4824" marR="4824" marT="4824" marB="0" anchor="ctr"/>
                </a:tc>
                <a:tc>
                  <a:txBody>
                    <a:bodyPr/>
                    <a:lstStyle/>
                    <a:p>
                      <a:pPr algn="ctr" fontAlgn="ctr"/>
                      <a:r>
                        <a:rPr lang="en-GB" sz="800" u="sng" strike="noStrike">
                          <a:effectLst/>
                        </a:rPr>
                        <a:t>Steel </a:t>
                      </a:r>
                      <a:endParaRPr lang="en-GB" sz="800" b="1" i="0" u="sng" strike="noStrike">
                        <a:solidFill>
                          <a:srgbClr val="000000"/>
                        </a:solidFill>
                        <a:effectLst/>
                        <a:latin typeface="Arial" panose="020B0604020202020204" pitchFamily="34" charset="0"/>
                      </a:endParaRPr>
                    </a:p>
                  </a:txBody>
                  <a:tcPr marL="4824" marR="4824" marT="4824" marB="0" anchor="ctr"/>
                </a:tc>
                <a:tc rowSpan="3">
                  <a:txBody>
                    <a:bodyPr/>
                    <a:lstStyle/>
                    <a:p>
                      <a:pPr algn="ctr" fontAlgn="ctr"/>
                      <a:r>
                        <a:rPr lang="en-GB" sz="800" u="none" strike="noStrike">
                          <a:effectLst/>
                        </a:rPr>
                        <a:t>cwt</a:t>
                      </a:r>
                      <a:endParaRPr lang="en-GB" sz="800" b="0" i="0" u="none" strike="noStrike">
                        <a:solidFill>
                          <a:srgbClr val="000000"/>
                        </a:solidFill>
                        <a:effectLst/>
                        <a:latin typeface="Arial" panose="020B0604020202020204" pitchFamily="34" charset="0"/>
                      </a:endParaRPr>
                    </a:p>
                  </a:txBody>
                  <a:tcPr marL="4824" marR="4824" marT="4824" marB="0" anchor="ctr"/>
                </a:tc>
                <a:tc rowSpan="2">
                  <a:txBody>
                    <a:bodyPr/>
                    <a:lstStyle/>
                    <a:p>
                      <a:pPr algn="ctr" fontAlgn="ctr"/>
                      <a:r>
                        <a:rPr lang="en-GB" sz="800" u="none" strike="noStrike">
                          <a:effectLst/>
                        </a:rPr>
                        <a:t> </a:t>
                      </a:r>
                      <a:endParaRPr lang="en-GB" sz="800" b="0" i="0" u="none" strike="noStrike">
                        <a:solidFill>
                          <a:srgbClr val="000000"/>
                        </a:solidFill>
                        <a:effectLst/>
                        <a:latin typeface="Arial" panose="020B0604020202020204" pitchFamily="34" charset="0"/>
                      </a:endParaRPr>
                    </a:p>
                  </a:txBody>
                  <a:tcPr marL="4824" marR="4824" marT="4824" marB="0" anchor="ctr"/>
                </a:tc>
                <a:tc rowSpan="2">
                  <a:txBody>
                    <a:bodyPr/>
                    <a:lstStyle/>
                    <a:p>
                      <a:pPr algn="ctr" fontAlgn="ctr"/>
                      <a:r>
                        <a:rPr lang="en-GB" sz="800" u="none" strike="noStrike">
                          <a:effectLst/>
                        </a:rPr>
                        <a:t> </a:t>
                      </a:r>
                      <a:endParaRPr lang="en-GB" sz="800" b="0" i="0" u="none" strike="noStrike">
                        <a:solidFill>
                          <a:srgbClr val="000000"/>
                        </a:solidFill>
                        <a:effectLst/>
                        <a:latin typeface="Arial" panose="020B0604020202020204" pitchFamily="34" charset="0"/>
                      </a:endParaRPr>
                    </a:p>
                  </a:txBody>
                  <a:tcPr marL="4824" marR="4824" marT="4824" marB="0" anchor="ctr"/>
                </a:tc>
                <a:tc rowSpan="2">
                  <a:txBody>
                    <a:bodyPr/>
                    <a:lstStyle/>
                    <a:p>
                      <a:pPr algn="ctr" fontAlgn="ctr"/>
                      <a:r>
                        <a:rPr lang="en-GB" sz="800" u="none" strike="noStrike">
                          <a:effectLst/>
                        </a:rPr>
                        <a:t> </a:t>
                      </a:r>
                      <a:endParaRPr lang="en-GB" sz="800" b="0" i="0" u="none" strike="noStrike">
                        <a:solidFill>
                          <a:srgbClr val="000000"/>
                        </a:solidFill>
                        <a:effectLst/>
                        <a:latin typeface="Arial" panose="020B0604020202020204" pitchFamily="34" charset="0"/>
                      </a:endParaRPr>
                    </a:p>
                  </a:txBody>
                  <a:tcPr marL="4824" marR="4824" marT="4824" marB="0" anchor="ctr"/>
                </a:tc>
                <a:tc rowSpan="3">
                  <a:txBody>
                    <a:bodyPr/>
                    <a:lstStyle/>
                    <a:p>
                      <a:pPr algn="ctr" fontAlgn="ctr"/>
                      <a:r>
                        <a:rPr lang="en-GB" sz="800" u="none" strike="noStrike">
                          <a:effectLst/>
                        </a:rPr>
                        <a:t>The rate includes wastage, overlapsand chairs, etc.</a:t>
                      </a:r>
                      <a:endParaRPr lang="en-GB" sz="800" b="0" i="0" u="none" strike="noStrike">
                        <a:solidFill>
                          <a:srgbClr val="000000"/>
                        </a:solidFill>
                        <a:effectLst/>
                        <a:latin typeface="Arial" panose="020B0604020202020204" pitchFamily="34" charset="0"/>
                      </a:endParaRPr>
                    </a:p>
                  </a:txBody>
                  <a:tcPr marL="4824" marR="4824" marT="4824" marB="0" anchor="ctr"/>
                </a:tc>
              </a:tr>
              <a:tr h="926186">
                <a:tc vMerge="1">
                  <a:txBody>
                    <a:bodyPr/>
                    <a:lstStyle/>
                    <a:p>
                      <a:endParaRPr lang="en-GB"/>
                    </a:p>
                  </a:txBody>
                  <a:tcPr/>
                </a:tc>
                <a:tc>
                  <a:txBody>
                    <a:bodyPr/>
                    <a:lstStyle/>
                    <a:p>
                      <a:pPr algn="ctr" fontAlgn="ctr"/>
                      <a:r>
                        <a:rPr lang="en-GB" sz="800" u="none" strike="noStrike">
                          <a:effectLst/>
                        </a:rPr>
                        <a:t>Fabrication of mild steel reinforcement for cement concrete,including cutting, bending, laying in position, making jointsand fastenings, including cost of binding wire and labour</a:t>
                      </a:r>
                      <a:br>
                        <a:rPr lang="en-GB" sz="800" u="none" strike="noStrike">
                          <a:effectLst/>
                        </a:rPr>
                      </a:br>
                      <a:r>
                        <a:rPr lang="en-GB" sz="800" u="none" strike="noStrike">
                          <a:effectLst/>
                        </a:rPr>
                        <a:t>charges for binding of steel reinforcement (also includesremoval of rust from bars):</a:t>
                      </a:r>
                      <a:endParaRPr lang="en-GB" sz="800" b="0" i="0" u="none" strike="noStrike">
                        <a:solidFill>
                          <a:srgbClr val="000000"/>
                        </a:solidFill>
                        <a:effectLst/>
                        <a:latin typeface="Arial" panose="020B0604020202020204" pitchFamily="34" charset="0"/>
                      </a:endParaRPr>
                    </a:p>
                  </a:txBody>
                  <a:tcPr marL="4824" marR="4824" marT="4824" marB="0" anchor="ctr"/>
                </a:tc>
                <a:tc vMerge="1">
                  <a:txBody>
                    <a:bodyPr/>
                    <a:lstStyle/>
                    <a:p>
                      <a:endParaRPr lang="en-GB"/>
                    </a:p>
                  </a:txBody>
                  <a:tcPr/>
                </a:tc>
                <a:tc vMerge="1">
                  <a:txBody>
                    <a:bodyPr/>
                    <a:lstStyle/>
                    <a:p>
                      <a:endParaRPr lang="en-GB"/>
                    </a:p>
                  </a:txBody>
                  <a:tcPr/>
                </a:tc>
                <a:tc vMerge="1">
                  <a:txBody>
                    <a:bodyPr/>
                    <a:lstStyle/>
                    <a:p>
                      <a:endParaRPr lang="en-GB"/>
                    </a:p>
                  </a:txBody>
                  <a:tcPr/>
                </a:tc>
                <a:tc vMerge="1">
                  <a:txBody>
                    <a:bodyPr/>
                    <a:lstStyle/>
                    <a:p>
                      <a:endParaRPr lang="en-GB"/>
                    </a:p>
                  </a:txBody>
                  <a:tcPr/>
                </a:tc>
                <a:tc vMerge="1">
                  <a:txBody>
                    <a:bodyPr/>
                    <a:lstStyle/>
                    <a:p>
                      <a:endParaRPr lang="en-GB"/>
                    </a:p>
                  </a:txBody>
                  <a:tcPr/>
                </a:tc>
              </a:tr>
              <a:tr h="147315">
                <a:tc vMerge="1">
                  <a:txBody>
                    <a:bodyPr/>
                    <a:lstStyle/>
                    <a:p>
                      <a:endParaRPr lang="en-GB"/>
                    </a:p>
                  </a:txBody>
                  <a:tcPr/>
                </a:tc>
                <a:tc>
                  <a:txBody>
                    <a:bodyPr/>
                    <a:lstStyle/>
                    <a:p>
                      <a:pPr algn="ctr" fontAlgn="ctr"/>
                      <a:r>
                        <a:rPr lang="en-GB" sz="800" u="none" strike="noStrike">
                          <a:effectLst/>
                        </a:rPr>
                        <a:t>Def bar G40</a:t>
                      </a:r>
                      <a:endParaRPr lang="en-GB" sz="800" b="0" i="0" u="none" strike="noStrike">
                        <a:solidFill>
                          <a:srgbClr val="000000"/>
                        </a:solidFill>
                        <a:effectLst/>
                        <a:latin typeface="Arial" panose="020B0604020202020204" pitchFamily="34" charset="0"/>
                      </a:endParaRPr>
                    </a:p>
                  </a:txBody>
                  <a:tcPr marL="4824" marR="4824" marT="4824" marB="0" anchor="ctr"/>
                </a:tc>
                <a:tc vMerge="1">
                  <a:txBody>
                    <a:bodyPr/>
                    <a:lstStyle/>
                    <a:p>
                      <a:endParaRPr lang="en-GB"/>
                    </a:p>
                  </a:txBody>
                  <a:tcPr/>
                </a:tc>
                <a:tc>
                  <a:txBody>
                    <a:bodyPr/>
                    <a:lstStyle/>
                    <a:p>
                      <a:pPr algn="ctr" fontAlgn="ctr"/>
                      <a:r>
                        <a:rPr lang="en-GB" sz="800" u="none" strike="noStrike">
                          <a:effectLst/>
                        </a:rPr>
                        <a:t>365.54</a:t>
                      </a:r>
                      <a:endParaRPr lang="en-GB" sz="800" b="0" i="0" u="none" strike="noStrike">
                        <a:solidFill>
                          <a:srgbClr val="000000"/>
                        </a:solidFill>
                        <a:effectLst/>
                        <a:latin typeface="Arial" panose="020B0604020202020204" pitchFamily="34" charset="0"/>
                      </a:endParaRPr>
                    </a:p>
                  </a:txBody>
                  <a:tcPr marL="4824" marR="4824" marT="4824" marB="0" anchor="ctr"/>
                </a:tc>
                <a:tc>
                  <a:txBody>
                    <a:bodyPr/>
                    <a:lstStyle/>
                    <a:p>
                      <a:pPr algn="ctr" fontAlgn="ctr"/>
                      <a:r>
                        <a:rPr lang="en-GB" sz="800" u="none" strike="noStrike" dirty="0">
                          <a:effectLst/>
                        </a:rPr>
                        <a:t>6489.3</a:t>
                      </a:r>
                      <a:endParaRPr lang="en-GB" sz="800" b="0" i="0" u="none" strike="noStrike" dirty="0">
                        <a:solidFill>
                          <a:srgbClr val="000000"/>
                        </a:solidFill>
                        <a:effectLst/>
                        <a:latin typeface="Arial" panose="020B0604020202020204" pitchFamily="34" charset="0"/>
                      </a:endParaRPr>
                    </a:p>
                  </a:txBody>
                  <a:tcPr marL="4824" marR="4824" marT="4824" marB="0" anchor="ctr"/>
                </a:tc>
                <a:tc>
                  <a:txBody>
                    <a:bodyPr/>
                    <a:lstStyle/>
                    <a:p>
                      <a:pPr algn="ctr" fontAlgn="ctr"/>
                      <a:r>
                        <a:rPr lang="en-GB" sz="800" u="none" strike="noStrike" dirty="0">
                          <a:effectLst/>
                        </a:rPr>
                        <a:t>2372098.72</a:t>
                      </a:r>
                      <a:endParaRPr lang="en-GB" sz="800" b="0" i="0" u="none" strike="noStrike" dirty="0">
                        <a:solidFill>
                          <a:srgbClr val="000000"/>
                        </a:solidFill>
                        <a:effectLst/>
                        <a:latin typeface="Arial" panose="020B0604020202020204" pitchFamily="34" charset="0"/>
                      </a:endParaRPr>
                    </a:p>
                  </a:txBody>
                  <a:tcPr marL="4824" marR="4824" marT="4824" marB="0" anchor="ctr"/>
                </a:tc>
                <a:tc vMerge="1">
                  <a:txBody>
                    <a:bodyPr/>
                    <a:lstStyle/>
                    <a:p>
                      <a:endParaRPr lang="en-GB"/>
                    </a:p>
                  </a:txBody>
                  <a:tcPr/>
                </a:tc>
              </a:tr>
            </a:tbl>
          </a:graphicData>
        </a:graphic>
      </p:graphicFrame>
    </p:spTree>
    <p:extLst>
      <p:ext uri="{BB962C8B-B14F-4D97-AF65-F5344CB8AC3E}">
        <p14:creationId xmlns:p14="http://schemas.microsoft.com/office/powerpoint/2010/main" val="3230639746"/>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BOQ CONTINUED…</a:t>
            </a:r>
            <a:endParaRPr lang="en-GB"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2235779692"/>
              </p:ext>
            </p:extLst>
          </p:nvPr>
        </p:nvGraphicFramePr>
        <p:xfrm>
          <a:off x="143554" y="1354591"/>
          <a:ext cx="8704186" cy="3232271"/>
        </p:xfrm>
        <a:graphic>
          <a:graphicData uri="http://schemas.openxmlformats.org/drawingml/2006/table">
            <a:tbl>
              <a:tblPr>
                <a:tableStyleId>{5C22544A-7EE6-4342-B048-85BDC9FD1C3A}</a:tableStyleId>
              </a:tblPr>
              <a:tblGrid>
                <a:gridCol w="380808"/>
                <a:gridCol w="3019265"/>
                <a:gridCol w="600356"/>
                <a:gridCol w="746072"/>
                <a:gridCol w="746072"/>
                <a:gridCol w="1212369"/>
                <a:gridCol w="1999244"/>
              </a:tblGrid>
              <a:tr h="345409">
                <a:tc rowSpan="2">
                  <a:txBody>
                    <a:bodyPr/>
                    <a:lstStyle/>
                    <a:p>
                      <a:pPr algn="ctr" fontAlgn="ctr"/>
                      <a:r>
                        <a:rPr lang="en-GB" sz="900" u="none" strike="noStrike">
                          <a:effectLst/>
                        </a:rPr>
                        <a:t>15.1</a:t>
                      </a:r>
                      <a:endParaRPr lang="en-GB" sz="900" b="1" i="0" u="none" strike="noStrike">
                        <a:solidFill>
                          <a:srgbClr val="000000"/>
                        </a:solidFill>
                        <a:effectLst/>
                        <a:latin typeface="Arial" panose="020B0604020202020204" pitchFamily="34" charset="0"/>
                      </a:endParaRPr>
                    </a:p>
                  </a:txBody>
                  <a:tcPr marL="4824" marR="4824" marT="4824" marB="0" anchor="ctr"/>
                </a:tc>
                <a:tc>
                  <a:txBody>
                    <a:bodyPr/>
                    <a:lstStyle/>
                    <a:p>
                      <a:pPr algn="ctr" fontAlgn="ctr"/>
                      <a:r>
                        <a:rPr lang="en-GB" sz="900" u="sng" strike="noStrike">
                          <a:effectLst/>
                        </a:rPr>
                        <a:t>Roof Details</a:t>
                      </a:r>
                      <a:endParaRPr lang="en-GB" sz="900" b="1" i="0" u="sng" strike="noStrike">
                        <a:solidFill>
                          <a:srgbClr val="000000"/>
                        </a:solidFill>
                        <a:effectLst/>
                        <a:latin typeface="Arial" panose="020B0604020202020204" pitchFamily="34" charset="0"/>
                      </a:endParaRPr>
                    </a:p>
                  </a:txBody>
                  <a:tcPr marL="4824" marR="4824" marT="4824" marB="0" anchor="ctr"/>
                </a:tc>
                <a:tc rowSpan="2">
                  <a:txBody>
                    <a:bodyPr/>
                    <a:lstStyle/>
                    <a:p>
                      <a:pPr algn="ctr" fontAlgn="ctr"/>
                      <a:r>
                        <a:rPr lang="en-GB" sz="900" u="none" strike="noStrike">
                          <a:effectLst/>
                        </a:rPr>
                        <a:t>100 sft</a:t>
                      </a:r>
                      <a:endParaRPr lang="en-GB" sz="900" b="0" i="0" u="none" strike="noStrike">
                        <a:solidFill>
                          <a:srgbClr val="000000"/>
                        </a:solidFill>
                        <a:effectLst/>
                        <a:latin typeface="Arial" panose="020B0604020202020204" pitchFamily="34" charset="0"/>
                      </a:endParaRPr>
                    </a:p>
                  </a:txBody>
                  <a:tcPr marL="4824" marR="4824" marT="4824" marB="0" anchor="ctr"/>
                </a:tc>
                <a:tc rowSpan="2">
                  <a:txBody>
                    <a:bodyPr/>
                    <a:lstStyle/>
                    <a:p>
                      <a:pPr algn="ctr" fontAlgn="ctr"/>
                      <a:r>
                        <a:rPr lang="en-GB" sz="900" u="none" strike="noStrike">
                          <a:effectLst/>
                        </a:rPr>
                        <a:t>1906.2542</a:t>
                      </a:r>
                      <a:endParaRPr lang="en-GB" sz="900" b="0" i="0" u="none" strike="noStrike">
                        <a:solidFill>
                          <a:srgbClr val="000000"/>
                        </a:solidFill>
                        <a:effectLst/>
                        <a:latin typeface="Arial" panose="020B0604020202020204" pitchFamily="34" charset="0"/>
                      </a:endParaRPr>
                    </a:p>
                  </a:txBody>
                  <a:tcPr marL="4824" marR="4824" marT="4824" marB="0" anchor="ctr"/>
                </a:tc>
                <a:tc rowSpan="2">
                  <a:txBody>
                    <a:bodyPr/>
                    <a:lstStyle/>
                    <a:p>
                      <a:pPr algn="ctr" fontAlgn="ctr"/>
                      <a:r>
                        <a:rPr lang="en-GB" sz="900" u="none" strike="noStrike">
                          <a:effectLst/>
                        </a:rPr>
                        <a:t>1123.45</a:t>
                      </a:r>
                      <a:endParaRPr lang="en-GB" sz="900" b="0" i="0" u="none" strike="noStrike">
                        <a:solidFill>
                          <a:srgbClr val="000000"/>
                        </a:solidFill>
                        <a:effectLst/>
                        <a:latin typeface="Arial" panose="020B0604020202020204" pitchFamily="34" charset="0"/>
                      </a:endParaRPr>
                    </a:p>
                  </a:txBody>
                  <a:tcPr marL="4824" marR="4824" marT="4824" marB="0" anchor="ctr"/>
                </a:tc>
                <a:tc rowSpan="2">
                  <a:txBody>
                    <a:bodyPr/>
                    <a:lstStyle/>
                    <a:p>
                      <a:pPr algn="ctr" fontAlgn="ctr"/>
                      <a:r>
                        <a:rPr lang="en-GB" sz="900" u="none" strike="noStrike">
                          <a:effectLst/>
                        </a:rPr>
                        <a:t>21415.76</a:t>
                      </a:r>
                      <a:endParaRPr lang="en-GB" sz="900" b="0" i="0" u="none" strike="noStrike">
                        <a:solidFill>
                          <a:srgbClr val="000000"/>
                        </a:solidFill>
                        <a:effectLst/>
                        <a:latin typeface="Arial" panose="020B0604020202020204" pitchFamily="34" charset="0"/>
                      </a:endParaRPr>
                    </a:p>
                  </a:txBody>
                  <a:tcPr marL="4824" marR="4824" marT="4824" marB="0" anchor="ctr"/>
                </a:tc>
                <a:tc rowSpan="2">
                  <a:txBody>
                    <a:bodyPr/>
                    <a:lstStyle/>
                    <a:p>
                      <a:pPr algn="ctr" fontAlgn="ctr"/>
                      <a:r>
                        <a:rPr lang="en-GB" sz="900" u="none" strike="noStrike">
                          <a:effectLst/>
                        </a:rPr>
                        <a:t>Add extra 13%, 32% &amp; 51% on labor rates only or 6%, 15% &amp; 23% on composite rates for 2nd, 3rd, 4th &amp; sub-sequent floors respectively.</a:t>
                      </a:r>
                      <a:endParaRPr lang="en-GB" sz="900" b="0" i="0" u="none" strike="noStrike">
                        <a:solidFill>
                          <a:srgbClr val="000000"/>
                        </a:solidFill>
                        <a:effectLst/>
                        <a:latin typeface="Arial" panose="020B0604020202020204" pitchFamily="34" charset="0"/>
                      </a:endParaRPr>
                    </a:p>
                  </a:txBody>
                  <a:tcPr marL="4824" marR="4824" marT="4824" marB="0" anchor="ctr"/>
                </a:tc>
              </a:tr>
              <a:tr h="470721">
                <a:tc vMerge="1">
                  <a:txBody>
                    <a:bodyPr/>
                    <a:lstStyle/>
                    <a:p>
                      <a:endParaRPr lang="en-GB"/>
                    </a:p>
                  </a:txBody>
                  <a:tcPr/>
                </a:tc>
                <a:tc>
                  <a:txBody>
                    <a:bodyPr/>
                    <a:lstStyle/>
                    <a:p>
                      <a:pPr algn="ctr" fontAlgn="ctr"/>
                      <a:r>
                        <a:rPr lang="en-GB" sz="900" u="none" strike="noStrike">
                          <a:effectLst/>
                        </a:rPr>
                        <a:t>Earth filling over roof including watering, ramming with 1" (25 mm) mud plaster finished, with gobri leeping: 3" (75 mm) thick earth filling and 1" (25 mm) mud plaster</a:t>
                      </a:r>
                      <a:endParaRPr lang="en-GB" sz="900" b="0" i="0" u="none" strike="noStrike">
                        <a:solidFill>
                          <a:srgbClr val="000000"/>
                        </a:solidFill>
                        <a:effectLst/>
                        <a:latin typeface="Arial" panose="020B0604020202020204" pitchFamily="34" charset="0"/>
                      </a:endParaRPr>
                    </a:p>
                  </a:txBody>
                  <a:tcPr marL="4824" marR="4824" marT="4824" marB="0" anchor="ctr"/>
                </a:tc>
                <a:tc vMerge="1">
                  <a:txBody>
                    <a:bodyPr/>
                    <a:lstStyle/>
                    <a:p>
                      <a:endParaRPr lang="en-GB"/>
                    </a:p>
                  </a:txBody>
                  <a:tcPr/>
                </a:tc>
                <a:tc vMerge="1">
                  <a:txBody>
                    <a:bodyPr/>
                    <a:lstStyle/>
                    <a:p>
                      <a:endParaRPr lang="en-GB"/>
                    </a:p>
                  </a:txBody>
                  <a:tcPr/>
                </a:tc>
                <a:tc vMerge="1">
                  <a:txBody>
                    <a:bodyPr/>
                    <a:lstStyle/>
                    <a:p>
                      <a:endParaRPr lang="en-GB"/>
                    </a:p>
                  </a:txBody>
                  <a:tcPr/>
                </a:tc>
                <a:tc vMerge="1">
                  <a:txBody>
                    <a:bodyPr/>
                    <a:lstStyle/>
                    <a:p>
                      <a:endParaRPr lang="en-GB"/>
                    </a:p>
                  </a:txBody>
                  <a:tcPr/>
                </a:tc>
                <a:tc vMerge="1">
                  <a:txBody>
                    <a:bodyPr/>
                    <a:lstStyle/>
                    <a:p>
                      <a:endParaRPr lang="en-GB"/>
                    </a:p>
                  </a:txBody>
                  <a:tcPr/>
                </a:tc>
              </a:tr>
              <a:tr h="499173">
                <a:tc>
                  <a:txBody>
                    <a:bodyPr/>
                    <a:lstStyle/>
                    <a:p>
                      <a:pPr algn="ctr" fontAlgn="ctr"/>
                      <a:r>
                        <a:rPr lang="en-GB" sz="900" u="none" strike="noStrike">
                          <a:effectLst/>
                        </a:rPr>
                        <a:t>15.2</a:t>
                      </a:r>
                      <a:endParaRPr lang="en-GB" sz="900" b="1" i="0" u="none" strike="noStrike">
                        <a:solidFill>
                          <a:srgbClr val="000000"/>
                        </a:solidFill>
                        <a:effectLst/>
                        <a:latin typeface="Arial" panose="020B0604020202020204" pitchFamily="34" charset="0"/>
                      </a:endParaRPr>
                    </a:p>
                  </a:txBody>
                  <a:tcPr marL="4824" marR="4824" marT="4824" marB="0" anchor="ctr"/>
                </a:tc>
                <a:tc>
                  <a:txBody>
                    <a:bodyPr/>
                    <a:lstStyle/>
                    <a:p>
                      <a:pPr algn="ctr" fontAlgn="ctr"/>
                      <a:r>
                        <a:rPr lang="en-GB" sz="900" u="none" strike="noStrike">
                          <a:effectLst/>
                        </a:rPr>
                        <a:t>Two coats of bitumen laid hot using 34 lbs. per %Sft, or 1.72 Kg per square metre over roof and blinded with sand</a:t>
                      </a:r>
                      <a:br>
                        <a:rPr lang="en-GB" sz="900" u="none" strike="noStrike">
                          <a:effectLst/>
                        </a:rPr>
                      </a:br>
                      <a:r>
                        <a:rPr lang="en-GB" sz="900" u="none" strike="noStrike">
                          <a:effectLst/>
                        </a:rPr>
                        <a:t>at one Cft. per %Sft. (0.003 cu.m per sq.m)</a:t>
                      </a:r>
                      <a:endParaRPr lang="en-GB" sz="900" b="0" i="0" u="none" strike="noStrike">
                        <a:solidFill>
                          <a:srgbClr val="000000"/>
                        </a:solidFill>
                        <a:effectLst/>
                        <a:latin typeface="Arial" panose="020B0604020202020204" pitchFamily="34" charset="0"/>
                      </a:endParaRPr>
                    </a:p>
                  </a:txBody>
                  <a:tcPr marL="4824" marR="4824" marT="4824" marB="0" anchor="ctr"/>
                </a:tc>
                <a:tc>
                  <a:txBody>
                    <a:bodyPr/>
                    <a:lstStyle/>
                    <a:p>
                      <a:pPr algn="ctr" fontAlgn="ctr"/>
                      <a:r>
                        <a:rPr lang="en-GB" sz="900" u="none" strike="noStrike">
                          <a:effectLst/>
                        </a:rPr>
                        <a:t>100 sft</a:t>
                      </a:r>
                      <a:endParaRPr lang="en-GB" sz="900" b="0" i="0" u="none" strike="noStrike">
                        <a:solidFill>
                          <a:srgbClr val="000000"/>
                        </a:solidFill>
                        <a:effectLst/>
                        <a:latin typeface="Arial" panose="020B0604020202020204" pitchFamily="34" charset="0"/>
                      </a:endParaRPr>
                    </a:p>
                  </a:txBody>
                  <a:tcPr marL="4824" marR="4824" marT="4824" marB="0" anchor="ctr"/>
                </a:tc>
                <a:tc>
                  <a:txBody>
                    <a:bodyPr/>
                    <a:lstStyle/>
                    <a:p>
                      <a:pPr algn="ctr" fontAlgn="ctr"/>
                      <a:r>
                        <a:rPr lang="en-GB" sz="900" u="none" strike="noStrike">
                          <a:effectLst/>
                        </a:rPr>
                        <a:t>1906.2542</a:t>
                      </a:r>
                      <a:endParaRPr lang="en-GB" sz="900" b="0" i="0" u="none" strike="noStrike">
                        <a:solidFill>
                          <a:srgbClr val="000000"/>
                        </a:solidFill>
                        <a:effectLst/>
                        <a:latin typeface="Arial" panose="020B0604020202020204" pitchFamily="34" charset="0"/>
                      </a:endParaRPr>
                    </a:p>
                  </a:txBody>
                  <a:tcPr marL="4824" marR="4824" marT="4824" marB="0" anchor="ctr"/>
                </a:tc>
                <a:tc>
                  <a:txBody>
                    <a:bodyPr/>
                    <a:lstStyle/>
                    <a:p>
                      <a:pPr algn="ctr" fontAlgn="ctr"/>
                      <a:r>
                        <a:rPr lang="en-GB" sz="900" u="none" strike="noStrike">
                          <a:effectLst/>
                        </a:rPr>
                        <a:t>2170.75</a:t>
                      </a:r>
                      <a:endParaRPr lang="en-GB" sz="900" b="0" i="0" u="none" strike="noStrike">
                        <a:solidFill>
                          <a:srgbClr val="000000"/>
                        </a:solidFill>
                        <a:effectLst/>
                        <a:latin typeface="Arial" panose="020B0604020202020204" pitchFamily="34" charset="0"/>
                      </a:endParaRPr>
                    </a:p>
                  </a:txBody>
                  <a:tcPr marL="4824" marR="4824" marT="4824" marB="0" anchor="ctr"/>
                </a:tc>
                <a:tc>
                  <a:txBody>
                    <a:bodyPr/>
                    <a:lstStyle/>
                    <a:p>
                      <a:pPr algn="ctr" fontAlgn="ctr"/>
                      <a:r>
                        <a:rPr lang="en-GB" sz="900" u="none" strike="noStrike">
                          <a:effectLst/>
                        </a:rPr>
                        <a:t>41374.495</a:t>
                      </a:r>
                      <a:endParaRPr lang="en-GB" sz="900" b="0" i="0" u="none" strike="noStrike">
                        <a:solidFill>
                          <a:srgbClr val="000000"/>
                        </a:solidFill>
                        <a:effectLst/>
                        <a:latin typeface="Arial" panose="020B0604020202020204" pitchFamily="34" charset="0"/>
                      </a:endParaRPr>
                    </a:p>
                  </a:txBody>
                  <a:tcPr marL="4824" marR="4824" marT="4824" marB="0" anchor="ctr"/>
                </a:tc>
                <a:tc>
                  <a:txBody>
                    <a:bodyPr/>
                    <a:lstStyle/>
                    <a:p>
                      <a:pPr algn="ctr" fontAlgn="ctr"/>
                      <a:r>
                        <a:rPr lang="en-GB" sz="900" u="none" strike="noStrike">
                          <a:effectLst/>
                        </a:rPr>
                        <a:t> </a:t>
                      </a:r>
                      <a:endParaRPr lang="en-GB" sz="900" b="0" i="0" u="none" strike="noStrike">
                        <a:solidFill>
                          <a:srgbClr val="000000"/>
                        </a:solidFill>
                        <a:effectLst/>
                        <a:latin typeface="Arial" panose="020B0604020202020204" pitchFamily="34" charset="0"/>
                      </a:endParaRPr>
                    </a:p>
                  </a:txBody>
                  <a:tcPr marL="4824" marR="4824" marT="4824" marB="0" anchor="ctr"/>
                </a:tc>
              </a:tr>
              <a:tr h="870290">
                <a:tc>
                  <a:txBody>
                    <a:bodyPr/>
                    <a:lstStyle/>
                    <a:p>
                      <a:pPr algn="ctr" fontAlgn="ctr"/>
                      <a:r>
                        <a:rPr lang="en-GB" sz="900" u="none" strike="noStrike">
                          <a:effectLst/>
                        </a:rPr>
                        <a:t>15.3</a:t>
                      </a:r>
                      <a:endParaRPr lang="en-GB" sz="900" b="1" i="0" u="none" strike="noStrike">
                        <a:solidFill>
                          <a:srgbClr val="000000"/>
                        </a:solidFill>
                        <a:effectLst/>
                        <a:latin typeface="Arial" panose="020B0604020202020204" pitchFamily="34" charset="0"/>
                      </a:endParaRPr>
                    </a:p>
                  </a:txBody>
                  <a:tcPr marL="4824" marR="4824" marT="4824" marB="0" anchor="ctr"/>
                </a:tc>
                <a:tc>
                  <a:txBody>
                    <a:bodyPr/>
                    <a:lstStyle/>
                    <a:p>
                      <a:pPr algn="ctr" fontAlgn="ctr"/>
                      <a:r>
                        <a:rPr lang="en-GB" sz="900" u="none" strike="noStrike">
                          <a:effectLst/>
                        </a:rPr>
                        <a:t>Single layer of tiles 9"x4½"x1½" (225x113x40 mm) laid  over 4"(100 mm) earth and 1" (25 mm) mud plaster without</a:t>
                      </a:r>
                      <a:br>
                        <a:rPr lang="en-GB" sz="900" u="none" strike="noStrike">
                          <a:effectLst/>
                        </a:rPr>
                      </a:br>
                      <a:r>
                        <a:rPr lang="en-GB" sz="900" u="none" strike="noStrike">
                          <a:effectLst/>
                        </a:rPr>
                        <a:t>Bhoosa, grouted with cement sand 1:3 on top of RCC roof</a:t>
                      </a:r>
                      <a:br>
                        <a:rPr lang="en-GB" sz="900" u="none" strike="noStrike">
                          <a:effectLst/>
                        </a:rPr>
                      </a:br>
                      <a:r>
                        <a:rPr lang="en-GB" sz="900" u="none" strike="noStrike">
                          <a:effectLst/>
                        </a:rPr>
                        <a:t>slab, provided with 34 lbs. per %Sft. or 1.72 Kg/Sq.m</a:t>
                      </a:r>
                      <a:br>
                        <a:rPr lang="en-GB" sz="900" u="none" strike="noStrike">
                          <a:effectLst/>
                        </a:rPr>
                      </a:br>
                      <a:r>
                        <a:rPr lang="en-GB" sz="900" u="none" strike="noStrike">
                          <a:effectLst/>
                        </a:rPr>
                        <a:t>bitumen coating sand blinded.</a:t>
                      </a:r>
                      <a:endParaRPr lang="en-GB" sz="900" b="0" i="0" u="none" strike="noStrike">
                        <a:solidFill>
                          <a:srgbClr val="000000"/>
                        </a:solidFill>
                        <a:effectLst/>
                        <a:latin typeface="Arial" panose="020B0604020202020204" pitchFamily="34" charset="0"/>
                      </a:endParaRPr>
                    </a:p>
                  </a:txBody>
                  <a:tcPr marL="4824" marR="4824" marT="4824" marB="0" anchor="ctr"/>
                </a:tc>
                <a:tc>
                  <a:txBody>
                    <a:bodyPr/>
                    <a:lstStyle/>
                    <a:p>
                      <a:pPr algn="ctr" fontAlgn="ctr"/>
                      <a:r>
                        <a:rPr lang="en-GB" sz="900" u="none" strike="noStrike">
                          <a:effectLst/>
                        </a:rPr>
                        <a:t>100 sft</a:t>
                      </a:r>
                      <a:endParaRPr lang="en-GB" sz="900" b="0" i="0" u="none" strike="noStrike">
                        <a:solidFill>
                          <a:srgbClr val="000000"/>
                        </a:solidFill>
                        <a:effectLst/>
                        <a:latin typeface="Arial" panose="020B0604020202020204" pitchFamily="34" charset="0"/>
                      </a:endParaRPr>
                    </a:p>
                  </a:txBody>
                  <a:tcPr marL="4824" marR="4824" marT="4824" marB="0" anchor="ctr"/>
                </a:tc>
                <a:tc>
                  <a:txBody>
                    <a:bodyPr/>
                    <a:lstStyle/>
                    <a:p>
                      <a:pPr algn="ctr" fontAlgn="ctr"/>
                      <a:r>
                        <a:rPr lang="en-GB" sz="900" u="none" strike="noStrike">
                          <a:effectLst/>
                        </a:rPr>
                        <a:t>1906.2542</a:t>
                      </a:r>
                      <a:endParaRPr lang="en-GB" sz="900" b="0" i="0" u="none" strike="noStrike">
                        <a:solidFill>
                          <a:srgbClr val="000000"/>
                        </a:solidFill>
                        <a:effectLst/>
                        <a:latin typeface="Arial" panose="020B0604020202020204" pitchFamily="34" charset="0"/>
                      </a:endParaRPr>
                    </a:p>
                  </a:txBody>
                  <a:tcPr marL="4824" marR="4824" marT="4824" marB="0" anchor="ctr"/>
                </a:tc>
                <a:tc>
                  <a:txBody>
                    <a:bodyPr/>
                    <a:lstStyle/>
                    <a:p>
                      <a:pPr algn="ctr" fontAlgn="ctr"/>
                      <a:r>
                        <a:rPr lang="en-GB" sz="900" u="none" strike="noStrike">
                          <a:effectLst/>
                        </a:rPr>
                        <a:t>6,791.80</a:t>
                      </a:r>
                      <a:endParaRPr lang="en-GB" sz="900" b="0" i="0" u="none" strike="noStrike">
                        <a:solidFill>
                          <a:srgbClr val="000000"/>
                        </a:solidFill>
                        <a:effectLst/>
                        <a:latin typeface="Arial" panose="020B0604020202020204" pitchFamily="34" charset="0"/>
                      </a:endParaRPr>
                    </a:p>
                  </a:txBody>
                  <a:tcPr marL="4824" marR="4824" marT="4824" marB="0" anchor="ctr"/>
                </a:tc>
                <a:tc>
                  <a:txBody>
                    <a:bodyPr/>
                    <a:lstStyle/>
                    <a:p>
                      <a:pPr algn="ctr" fontAlgn="ctr"/>
                      <a:r>
                        <a:rPr lang="en-GB" sz="900" u="none" strike="noStrike">
                          <a:effectLst/>
                        </a:rPr>
                        <a:t>129451.7</a:t>
                      </a:r>
                      <a:endParaRPr lang="en-GB" sz="900" b="0" i="0" u="none" strike="noStrike">
                        <a:solidFill>
                          <a:srgbClr val="000000"/>
                        </a:solidFill>
                        <a:effectLst/>
                        <a:latin typeface="Arial" panose="020B0604020202020204" pitchFamily="34" charset="0"/>
                      </a:endParaRPr>
                    </a:p>
                  </a:txBody>
                  <a:tcPr marL="4824" marR="4824" marT="4824" marB="0" anchor="ctr"/>
                </a:tc>
                <a:tc rowSpan="5">
                  <a:txBody>
                    <a:bodyPr/>
                    <a:lstStyle/>
                    <a:p>
                      <a:pPr algn="ctr" fontAlgn="b"/>
                      <a:r>
                        <a:rPr lang="en-GB" sz="900" u="none" strike="noStrike">
                          <a:effectLst/>
                        </a:rPr>
                        <a:t> </a:t>
                      </a:r>
                      <a:endParaRPr lang="en-GB" sz="900" b="0" i="0" u="none" strike="noStrike">
                        <a:solidFill>
                          <a:srgbClr val="000000"/>
                        </a:solidFill>
                        <a:effectLst/>
                        <a:latin typeface="Arial" panose="020B0604020202020204" pitchFamily="34" charset="0"/>
                      </a:endParaRPr>
                    </a:p>
                  </a:txBody>
                  <a:tcPr marL="4824" marR="4824" marT="4824" marB="0" anchor="b"/>
                </a:tc>
              </a:tr>
              <a:tr h="162263">
                <a:tc>
                  <a:txBody>
                    <a:bodyPr/>
                    <a:lstStyle/>
                    <a:p>
                      <a:pPr algn="ctr" fontAlgn="ctr"/>
                      <a:r>
                        <a:rPr lang="en-GB" sz="900" u="none" strike="noStrike">
                          <a:effectLst/>
                        </a:rPr>
                        <a:t>15.4</a:t>
                      </a:r>
                      <a:endParaRPr lang="en-GB" sz="900" b="1" i="0" u="none" strike="noStrike">
                        <a:solidFill>
                          <a:srgbClr val="000000"/>
                        </a:solidFill>
                        <a:effectLst/>
                        <a:latin typeface="Arial" panose="020B0604020202020204" pitchFamily="34" charset="0"/>
                      </a:endParaRPr>
                    </a:p>
                  </a:txBody>
                  <a:tcPr marL="4824" marR="4824" marT="4824" marB="0" anchor="ctr"/>
                </a:tc>
                <a:tc>
                  <a:txBody>
                    <a:bodyPr/>
                    <a:lstStyle/>
                    <a:p>
                      <a:pPr algn="ctr" fontAlgn="ctr"/>
                      <a:r>
                        <a:rPr lang="en-GB" sz="900" u="none" strike="noStrike">
                          <a:effectLst/>
                        </a:rPr>
                        <a:t>Layer of Polythene with a thickness of 2''</a:t>
                      </a:r>
                      <a:endParaRPr lang="en-GB" sz="900" b="0" i="0" u="none" strike="noStrike">
                        <a:solidFill>
                          <a:srgbClr val="000000"/>
                        </a:solidFill>
                        <a:effectLst/>
                        <a:latin typeface="Arial" panose="020B0604020202020204" pitchFamily="34" charset="0"/>
                      </a:endParaRPr>
                    </a:p>
                  </a:txBody>
                  <a:tcPr marL="4824" marR="4824" marT="4824" marB="0" anchor="ctr"/>
                </a:tc>
                <a:tc>
                  <a:txBody>
                    <a:bodyPr/>
                    <a:lstStyle/>
                    <a:p>
                      <a:pPr algn="ctr" fontAlgn="ctr"/>
                      <a:r>
                        <a:rPr lang="en-GB" sz="900" u="none" strike="noStrike">
                          <a:effectLst/>
                        </a:rPr>
                        <a:t>100 sft</a:t>
                      </a:r>
                      <a:endParaRPr lang="en-GB" sz="900" b="0" i="0" u="none" strike="noStrike">
                        <a:solidFill>
                          <a:srgbClr val="000000"/>
                        </a:solidFill>
                        <a:effectLst/>
                        <a:latin typeface="Arial" panose="020B0604020202020204" pitchFamily="34" charset="0"/>
                      </a:endParaRPr>
                    </a:p>
                  </a:txBody>
                  <a:tcPr marL="4824" marR="4824" marT="4824" marB="0" anchor="ctr"/>
                </a:tc>
                <a:tc>
                  <a:txBody>
                    <a:bodyPr/>
                    <a:lstStyle/>
                    <a:p>
                      <a:pPr algn="ctr" fontAlgn="ctr"/>
                      <a:r>
                        <a:rPr lang="en-GB" sz="900" u="none" strike="noStrike">
                          <a:effectLst/>
                        </a:rPr>
                        <a:t>1906.2542</a:t>
                      </a:r>
                      <a:endParaRPr lang="en-GB" sz="900" b="0" i="0" u="none" strike="noStrike">
                        <a:solidFill>
                          <a:srgbClr val="000000"/>
                        </a:solidFill>
                        <a:effectLst/>
                        <a:latin typeface="Arial" panose="020B0604020202020204" pitchFamily="34" charset="0"/>
                      </a:endParaRPr>
                    </a:p>
                  </a:txBody>
                  <a:tcPr marL="4824" marR="4824" marT="4824" marB="0" anchor="ctr"/>
                </a:tc>
                <a:tc>
                  <a:txBody>
                    <a:bodyPr/>
                    <a:lstStyle/>
                    <a:p>
                      <a:pPr algn="ctr" fontAlgn="ctr"/>
                      <a:r>
                        <a:rPr lang="en-GB" sz="900" u="none" strike="noStrike">
                          <a:effectLst/>
                        </a:rPr>
                        <a:t>10,865.90</a:t>
                      </a:r>
                      <a:endParaRPr lang="en-GB" sz="900" b="0" i="0" u="none" strike="noStrike">
                        <a:solidFill>
                          <a:srgbClr val="000000"/>
                        </a:solidFill>
                        <a:effectLst/>
                        <a:latin typeface="Arial" panose="020B0604020202020204" pitchFamily="34" charset="0"/>
                      </a:endParaRPr>
                    </a:p>
                  </a:txBody>
                  <a:tcPr marL="4824" marR="4824" marT="4824" marB="0" anchor="ctr"/>
                </a:tc>
                <a:tc>
                  <a:txBody>
                    <a:bodyPr/>
                    <a:lstStyle/>
                    <a:p>
                      <a:pPr algn="ctr" fontAlgn="ctr"/>
                      <a:r>
                        <a:rPr lang="en-GB" sz="900" u="none" strike="noStrike">
                          <a:effectLst/>
                        </a:rPr>
                        <a:t>207104.054</a:t>
                      </a:r>
                      <a:endParaRPr lang="en-GB" sz="900" b="0" i="0" u="none" strike="noStrike">
                        <a:solidFill>
                          <a:srgbClr val="000000"/>
                        </a:solidFill>
                        <a:effectLst/>
                        <a:latin typeface="Arial" panose="020B0604020202020204" pitchFamily="34" charset="0"/>
                      </a:endParaRPr>
                    </a:p>
                  </a:txBody>
                  <a:tcPr marL="4824" marR="4824" marT="4824" marB="0" anchor="ctr"/>
                </a:tc>
                <a:tc vMerge="1">
                  <a:txBody>
                    <a:bodyPr/>
                    <a:lstStyle/>
                    <a:p>
                      <a:endParaRPr lang="en-GB"/>
                    </a:p>
                  </a:txBody>
                  <a:tcPr/>
                </a:tc>
              </a:tr>
              <a:tr h="162263">
                <a:tc>
                  <a:txBody>
                    <a:bodyPr/>
                    <a:lstStyle/>
                    <a:p>
                      <a:pPr algn="ctr" fontAlgn="ctr"/>
                      <a:r>
                        <a:rPr lang="en-GB" sz="900" u="none" strike="noStrike">
                          <a:effectLst/>
                        </a:rPr>
                        <a:t>15.5</a:t>
                      </a:r>
                      <a:endParaRPr lang="en-GB" sz="900" b="1" i="0" u="none" strike="noStrike">
                        <a:solidFill>
                          <a:srgbClr val="000000"/>
                        </a:solidFill>
                        <a:effectLst/>
                        <a:latin typeface="Arial" panose="020B0604020202020204" pitchFamily="34" charset="0"/>
                      </a:endParaRPr>
                    </a:p>
                  </a:txBody>
                  <a:tcPr marL="4824" marR="4824" marT="4824" marB="0" anchor="ctr"/>
                </a:tc>
                <a:tc>
                  <a:txBody>
                    <a:bodyPr/>
                    <a:lstStyle/>
                    <a:p>
                      <a:pPr algn="ctr" fontAlgn="ctr"/>
                      <a:r>
                        <a:rPr lang="en-GB" sz="900" u="none" strike="noStrike">
                          <a:effectLst/>
                        </a:rPr>
                        <a:t>6" thick RCC slab (1:2:4)</a:t>
                      </a:r>
                      <a:endParaRPr lang="en-GB" sz="900" b="0" i="0" u="none" strike="noStrike">
                        <a:solidFill>
                          <a:srgbClr val="000000"/>
                        </a:solidFill>
                        <a:effectLst/>
                        <a:latin typeface="Arial" panose="020B0604020202020204" pitchFamily="34" charset="0"/>
                      </a:endParaRPr>
                    </a:p>
                  </a:txBody>
                  <a:tcPr marL="4824" marR="4824" marT="4824" marB="0" anchor="ctr"/>
                </a:tc>
                <a:tc>
                  <a:txBody>
                    <a:bodyPr/>
                    <a:lstStyle/>
                    <a:p>
                      <a:pPr algn="ctr" fontAlgn="ctr"/>
                      <a:r>
                        <a:rPr lang="en-GB" sz="900" u="none" strike="noStrike">
                          <a:effectLst/>
                        </a:rPr>
                        <a:t>per cft</a:t>
                      </a:r>
                      <a:endParaRPr lang="en-GB" sz="900" b="0" i="0" u="none" strike="noStrike">
                        <a:solidFill>
                          <a:srgbClr val="000000"/>
                        </a:solidFill>
                        <a:effectLst/>
                        <a:latin typeface="Arial" panose="020B0604020202020204" pitchFamily="34" charset="0"/>
                      </a:endParaRPr>
                    </a:p>
                  </a:txBody>
                  <a:tcPr marL="4824" marR="4824" marT="4824" marB="0" anchor="ctr"/>
                </a:tc>
                <a:tc>
                  <a:txBody>
                    <a:bodyPr/>
                    <a:lstStyle/>
                    <a:p>
                      <a:pPr algn="ctr" fontAlgn="ctr"/>
                      <a:r>
                        <a:rPr lang="en-GB" sz="900" u="none" strike="noStrike">
                          <a:effectLst/>
                        </a:rPr>
                        <a:t>159.065</a:t>
                      </a:r>
                      <a:endParaRPr lang="en-GB" sz="900" b="0" i="0" u="none" strike="noStrike">
                        <a:solidFill>
                          <a:srgbClr val="000000"/>
                        </a:solidFill>
                        <a:effectLst/>
                        <a:latin typeface="Arial" panose="020B0604020202020204" pitchFamily="34" charset="0"/>
                      </a:endParaRPr>
                    </a:p>
                  </a:txBody>
                  <a:tcPr marL="4824" marR="4824" marT="4824" marB="0" anchor="ctr"/>
                </a:tc>
                <a:tc>
                  <a:txBody>
                    <a:bodyPr/>
                    <a:lstStyle/>
                    <a:p>
                      <a:pPr algn="ctr" fontAlgn="ctr"/>
                      <a:r>
                        <a:rPr lang="en-GB" sz="900" u="none" strike="noStrike">
                          <a:effectLst/>
                        </a:rPr>
                        <a:t>355.00</a:t>
                      </a:r>
                      <a:endParaRPr lang="en-GB" sz="900" b="0" i="0" u="none" strike="noStrike">
                        <a:solidFill>
                          <a:srgbClr val="000000"/>
                        </a:solidFill>
                        <a:effectLst/>
                        <a:latin typeface="Arial" panose="020B0604020202020204" pitchFamily="34" charset="0"/>
                      </a:endParaRPr>
                    </a:p>
                  </a:txBody>
                  <a:tcPr marL="4824" marR="4824" marT="4824" marB="0" anchor="ctr"/>
                </a:tc>
                <a:tc>
                  <a:txBody>
                    <a:bodyPr/>
                    <a:lstStyle/>
                    <a:p>
                      <a:pPr algn="ctr" fontAlgn="ctr"/>
                      <a:r>
                        <a:rPr lang="en-GB" sz="900" u="none" strike="noStrike">
                          <a:effectLst/>
                        </a:rPr>
                        <a:t>56468.075</a:t>
                      </a:r>
                      <a:endParaRPr lang="en-GB" sz="900" b="0" i="0" u="none" strike="noStrike">
                        <a:solidFill>
                          <a:srgbClr val="000000"/>
                        </a:solidFill>
                        <a:effectLst/>
                        <a:latin typeface="Arial" panose="020B0604020202020204" pitchFamily="34" charset="0"/>
                      </a:endParaRPr>
                    </a:p>
                  </a:txBody>
                  <a:tcPr marL="4824" marR="4824" marT="4824" marB="0" anchor="ctr"/>
                </a:tc>
                <a:tc vMerge="1">
                  <a:txBody>
                    <a:bodyPr/>
                    <a:lstStyle/>
                    <a:p>
                      <a:endParaRPr lang="en-GB"/>
                    </a:p>
                  </a:txBody>
                  <a:tcPr/>
                </a:tc>
              </a:tr>
              <a:tr h="168688">
                <a:tc rowSpan="2">
                  <a:txBody>
                    <a:bodyPr/>
                    <a:lstStyle/>
                    <a:p>
                      <a:pPr algn="ctr" fontAlgn="ctr"/>
                      <a:r>
                        <a:rPr lang="en-GB" sz="900" u="none" strike="noStrike">
                          <a:effectLst/>
                        </a:rPr>
                        <a:t>16</a:t>
                      </a:r>
                      <a:endParaRPr lang="en-GB" sz="900" b="1" i="0" u="none" strike="noStrike">
                        <a:solidFill>
                          <a:srgbClr val="000000"/>
                        </a:solidFill>
                        <a:effectLst/>
                        <a:latin typeface="Arial" panose="020B0604020202020204" pitchFamily="34" charset="0"/>
                      </a:endParaRPr>
                    </a:p>
                  </a:txBody>
                  <a:tcPr marL="4824" marR="4824" marT="4824" marB="0" anchor="ctr"/>
                </a:tc>
                <a:tc>
                  <a:txBody>
                    <a:bodyPr/>
                    <a:lstStyle/>
                    <a:p>
                      <a:pPr algn="ctr" fontAlgn="b"/>
                      <a:r>
                        <a:rPr lang="en-GB" sz="900" u="sng" strike="noStrike">
                          <a:effectLst/>
                        </a:rPr>
                        <a:t>washroom tiles</a:t>
                      </a:r>
                      <a:endParaRPr lang="en-GB" sz="900" b="1" i="0" u="sng" strike="noStrike">
                        <a:solidFill>
                          <a:srgbClr val="000000"/>
                        </a:solidFill>
                        <a:effectLst/>
                        <a:latin typeface="Arial" panose="020B0604020202020204" pitchFamily="34" charset="0"/>
                      </a:endParaRPr>
                    </a:p>
                  </a:txBody>
                  <a:tcPr marL="4824" marR="4824" marT="4824" marB="0" anchor="b"/>
                </a:tc>
                <a:tc rowSpan="2">
                  <a:txBody>
                    <a:bodyPr/>
                    <a:lstStyle/>
                    <a:p>
                      <a:pPr algn="ctr" fontAlgn="ctr"/>
                      <a:r>
                        <a:rPr lang="en-GB" sz="900" u="none" strike="noStrike">
                          <a:effectLst/>
                        </a:rPr>
                        <a:t>100 sft</a:t>
                      </a:r>
                      <a:endParaRPr lang="en-GB" sz="900" b="0" i="0" u="none" strike="noStrike">
                        <a:solidFill>
                          <a:srgbClr val="000000"/>
                        </a:solidFill>
                        <a:effectLst/>
                        <a:latin typeface="Arial" panose="020B0604020202020204" pitchFamily="34" charset="0"/>
                      </a:endParaRPr>
                    </a:p>
                  </a:txBody>
                  <a:tcPr marL="4824" marR="4824" marT="4824" marB="0" anchor="ctr"/>
                </a:tc>
                <a:tc rowSpan="2">
                  <a:txBody>
                    <a:bodyPr/>
                    <a:lstStyle/>
                    <a:p>
                      <a:pPr algn="ctr" fontAlgn="ctr"/>
                      <a:r>
                        <a:rPr lang="en-GB" sz="900" u="none" strike="noStrike">
                          <a:effectLst/>
                        </a:rPr>
                        <a:t>87.715</a:t>
                      </a:r>
                      <a:endParaRPr lang="en-GB" sz="900" b="0" i="0" u="none" strike="noStrike">
                        <a:solidFill>
                          <a:srgbClr val="000000"/>
                        </a:solidFill>
                        <a:effectLst/>
                        <a:latin typeface="Arial" panose="020B0604020202020204" pitchFamily="34" charset="0"/>
                      </a:endParaRPr>
                    </a:p>
                  </a:txBody>
                  <a:tcPr marL="4824" marR="4824" marT="4824" marB="0" anchor="ctr"/>
                </a:tc>
                <a:tc rowSpan="2">
                  <a:txBody>
                    <a:bodyPr/>
                    <a:lstStyle/>
                    <a:p>
                      <a:pPr algn="ctr" fontAlgn="ctr"/>
                      <a:r>
                        <a:rPr lang="en-GB" sz="900" u="none" strike="noStrike">
                          <a:effectLst/>
                        </a:rPr>
                        <a:t>14,515.00</a:t>
                      </a:r>
                      <a:endParaRPr lang="en-GB" sz="900" b="0" i="0" u="none" strike="noStrike">
                        <a:solidFill>
                          <a:srgbClr val="000000"/>
                        </a:solidFill>
                        <a:effectLst/>
                        <a:latin typeface="Arial" panose="020B0604020202020204" pitchFamily="34" charset="0"/>
                      </a:endParaRPr>
                    </a:p>
                  </a:txBody>
                  <a:tcPr marL="4824" marR="4824" marT="4824" marB="0" anchor="ctr"/>
                </a:tc>
                <a:tc rowSpan="2">
                  <a:txBody>
                    <a:bodyPr/>
                    <a:lstStyle/>
                    <a:p>
                      <a:pPr algn="ctr" fontAlgn="ctr"/>
                      <a:r>
                        <a:rPr lang="en-GB" sz="900" u="none" strike="noStrike">
                          <a:effectLst/>
                        </a:rPr>
                        <a:t>12731.83</a:t>
                      </a:r>
                      <a:endParaRPr lang="en-GB" sz="900" b="0" i="0" u="none" strike="noStrike">
                        <a:solidFill>
                          <a:srgbClr val="000000"/>
                        </a:solidFill>
                        <a:effectLst/>
                        <a:latin typeface="Arial" panose="020B0604020202020204" pitchFamily="34" charset="0"/>
                      </a:endParaRPr>
                    </a:p>
                  </a:txBody>
                  <a:tcPr marL="4824" marR="4824" marT="4824" marB="0" anchor="ctr"/>
                </a:tc>
                <a:tc vMerge="1">
                  <a:txBody>
                    <a:bodyPr/>
                    <a:lstStyle/>
                    <a:p>
                      <a:endParaRPr lang="en-GB"/>
                    </a:p>
                  </a:txBody>
                  <a:tcPr/>
                </a:tc>
              </a:tr>
              <a:tr h="484295">
                <a:tc vMerge="1">
                  <a:txBody>
                    <a:bodyPr/>
                    <a:lstStyle/>
                    <a:p>
                      <a:endParaRPr lang="en-GB"/>
                    </a:p>
                  </a:txBody>
                  <a:tcPr/>
                </a:tc>
                <a:tc>
                  <a:txBody>
                    <a:bodyPr/>
                    <a:lstStyle/>
                    <a:p>
                      <a:pPr algn="ctr" fontAlgn="ctr"/>
                      <a:r>
                        <a:rPr lang="en-GB" sz="900" u="none" strike="noStrike" dirty="0">
                          <a:effectLst/>
                        </a:rPr>
                        <a:t>Laying floor of approved white glazed tile ¼" (6 mm) thick in white cement 1:2 over ¾" (20mm) thick cement mortar</a:t>
                      </a:r>
                      <a:br>
                        <a:rPr lang="en-GB" sz="900" u="none" strike="noStrike" dirty="0">
                          <a:effectLst/>
                        </a:rPr>
                      </a:br>
                      <a:r>
                        <a:rPr lang="en-GB" sz="900" u="none" strike="noStrike" dirty="0">
                          <a:effectLst/>
                        </a:rPr>
                        <a:t>1:2, complete</a:t>
                      </a:r>
                      <a:endParaRPr lang="en-GB" sz="900" b="0" i="0" u="none" strike="noStrike" dirty="0">
                        <a:solidFill>
                          <a:srgbClr val="000000"/>
                        </a:solidFill>
                        <a:effectLst/>
                        <a:latin typeface="Arial" panose="020B0604020202020204" pitchFamily="34" charset="0"/>
                      </a:endParaRPr>
                    </a:p>
                  </a:txBody>
                  <a:tcPr marL="4824" marR="4824" marT="4824" marB="0" anchor="ctr"/>
                </a:tc>
                <a:tc vMerge="1">
                  <a:txBody>
                    <a:bodyPr/>
                    <a:lstStyle/>
                    <a:p>
                      <a:endParaRPr lang="en-GB"/>
                    </a:p>
                  </a:txBody>
                  <a:tcPr/>
                </a:tc>
                <a:tc vMerge="1">
                  <a:txBody>
                    <a:bodyPr/>
                    <a:lstStyle/>
                    <a:p>
                      <a:endParaRPr lang="en-GB"/>
                    </a:p>
                  </a:txBody>
                  <a:tcPr/>
                </a:tc>
                <a:tc vMerge="1">
                  <a:txBody>
                    <a:bodyPr/>
                    <a:lstStyle/>
                    <a:p>
                      <a:endParaRPr lang="en-GB"/>
                    </a:p>
                  </a:txBody>
                  <a:tcPr/>
                </a:tc>
                <a:tc vMerge="1">
                  <a:txBody>
                    <a:bodyPr/>
                    <a:lstStyle/>
                    <a:p>
                      <a:endParaRPr lang="en-GB"/>
                    </a:p>
                  </a:txBody>
                  <a:tcPr/>
                </a:tc>
                <a:tc vMerge="1">
                  <a:txBody>
                    <a:bodyPr/>
                    <a:lstStyle/>
                    <a:p>
                      <a:endParaRPr lang="en-GB"/>
                    </a:p>
                  </a:txBody>
                  <a:tcPr/>
                </a:tc>
              </a:tr>
            </a:tbl>
          </a:graphicData>
        </a:graphic>
      </p:graphicFrame>
      <p:graphicFrame>
        <p:nvGraphicFramePr>
          <p:cNvPr id="3" name="Table 2"/>
          <p:cNvGraphicFramePr>
            <a:graphicFrameLocks noGrp="1"/>
          </p:cNvGraphicFramePr>
          <p:nvPr>
            <p:extLst>
              <p:ext uri="{D42A27DB-BD31-4B8C-83A1-F6EECF244321}">
                <p14:modId xmlns:p14="http://schemas.microsoft.com/office/powerpoint/2010/main" val="319462635"/>
              </p:ext>
            </p:extLst>
          </p:nvPr>
        </p:nvGraphicFramePr>
        <p:xfrm>
          <a:off x="890435" y="4709620"/>
          <a:ext cx="7210425" cy="266020"/>
        </p:xfrm>
        <a:graphic>
          <a:graphicData uri="http://schemas.openxmlformats.org/drawingml/2006/table">
            <a:tbl>
              <a:tblPr>
                <a:tableStyleId>{5C22544A-7EE6-4342-B048-85BDC9FD1C3A}</a:tableStyleId>
              </a:tblPr>
              <a:tblGrid>
                <a:gridCol w="3670762"/>
                <a:gridCol w="643008"/>
                <a:gridCol w="799077"/>
                <a:gridCol w="2097578"/>
              </a:tblGrid>
              <a:tr h="266020">
                <a:tc>
                  <a:txBody>
                    <a:bodyPr/>
                    <a:lstStyle/>
                    <a:p>
                      <a:pPr algn="ctr" fontAlgn="ctr"/>
                      <a:r>
                        <a:rPr lang="en-GB" sz="1700" u="none" strike="noStrike">
                          <a:effectLst/>
                        </a:rPr>
                        <a:t>Total BOQ </a:t>
                      </a:r>
                      <a:endParaRPr lang="en-GB" sz="1700" b="1" i="0" u="none" strike="noStrike">
                        <a:solidFill>
                          <a:srgbClr val="000000"/>
                        </a:solidFill>
                        <a:effectLst/>
                        <a:latin typeface="Arial" panose="020B0604020202020204" pitchFamily="34" charset="0"/>
                      </a:endParaRPr>
                    </a:p>
                  </a:txBody>
                  <a:tcPr marL="6245" marR="6245" marT="6245" marB="0" anchor="ctr"/>
                </a:tc>
                <a:tc>
                  <a:txBody>
                    <a:bodyPr/>
                    <a:lstStyle/>
                    <a:p>
                      <a:pPr algn="ctr" fontAlgn="b"/>
                      <a:r>
                        <a:rPr lang="en-GB" sz="800" u="none" strike="noStrike">
                          <a:effectLst/>
                        </a:rPr>
                        <a:t> </a:t>
                      </a:r>
                      <a:endParaRPr lang="en-GB" sz="800" b="0" i="0" u="none" strike="noStrike">
                        <a:solidFill>
                          <a:srgbClr val="000000"/>
                        </a:solidFill>
                        <a:effectLst/>
                        <a:latin typeface="Arial" panose="020B0604020202020204" pitchFamily="34" charset="0"/>
                      </a:endParaRPr>
                    </a:p>
                  </a:txBody>
                  <a:tcPr marL="6245" marR="6245" marT="6245" marB="0" anchor="b"/>
                </a:tc>
                <a:tc>
                  <a:txBody>
                    <a:bodyPr/>
                    <a:lstStyle/>
                    <a:p>
                      <a:pPr algn="ctr" fontAlgn="b"/>
                      <a:r>
                        <a:rPr lang="en-GB" sz="800" u="none" strike="noStrike">
                          <a:effectLst/>
                        </a:rPr>
                        <a:t> </a:t>
                      </a:r>
                      <a:endParaRPr lang="en-GB" sz="800" b="0" i="0" u="none" strike="noStrike">
                        <a:solidFill>
                          <a:srgbClr val="000000"/>
                        </a:solidFill>
                        <a:effectLst/>
                        <a:latin typeface="Arial" panose="020B0604020202020204" pitchFamily="34" charset="0"/>
                      </a:endParaRPr>
                    </a:p>
                  </a:txBody>
                  <a:tcPr marL="6245" marR="6245" marT="6245" marB="0" anchor="b"/>
                </a:tc>
                <a:tc>
                  <a:txBody>
                    <a:bodyPr/>
                    <a:lstStyle/>
                    <a:p>
                      <a:pPr algn="ctr" fontAlgn="ctr"/>
                      <a:r>
                        <a:rPr lang="en-GB" sz="1700" u="none" strike="noStrike" dirty="0">
                          <a:effectLst/>
                        </a:rPr>
                        <a:t>5436527.283</a:t>
                      </a:r>
                      <a:endParaRPr lang="en-GB" sz="1700" b="0" i="0" u="none" strike="noStrike" dirty="0">
                        <a:solidFill>
                          <a:srgbClr val="000000"/>
                        </a:solidFill>
                        <a:effectLst/>
                        <a:latin typeface="Arial" panose="020B0604020202020204" pitchFamily="34" charset="0"/>
                      </a:endParaRPr>
                    </a:p>
                  </a:txBody>
                  <a:tcPr marL="6245" marR="6245" marT="6245" marB="0" anchor="ctr"/>
                </a:tc>
              </a:tr>
            </a:tbl>
          </a:graphicData>
        </a:graphic>
      </p:graphicFrame>
    </p:spTree>
    <p:extLst>
      <p:ext uri="{BB962C8B-B14F-4D97-AF65-F5344CB8AC3E}">
        <p14:creationId xmlns:p14="http://schemas.microsoft.com/office/powerpoint/2010/main" val="1730915696"/>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9BF9322-999E-407F-8849-24125D4DD06C}"/>
              </a:ext>
            </a:extLst>
          </p:cNvPr>
          <p:cNvSpPr>
            <a:spLocks noGrp="1"/>
          </p:cNvSpPr>
          <p:nvPr>
            <p:ph type="title"/>
          </p:nvPr>
        </p:nvSpPr>
        <p:spPr>
          <a:xfrm>
            <a:off x="143555" y="508642"/>
            <a:ext cx="7890527" cy="994173"/>
          </a:xfrm>
          <a:prstGeom prst="ellipse">
            <a:avLst/>
          </a:prstGeom>
        </p:spPr>
        <p:txBody>
          <a:bodyPr vert="horz" lIns="91440" tIns="45720" rIns="91440" bIns="45720" rtlCol="0">
            <a:normAutofit/>
          </a:bodyPr>
          <a:lstStyle/>
          <a:p>
            <a:r>
              <a:rPr lang="en-US" kern="1200" dirty="0">
                <a:latin typeface="+mj-lt"/>
                <a:ea typeface="+mj-ea"/>
                <a:cs typeface="+mj-cs"/>
              </a:rPr>
              <a:t>Bill of </a:t>
            </a:r>
            <a:r>
              <a:rPr lang="en-US" kern="1200" dirty="0" smtClean="0">
                <a:latin typeface="+mj-lt"/>
                <a:ea typeface="+mj-ea"/>
                <a:cs typeface="+mj-cs"/>
              </a:rPr>
              <a:t>Quantities</a:t>
            </a:r>
            <a:endParaRPr lang="en-US" kern="1200" dirty="0">
              <a:latin typeface="+mj-lt"/>
              <a:ea typeface="+mj-ea"/>
              <a:cs typeface="+mj-cs"/>
            </a:endParaRP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900161515"/>
              </p:ext>
            </p:extLst>
          </p:nvPr>
        </p:nvGraphicFramePr>
        <p:xfrm>
          <a:off x="509588" y="1502812"/>
          <a:ext cx="8032742" cy="3581288"/>
        </p:xfrm>
        <a:graphic>
          <a:graphicData uri="http://schemas.openxmlformats.org/drawingml/2006/table">
            <a:tbl>
              <a:tblPr>
                <a:tableStyleId>{5C22544A-7EE6-4342-B048-85BDC9FD1C3A}</a:tableStyleId>
              </a:tblPr>
              <a:tblGrid>
                <a:gridCol w="456221"/>
                <a:gridCol w="3617178"/>
                <a:gridCol w="719246"/>
                <a:gridCol w="893820"/>
                <a:gridCol w="893820"/>
                <a:gridCol w="1452457"/>
              </a:tblGrid>
              <a:tr h="294611">
                <a:tc>
                  <a:txBody>
                    <a:bodyPr/>
                    <a:lstStyle/>
                    <a:p>
                      <a:pPr algn="ctr" fontAlgn="ctr"/>
                      <a:r>
                        <a:rPr lang="en-GB" sz="900" u="none" strike="noStrike" dirty="0">
                          <a:effectLst/>
                        </a:rPr>
                        <a:t>Item</a:t>
                      </a:r>
                      <a:endParaRPr lang="en-GB" sz="900" b="1" i="0" u="none" strike="noStrike" dirty="0">
                        <a:solidFill>
                          <a:srgbClr val="000000"/>
                        </a:solidFill>
                        <a:effectLst/>
                        <a:latin typeface="Arial" panose="020B0604020202020204" pitchFamily="34" charset="0"/>
                      </a:endParaRPr>
                    </a:p>
                  </a:txBody>
                  <a:tcPr marL="6266" marR="6266" marT="6266" marB="0" anchor="ctr"/>
                </a:tc>
                <a:tc>
                  <a:txBody>
                    <a:bodyPr/>
                    <a:lstStyle/>
                    <a:p>
                      <a:pPr algn="ctr" fontAlgn="ctr"/>
                      <a:r>
                        <a:rPr lang="en-GB" sz="900" u="none" strike="noStrike">
                          <a:effectLst/>
                        </a:rPr>
                        <a:t>Description of work with General Specification</a:t>
                      </a:r>
                      <a:endParaRPr lang="en-GB" sz="900" b="1" i="0" u="none" strike="noStrike">
                        <a:solidFill>
                          <a:srgbClr val="000000"/>
                        </a:solidFill>
                        <a:effectLst/>
                        <a:latin typeface="Arial" panose="020B0604020202020204" pitchFamily="34" charset="0"/>
                      </a:endParaRPr>
                    </a:p>
                  </a:txBody>
                  <a:tcPr marL="6266" marR="6266" marT="6266" marB="0" anchor="ctr"/>
                </a:tc>
                <a:tc>
                  <a:txBody>
                    <a:bodyPr/>
                    <a:lstStyle/>
                    <a:p>
                      <a:pPr algn="ctr" fontAlgn="ctr"/>
                      <a:r>
                        <a:rPr lang="en-GB" sz="900" u="none" strike="noStrike">
                          <a:effectLst/>
                        </a:rPr>
                        <a:t>Unit</a:t>
                      </a:r>
                      <a:endParaRPr lang="en-GB" sz="900" b="1" i="0" u="none" strike="noStrike">
                        <a:solidFill>
                          <a:srgbClr val="000000"/>
                        </a:solidFill>
                        <a:effectLst/>
                        <a:latin typeface="Arial" panose="020B0604020202020204" pitchFamily="34" charset="0"/>
                      </a:endParaRPr>
                    </a:p>
                  </a:txBody>
                  <a:tcPr marL="6266" marR="6266" marT="6266" marB="0" anchor="ctr"/>
                </a:tc>
                <a:tc>
                  <a:txBody>
                    <a:bodyPr/>
                    <a:lstStyle/>
                    <a:p>
                      <a:pPr algn="ctr" fontAlgn="ctr"/>
                      <a:r>
                        <a:rPr lang="en-GB" sz="900" u="none" strike="noStrike">
                          <a:effectLst/>
                        </a:rPr>
                        <a:t>Total Quantity</a:t>
                      </a:r>
                      <a:endParaRPr lang="en-GB" sz="900" b="1" i="0" u="none" strike="noStrike">
                        <a:solidFill>
                          <a:srgbClr val="000000"/>
                        </a:solidFill>
                        <a:effectLst/>
                        <a:latin typeface="Arial" panose="020B0604020202020204" pitchFamily="34" charset="0"/>
                      </a:endParaRPr>
                    </a:p>
                  </a:txBody>
                  <a:tcPr marL="6266" marR="6266" marT="6266" marB="0" anchor="ctr"/>
                </a:tc>
                <a:tc>
                  <a:txBody>
                    <a:bodyPr/>
                    <a:lstStyle/>
                    <a:p>
                      <a:pPr algn="ctr" fontAlgn="ctr"/>
                      <a:r>
                        <a:rPr lang="en-GB" sz="900" u="none" strike="noStrike">
                          <a:effectLst/>
                        </a:rPr>
                        <a:t>Rate per Unit</a:t>
                      </a:r>
                      <a:endParaRPr lang="en-GB" sz="900" b="1" i="0" u="none" strike="noStrike">
                        <a:solidFill>
                          <a:srgbClr val="000000"/>
                        </a:solidFill>
                        <a:effectLst/>
                        <a:latin typeface="Arial" panose="020B0604020202020204" pitchFamily="34" charset="0"/>
                      </a:endParaRPr>
                    </a:p>
                  </a:txBody>
                  <a:tcPr marL="6266" marR="6266" marT="6266" marB="0" anchor="ctr"/>
                </a:tc>
                <a:tc>
                  <a:txBody>
                    <a:bodyPr/>
                    <a:lstStyle/>
                    <a:p>
                      <a:pPr algn="ctr" fontAlgn="ctr"/>
                      <a:r>
                        <a:rPr lang="en-GB" sz="900" u="none" strike="noStrike">
                          <a:effectLst/>
                        </a:rPr>
                        <a:t>Amount</a:t>
                      </a:r>
                      <a:endParaRPr lang="en-GB" sz="900" b="1" i="0" u="none" strike="noStrike">
                        <a:solidFill>
                          <a:srgbClr val="000000"/>
                        </a:solidFill>
                        <a:effectLst/>
                        <a:latin typeface="Arial" panose="020B0604020202020204" pitchFamily="34" charset="0"/>
                      </a:endParaRPr>
                    </a:p>
                  </a:txBody>
                  <a:tcPr marL="6266" marR="6266" marT="6266" marB="0" anchor="ctr"/>
                </a:tc>
              </a:tr>
              <a:tr h="174912">
                <a:tc rowSpan="2">
                  <a:txBody>
                    <a:bodyPr/>
                    <a:lstStyle/>
                    <a:p>
                      <a:pPr algn="ctr" fontAlgn="ctr"/>
                      <a:r>
                        <a:rPr lang="en-GB" sz="900" u="none" strike="noStrike">
                          <a:effectLst/>
                        </a:rPr>
                        <a:t>1</a:t>
                      </a:r>
                      <a:endParaRPr lang="en-GB" sz="900" b="1" i="0" u="none" strike="noStrike">
                        <a:solidFill>
                          <a:srgbClr val="000000"/>
                        </a:solidFill>
                        <a:effectLst/>
                        <a:latin typeface="Arial" panose="020B0604020202020204" pitchFamily="34" charset="0"/>
                      </a:endParaRPr>
                    </a:p>
                  </a:txBody>
                  <a:tcPr marL="6266" marR="6266" marT="6266" marB="0" anchor="ctr"/>
                </a:tc>
                <a:tc>
                  <a:txBody>
                    <a:bodyPr/>
                    <a:lstStyle/>
                    <a:p>
                      <a:pPr algn="ctr" fontAlgn="ctr"/>
                      <a:r>
                        <a:rPr lang="en-GB" sz="900" b="1" u="sng" strike="noStrike" dirty="0">
                          <a:effectLst/>
                        </a:rPr>
                        <a:t>Excavation</a:t>
                      </a:r>
                      <a:endParaRPr lang="en-GB" sz="900" b="1" i="0" u="sng" strike="noStrike" dirty="0">
                        <a:solidFill>
                          <a:srgbClr val="000000"/>
                        </a:solidFill>
                        <a:effectLst/>
                        <a:latin typeface="Arial" panose="020B0604020202020204" pitchFamily="34" charset="0"/>
                      </a:endParaRPr>
                    </a:p>
                  </a:txBody>
                  <a:tcPr marL="6266" marR="6266" marT="6266" marB="0" anchor="ctr"/>
                </a:tc>
                <a:tc rowSpan="2">
                  <a:txBody>
                    <a:bodyPr/>
                    <a:lstStyle/>
                    <a:p>
                      <a:pPr algn="ctr" fontAlgn="ctr"/>
                      <a:r>
                        <a:rPr lang="en-GB" sz="900" u="none" strike="noStrike">
                          <a:effectLst/>
                        </a:rPr>
                        <a:t>1000cft</a:t>
                      </a:r>
                      <a:endParaRPr lang="en-GB" sz="900" b="0" i="0" u="none" strike="noStrike">
                        <a:solidFill>
                          <a:srgbClr val="000000"/>
                        </a:solidFill>
                        <a:effectLst/>
                        <a:latin typeface="Arial" panose="020B0604020202020204" pitchFamily="34" charset="0"/>
                      </a:endParaRPr>
                    </a:p>
                  </a:txBody>
                  <a:tcPr marL="6266" marR="6266" marT="6266" marB="0" anchor="ctr"/>
                </a:tc>
                <a:tc rowSpan="2">
                  <a:txBody>
                    <a:bodyPr/>
                    <a:lstStyle/>
                    <a:p>
                      <a:pPr algn="ctr" fontAlgn="ctr"/>
                      <a:r>
                        <a:rPr lang="en-GB" sz="900" u="none" strike="noStrike" dirty="0">
                          <a:effectLst/>
                        </a:rPr>
                        <a:t>14925</a:t>
                      </a:r>
                      <a:endParaRPr lang="en-GB" sz="900" b="0" i="0" u="none" strike="noStrike" dirty="0">
                        <a:solidFill>
                          <a:srgbClr val="000000"/>
                        </a:solidFill>
                        <a:effectLst/>
                        <a:latin typeface="Arial" panose="020B0604020202020204" pitchFamily="34" charset="0"/>
                      </a:endParaRPr>
                    </a:p>
                  </a:txBody>
                  <a:tcPr marL="6266" marR="6266" marT="6266" marB="0" anchor="ctr"/>
                </a:tc>
                <a:tc rowSpan="2">
                  <a:txBody>
                    <a:bodyPr/>
                    <a:lstStyle/>
                    <a:p>
                      <a:pPr algn="ctr" fontAlgn="ctr"/>
                      <a:r>
                        <a:rPr lang="en-GB" sz="900" u="none" strike="noStrike">
                          <a:effectLst/>
                        </a:rPr>
                        <a:t>4383.45</a:t>
                      </a:r>
                      <a:endParaRPr lang="en-GB" sz="900" b="0" i="0" u="none" strike="noStrike">
                        <a:solidFill>
                          <a:srgbClr val="000000"/>
                        </a:solidFill>
                        <a:effectLst/>
                        <a:latin typeface="Arial" panose="020B0604020202020204" pitchFamily="34" charset="0"/>
                      </a:endParaRPr>
                    </a:p>
                  </a:txBody>
                  <a:tcPr marL="6266" marR="6266" marT="6266" marB="0" anchor="ctr"/>
                </a:tc>
                <a:tc rowSpan="2">
                  <a:txBody>
                    <a:bodyPr/>
                    <a:lstStyle/>
                    <a:p>
                      <a:pPr algn="ctr" fontAlgn="ctr"/>
                      <a:r>
                        <a:rPr lang="en-GB" sz="900" u="none" strike="noStrike">
                          <a:effectLst/>
                        </a:rPr>
                        <a:t>65422.99</a:t>
                      </a:r>
                      <a:endParaRPr lang="en-GB" sz="900" b="0" i="0" u="none" strike="noStrike">
                        <a:solidFill>
                          <a:srgbClr val="000000"/>
                        </a:solidFill>
                        <a:effectLst/>
                        <a:latin typeface="Arial" panose="020B0604020202020204" pitchFamily="34" charset="0"/>
                      </a:endParaRPr>
                    </a:p>
                  </a:txBody>
                  <a:tcPr marL="6266" marR="6266" marT="6266" marB="0" anchor="ctr"/>
                </a:tc>
              </a:tr>
              <a:tr h="170385">
                <a:tc vMerge="1">
                  <a:txBody>
                    <a:bodyPr/>
                    <a:lstStyle/>
                    <a:p>
                      <a:endParaRPr lang="en-GB"/>
                    </a:p>
                  </a:txBody>
                  <a:tcPr/>
                </a:tc>
                <a:tc>
                  <a:txBody>
                    <a:bodyPr/>
                    <a:lstStyle/>
                    <a:p>
                      <a:pPr algn="ctr" fontAlgn="ctr"/>
                      <a:r>
                        <a:rPr lang="en-GB" sz="900" u="none" strike="noStrike">
                          <a:effectLst/>
                        </a:rPr>
                        <a:t> Borrowpit excavation undressed lead upto 100 ft</a:t>
                      </a:r>
                      <a:endParaRPr lang="en-GB" sz="900" b="0" i="0" u="none" strike="noStrike">
                        <a:solidFill>
                          <a:srgbClr val="000000"/>
                        </a:solidFill>
                        <a:effectLst/>
                        <a:latin typeface="Arial" panose="020B0604020202020204" pitchFamily="34" charset="0"/>
                      </a:endParaRPr>
                    </a:p>
                  </a:txBody>
                  <a:tcPr marL="6266" marR="6266" marT="6266" marB="0" anchor="ctr"/>
                </a:tc>
                <a:tc vMerge="1">
                  <a:txBody>
                    <a:bodyPr/>
                    <a:lstStyle/>
                    <a:p>
                      <a:endParaRPr lang="en-GB"/>
                    </a:p>
                  </a:txBody>
                  <a:tcPr/>
                </a:tc>
                <a:tc vMerge="1">
                  <a:txBody>
                    <a:bodyPr/>
                    <a:lstStyle/>
                    <a:p>
                      <a:endParaRPr lang="en-GB"/>
                    </a:p>
                  </a:txBody>
                  <a:tcPr/>
                </a:tc>
                <a:tc vMerge="1">
                  <a:txBody>
                    <a:bodyPr/>
                    <a:lstStyle/>
                    <a:p>
                      <a:endParaRPr lang="en-GB"/>
                    </a:p>
                  </a:txBody>
                  <a:tcPr/>
                </a:tc>
                <a:tc vMerge="1">
                  <a:txBody>
                    <a:bodyPr/>
                    <a:lstStyle/>
                    <a:p>
                      <a:endParaRPr lang="en-GB"/>
                    </a:p>
                  </a:txBody>
                  <a:tcPr/>
                </a:tc>
              </a:tr>
              <a:tr h="174912">
                <a:tc rowSpan="4">
                  <a:txBody>
                    <a:bodyPr/>
                    <a:lstStyle/>
                    <a:p>
                      <a:pPr algn="ctr" fontAlgn="ctr"/>
                      <a:r>
                        <a:rPr lang="en-GB" sz="900" u="none" strike="noStrike">
                          <a:effectLst/>
                        </a:rPr>
                        <a:t>2</a:t>
                      </a:r>
                      <a:endParaRPr lang="en-GB" sz="900" b="1" i="0" u="none" strike="noStrike">
                        <a:solidFill>
                          <a:srgbClr val="000000"/>
                        </a:solidFill>
                        <a:effectLst/>
                        <a:latin typeface="Arial" panose="020B0604020202020204" pitchFamily="34" charset="0"/>
                      </a:endParaRPr>
                    </a:p>
                  </a:txBody>
                  <a:tcPr marL="6266" marR="6266" marT="6266" marB="0" anchor="ctr"/>
                </a:tc>
                <a:tc>
                  <a:txBody>
                    <a:bodyPr/>
                    <a:lstStyle/>
                    <a:p>
                      <a:pPr algn="ctr" fontAlgn="ctr"/>
                      <a:r>
                        <a:rPr lang="en-GB" sz="900" u="sng" strike="noStrike">
                          <a:effectLst/>
                        </a:rPr>
                        <a:t>Plain Cement Concrete (1:4:8)</a:t>
                      </a:r>
                      <a:endParaRPr lang="en-GB" sz="900" b="1" i="0" u="sng" strike="noStrike">
                        <a:solidFill>
                          <a:srgbClr val="000000"/>
                        </a:solidFill>
                        <a:effectLst/>
                        <a:latin typeface="Arial" panose="020B0604020202020204" pitchFamily="34" charset="0"/>
                      </a:endParaRPr>
                    </a:p>
                  </a:txBody>
                  <a:tcPr marL="6266" marR="6266" marT="6266" marB="0" anchor="ctr"/>
                </a:tc>
                <a:tc rowSpan="2">
                  <a:txBody>
                    <a:bodyPr/>
                    <a:lstStyle/>
                    <a:p>
                      <a:pPr algn="ctr" fontAlgn="ctr"/>
                      <a:r>
                        <a:rPr lang="en-GB" sz="900" u="none" strike="noStrike">
                          <a:effectLst/>
                        </a:rPr>
                        <a:t>100cft</a:t>
                      </a:r>
                      <a:endParaRPr lang="en-GB" sz="900" b="0" i="0" u="none" strike="noStrike">
                        <a:solidFill>
                          <a:srgbClr val="000000"/>
                        </a:solidFill>
                        <a:effectLst/>
                        <a:latin typeface="Arial" panose="020B0604020202020204" pitchFamily="34" charset="0"/>
                      </a:endParaRPr>
                    </a:p>
                  </a:txBody>
                  <a:tcPr marL="6266" marR="6266" marT="6266" marB="0" anchor="ctr"/>
                </a:tc>
                <a:tc rowSpan="2">
                  <a:txBody>
                    <a:bodyPr/>
                    <a:lstStyle/>
                    <a:p>
                      <a:pPr algn="ctr" fontAlgn="ctr"/>
                      <a:r>
                        <a:rPr lang="en-GB" sz="900" u="none" strike="noStrike">
                          <a:effectLst/>
                        </a:rPr>
                        <a:t>749.815</a:t>
                      </a:r>
                      <a:endParaRPr lang="en-GB" sz="900" b="0" i="0" u="none" strike="noStrike">
                        <a:solidFill>
                          <a:srgbClr val="000000"/>
                        </a:solidFill>
                        <a:effectLst/>
                        <a:latin typeface="Arial" panose="020B0604020202020204" pitchFamily="34" charset="0"/>
                      </a:endParaRPr>
                    </a:p>
                  </a:txBody>
                  <a:tcPr marL="6266" marR="6266" marT="6266" marB="0" anchor="ctr"/>
                </a:tc>
                <a:tc rowSpan="2">
                  <a:txBody>
                    <a:bodyPr/>
                    <a:lstStyle/>
                    <a:p>
                      <a:pPr algn="ctr" fontAlgn="ctr"/>
                      <a:r>
                        <a:rPr lang="en-GB" sz="900" u="none" strike="noStrike">
                          <a:effectLst/>
                        </a:rPr>
                        <a:t>17597</a:t>
                      </a:r>
                      <a:endParaRPr lang="en-GB" sz="900" b="0" i="0" u="none" strike="noStrike">
                        <a:solidFill>
                          <a:srgbClr val="000000"/>
                        </a:solidFill>
                        <a:effectLst/>
                        <a:latin typeface="Arial" panose="020B0604020202020204" pitchFamily="34" charset="0"/>
                      </a:endParaRPr>
                    </a:p>
                  </a:txBody>
                  <a:tcPr marL="6266" marR="6266" marT="6266" marB="0" anchor="ctr"/>
                </a:tc>
                <a:tc rowSpan="2">
                  <a:txBody>
                    <a:bodyPr/>
                    <a:lstStyle/>
                    <a:p>
                      <a:pPr algn="ctr" fontAlgn="ctr"/>
                      <a:r>
                        <a:rPr lang="en-GB" sz="900" u="none" strike="noStrike">
                          <a:effectLst/>
                        </a:rPr>
                        <a:t>131944.94</a:t>
                      </a:r>
                      <a:endParaRPr lang="en-GB" sz="900" b="0" i="0" u="none" strike="noStrike">
                        <a:solidFill>
                          <a:srgbClr val="000000"/>
                        </a:solidFill>
                        <a:effectLst/>
                        <a:latin typeface="Arial" panose="020B0604020202020204" pitchFamily="34" charset="0"/>
                      </a:endParaRPr>
                    </a:p>
                  </a:txBody>
                  <a:tcPr marL="6266" marR="6266" marT="6266" marB="0" anchor="ctr"/>
                </a:tc>
              </a:tr>
              <a:tr h="656549">
                <a:tc vMerge="1">
                  <a:txBody>
                    <a:bodyPr/>
                    <a:lstStyle/>
                    <a:p>
                      <a:endParaRPr lang="en-GB"/>
                    </a:p>
                  </a:txBody>
                  <a:tcPr/>
                </a:tc>
                <a:tc>
                  <a:txBody>
                    <a:bodyPr/>
                    <a:lstStyle/>
                    <a:p>
                      <a:pPr algn="ctr" fontAlgn="ctr"/>
                      <a:r>
                        <a:rPr lang="en-GB" sz="900" u="none" strike="noStrike" dirty="0">
                          <a:effectLst/>
                        </a:rPr>
                        <a:t>Cement concrete plain including placing,</a:t>
                      </a:r>
                      <a:br>
                        <a:rPr lang="en-GB" sz="900" u="none" strike="noStrike" dirty="0">
                          <a:effectLst/>
                        </a:rPr>
                      </a:br>
                      <a:r>
                        <a:rPr lang="en-GB" sz="900" u="none" strike="noStrike" dirty="0">
                          <a:effectLst/>
                        </a:rPr>
                        <a:t>compacting, finishing and curing</a:t>
                      </a:r>
                      <a:br>
                        <a:rPr lang="en-GB" sz="900" u="none" strike="noStrike" dirty="0">
                          <a:effectLst/>
                        </a:rPr>
                      </a:br>
                      <a:r>
                        <a:rPr lang="en-GB" sz="900" u="none" strike="noStrike" dirty="0">
                          <a:effectLst/>
                        </a:rPr>
                        <a:t>complete (including screening and</a:t>
                      </a:r>
                      <a:br>
                        <a:rPr lang="en-GB" sz="900" u="none" strike="noStrike" dirty="0">
                          <a:effectLst/>
                        </a:rPr>
                      </a:br>
                      <a:r>
                        <a:rPr lang="en-GB" sz="900" u="none" strike="noStrike" dirty="0">
                          <a:effectLst/>
                        </a:rPr>
                        <a:t>washing of stone aggregate):</a:t>
                      </a:r>
                      <a:endParaRPr lang="en-GB" sz="900" b="0" i="0" u="none" strike="noStrike" dirty="0">
                        <a:solidFill>
                          <a:srgbClr val="000000"/>
                        </a:solidFill>
                        <a:effectLst/>
                        <a:latin typeface="Arial" panose="020B0604020202020204" pitchFamily="34" charset="0"/>
                      </a:endParaRPr>
                    </a:p>
                  </a:txBody>
                  <a:tcPr marL="6266" marR="6266" marT="6266" marB="0" anchor="ctr"/>
                </a:tc>
                <a:tc vMerge="1">
                  <a:txBody>
                    <a:bodyPr/>
                    <a:lstStyle/>
                    <a:p>
                      <a:endParaRPr lang="en-GB"/>
                    </a:p>
                  </a:txBody>
                  <a:tcPr/>
                </a:tc>
                <a:tc vMerge="1">
                  <a:txBody>
                    <a:bodyPr/>
                    <a:lstStyle/>
                    <a:p>
                      <a:endParaRPr lang="en-GB"/>
                    </a:p>
                  </a:txBody>
                  <a:tcPr/>
                </a:tc>
                <a:tc vMerge="1">
                  <a:txBody>
                    <a:bodyPr/>
                    <a:lstStyle/>
                    <a:p>
                      <a:endParaRPr lang="en-GB"/>
                    </a:p>
                  </a:txBody>
                  <a:tcPr/>
                </a:tc>
                <a:tc vMerge="1">
                  <a:txBody>
                    <a:bodyPr/>
                    <a:lstStyle/>
                    <a:p>
                      <a:endParaRPr lang="en-GB"/>
                    </a:p>
                  </a:txBody>
                  <a:tcPr/>
                </a:tc>
              </a:tr>
              <a:tr h="174912">
                <a:tc vMerge="1">
                  <a:txBody>
                    <a:bodyPr/>
                    <a:lstStyle/>
                    <a:p>
                      <a:endParaRPr lang="en-GB"/>
                    </a:p>
                  </a:txBody>
                  <a:tcPr/>
                </a:tc>
                <a:tc>
                  <a:txBody>
                    <a:bodyPr/>
                    <a:lstStyle/>
                    <a:p>
                      <a:pPr algn="ctr" fontAlgn="ctr"/>
                      <a:r>
                        <a:rPr lang="en-GB" sz="900" u="sng" strike="noStrike">
                          <a:effectLst/>
                        </a:rPr>
                        <a:t>Reinforced Cement Concrete for raft  (1:2:4)</a:t>
                      </a:r>
                      <a:endParaRPr lang="en-GB" sz="900" b="1" i="0" u="sng" strike="noStrike">
                        <a:solidFill>
                          <a:srgbClr val="000000"/>
                        </a:solidFill>
                        <a:effectLst/>
                        <a:latin typeface="Arial" panose="020B0604020202020204" pitchFamily="34" charset="0"/>
                      </a:endParaRPr>
                    </a:p>
                  </a:txBody>
                  <a:tcPr marL="6266" marR="6266" marT="6266" marB="0" anchor="ctr"/>
                </a:tc>
                <a:tc rowSpan="2">
                  <a:txBody>
                    <a:bodyPr/>
                    <a:lstStyle/>
                    <a:p>
                      <a:pPr algn="ctr" fontAlgn="ctr"/>
                      <a:r>
                        <a:rPr lang="en-GB" sz="900" u="none" strike="noStrike">
                          <a:effectLst/>
                        </a:rPr>
                        <a:t>cft</a:t>
                      </a:r>
                      <a:endParaRPr lang="en-GB" sz="900" b="0" i="0" u="none" strike="noStrike">
                        <a:solidFill>
                          <a:srgbClr val="000000"/>
                        </a:solidFill>
                        <a:effectLst/>
                        <a:latin typeface="Arial" panose="020B0604020202020204" pitchFamily="34" charset="0"/>
                      </a:endParaRPr>
                    </a:p>
                  </a:txBody>
                  <a:tcPr marL="6266" marR="6266" marT="6266" marB="0" anchor="ctr"/>
                </a:tc>
                <a:tc rowSpan="2">
                  <a:txBody>
                    <a:bodyPr/>
                    <a:lstStyle/>
                    <a:p>
                      <a:pPr algn="ctr" fontAlgn="ctr"/>
                      <a:r>
                        <a:rPr lang="en-GB" sz="900" u="none" strike="noStrike">
                          <a:effectLst/>
                        </a:rPr>
                        <a:t>2296.75</a:t>
                      </a:r>
                      <a:endParaRPr lang="en-GB" sz="900" b="0" i="0" u="none" strike="noStrike">
                        <a:solidFill>
                          <a:srgbClr val="000000"/>
                        </a:solidFill>
                        <a:effectLst/>
                        <a:latin typeface="Arial" panose="020B0604020202020204" pitchFamily="34" charset="0"/>
                      </a:endParaRPr>
                    </a:p>
                  </a:txBody>
                  <a:tcPr marL="6266" marR="6266" marT="6266" marB="0" anchor="ctr"/>
                </a:tc>
                <a:tc rowSpan="2">
                  <a:txBody>
                    <a:bodyPr/>
                    <a:lstStyle/>
                    <a:p>
                      <a:pPr algn="ctr" fontAlgn="ctr"/>
                      <a:r>
                        <a:rPr lang="en-GB" sz="900" u="none" strike="noStrike">
                          <a:effectLst/>
                        </a:rPr>
                        <a:t>258.2</a:t>
                      </a:r>
                      <a:endParaRPr lang="en-GB" sz="900" b="0" i="0" u="none" strike="noStrike">
                        <a:solidFill>
                          <a:srgbClr val="000000"/>
                        </a:solidFill>
                        <a:effectLst/>
                        <a:latin typeface="Arial" panose="020B0604020202020204" pitchFamily="34" charset="0"/>
                      </a:endParaRPr>
                    </a:p>
                  </a:txBody>
                  <a:tcPr marL="6266" marR="6266" marT="6266" marB="0" anchor="ctr"/>
                </a:tc>
                <a:tc rowSpan="2">
                  <a:txBody>
                    <a:bodyPr/>
                    <a:lstStyle/>
                    <a:p>
                      <a:pPr algn="ctr" fontAlgn="ctr"/>
                      <a:r>
                        <a:rPr lang="en-GB" sz="900" u="none" strike="noStrike">
                          <a:effectLst/>
                        </a:rPr>
                        <a:t>593020.85</a:t>
                      </a:r>
                      <a:endParaRPr lang="en-GB" sz="900" b="0" i="0" u="none" strike="noStrike">
                        <a:solidFill>
                          <a:srgbClr val="000000"/>
                        </a:solidFill>
                        <a:effectLst/>
                        <a:latin typeface="Arial" panose="020B0604020202020204" pitchFamily="34" charset="0"/>
                      </a:endParaRPr>
                    </a:p>
                  </a:txBody>
                  <a:tcPr marL="6266" marR="6266" marT="6266" marB="0" anchor="ctr"/>
                </a:tc>
              </a:tr>
              <a:tr h="656549">
                <a:tc vMerge="1">
                  <a:txBody>
                    <a:bodyPr/>
                    <a:lstStyle/>
                    <a:p>
                      <a:endParaRPr lang="en-GB"/>
                    </a:p>
                  </a:txBody>
                  <a:tcPr/>
                </a:tc>
                <a:tc>
                  <a:txBody>
                    <a:bodyPr/>
                    <a:lstStyle/>
                    <a:p>
                      <a:pPr algn="ctr" fontAlgn="t"/>
                      <a:r>
                        <a:rPr lang="en-GB" sz="900" u="none" strike="noStrike">
                          <a:effectLst/>
                        </a:rPr>
                        <a:t> Reinforced cement concrete in slab of rafts / strip</a:t>
                      </a:r>
                      <a:br>
                        <a:rPr lang="en-GB" sz="900" u="none" strike="noStrike">
                          <a:effectLst/>
                        </a:rPr>
                      </a:br>
                      <a:r>
                        <a:rPr lang="en-GB" sz="900" u="none" strike="noStrike">
                          <a:effectLst/>
                        </a:rPr>
                        <a:t>foundation, base slab of column and retaining walls; etc and</a:t>
                      </a:r>
                      <a:br>
                        <a:rPr lang="en-GB" sz="900" u="none" strike="noStrike">
                          <a:effectLst/>
                        </a:rPr>
                      </a:br>
                      <a:r>
                        <a:rPr lang="en-GB" sz="900" u="none" strike="noStrike">
                          <a:effectLst/>
                        </a:rPr>
                        <a:t>other structural members other than those mentioned in Type C (nominal mix 1: 2: 4)</a:t>
                      </a:r>
                      <a:endParaRPr lang="en-GB" sz="900" b="0" i="0" u="none" strike="noStrike">
                        <a:solidFill>
                          <a:srgbClr val="000000"/>
                        </a:solidFill>
                        <a:effectLst/>
                        <a:latin typeface="Arial" panose="020B0604020202020204" pitchFamily="34" charset="0"/>
                      </a:endParaRPr>
                    </a:p>
                  </a:txBody>
                  <a:tcPr marL="6266" marR="6266" marT="6266" marB="0"/>
                </a:tc>
                <a:tc vMerge="1">
                  <a:txBody>
                    <a:bodyPr/>
                    <a:lstStyle/>
                    <a:p>
                      <a:endParaRPr lang="en-GB"/>
                    </a:p>
                  </a:txBody>
                  <a:tcPr/>
                </a:tc>
                <a:tc vMerge="1">
                  <a:txBody>
                    <a:bodyPr/>
                    <a:lstStyle/>
                    <a:p>
                      <a:endParaRPr lang="en-GB"/>
                    </a:p>
                  </a:txBody>
                  <a:tcPr/>
                </a:tc>
                <a:tc vMerge="1">
                  <a:txBody>
                    <a:bodyPr/>
                    <a:lstStyle/>
                    <a:p>
                      <a:endParaRPr lang="en-GB"/>
                    </a:p>
                  </a:txBody>
                  <a:tcPr/>
                </a:tc>
                <a:tc vMerge="1">
                  <a:txBody>
                    <a:bodyPr/>
                    <a:lstStyle/>
                    <a:p>
                      <a:endParaRPr lang="en-GB"/>
                    </a:p>
                  </a:txBody>
                  <a:tcPr/>
                </a:tc>
              </a:tr>
              <a:tr h="174912">
                <a:tc rowSpan="2">
                  <a:txBody>
                    <a:bodyPr/>
                    <a:lstStyle/>
                    <a:p>
                      <a:pPr algn="ctr" fontAlgn="ctr"/>
                      <a:r>
                        <a:rPr lang="en-GB" sz="900" u="none" strike="noStrike">
                          <a:effectLst/>
                        </a:rPr>
                        <a:t>3</a:t>
                      </a:r>
                      <a:endParaRPr lang="en-GB" sz="900" b="1" i="0" u="none" strike="noStrike">
                        <a:solidFill>
                          <a:srgbClr val="000000"/>
                        </a:solidFill>
                        <a:effectLst/>
                        <a:latin typeface="Arial" panose="020B0604020202020204" pitchFamily="34" charset="0"/>
                      </a:endParaRPr>
                    </a:p>
                  </a:txBody>
                  <a:tcPr marL="6266" marR="6266" marT="6266" marB="0" anchor="ctr"/>
                </a:tc>
                <a:tc>
                  <a:txBody>
                    <a:bodyPr/>
                    <a:lstStyle/>
                    <a:p>
                      <a:pPr algn="ctr" fontAlgn="ctr"/>
                      <a:r>
                        <a:rPr lang="en-GB" sz="900" u="sng" strike="noStrike">
                          <a:effectLst/>
                        </a:rPr>
                        <a:t>Backfilling</a:t>
                      </a:r>
                      <a:endParaRPr lang="en-GB" sz="900" b="1" i="0" u="sng" strike="noStrike">
                        <a:solidFill>
                          <a:srgbClr val="000000"/>
                        </a:solidFill>
                        <a:effectLst/>
                        <a:latin typeface="Arial" panose="020B0604020202020204" pitchFamily="34" charset="0"/>
                      </a:endParaRPr>
                    </a:p>
                  </a:txBody>
                  <a:tcPr marL="6266" marR="6266" marT="6266" marB="0" anchor="ctr"/>
                </a:tc>
                <a:tc rowSpan="2">
                  <a:txBody>
                    <a:bodyPr/>
                    <a:lstStyle/>
                    <a:p>
                      <a:pPr algn="ctr" fontAlgn="ctr"/>
                      <a:r>
                        <a:rPr lang="en-GB" sz="900" u="none" strike="noStrike">
                          <a:effectLst/>
                        </a:rPr>
                        <a:t>1000cft</a:t>
                      </a:r>
                      <a:endParaRPr lang="en-GB" sz="900" b="0" i="0" u="none" strike="noStrike">
                        <a:solidFill>
                          <a:srgbClr val="000000"/>
                        </a:solidFill>
                        <a:effectLst/>
                        <a:latin typeface="Arial" panose="020B0604020202020204" pitchFamily="34" charset="0"/>
                      </a:endParaRPr>
                    </a:p>
                  </a:txBody>
                  <a:tcPr marL="6266" marR="6266" marT="6266" marB="0" anchor="ctr"/>
                </a:tc>
                <a:tc rowSpan="2">
                  <a:txBody>
                    <a:bodyPr/>
                    <a:lstStyle/>
                    <a:p>
                      <a:pPr algn="ctr" fontAlgn="ctr"/>
                      <a:r>
                        <a:rPr lang="en-GB" sz="900" u="none" strike="noStrike">
                          <a:effectLst/>
                        </a:rPr>
                        <a:t>4855</a:t>
                      </a:r>
                      <a:endParaRPr lang="en-GB" sz="900" b="0" i="0" u="none" strike="noStrike">
                        <a:solidFill>
                          <a:srgbClr val="000000"/>
                        </a:solidFill>
                        <a:effectLst/>
                        <a:latin typeface="Arial" panose="020B0604020202020204" pitchFamily="34" charset="0"/>
                      </a:endParaRPr>
                    </a:p>
                  </a:txBody>
                  <a:tcPr marL="6266" marR="6266" marT="6266" marB="0" anchor="ctr"/>
                </a:tc>
                <a:tc rowSpan="2">
                  <a:txBody>
                    <a:bodyPr/>
                    <a:lstStyle/>
                    <a:p>
                      <a:pPr algn="ctr" fontAlgn="ctr"/>
                      <a:r>
                        <a:rPr lang="en-GB" sz="900" u="none" strike="noStrike">
                          <a:effectLst/>
                        </a:rPr>
                        <a:t>5,491.75</a:t>
                      </a:r>
                      <a:endParaRPr lang="en-GB" sz="900" b="0" i="0" u="none" strike="noStrike">
                        <a:solidFill>
                          <a:srgbClr val="000000"/>
                        </a:solidFill>
                        <a:effectLst/>
                        <a:latin typeface="Arial" panose="020B0604020202020204" pitchFamily="34" charset="0"/>
                      </a:endParaRPr>
                    </a:p>
                  </a:txBody>
                  <a:tcPr marL="6266" marR="6266" marT="6266" marB="0" anchor="ctr"/>
                </a:tc>
                <a:tc rowSpan="2">
                  <a:txBody>
                    <a:bodyPr/>
                    <a:lstStyle/>
                    <a:p>
                      <a:pPr algn="ctr" fontAlgn="ctr"/>
                      <a:r>
                        <a:rPr lang="en-GB" sz="900" u="none" strike="noStrike">
                          <a:effectLst/>
                        </a:rPr>
                        <a:t>26662.45</a:t>
                      </a:r>
                      <a:endParaRPr lang="en-GB" sz="900" b="0" i="0" u="none" strike="noStrike">
                        <a:solidFill>
                          <a:srgbClr val="000000"/>
                        </a:solidFill>
                        <a:effectLst/>
                        <a:latin typeface="Arial" panose="020B0604020202020204" pitchFamily="34" charset="0"/>
                      </a:endParaRPr>
                    </a:p>
                  </a:txBody>
                  <a:tcPr marL="6266" marR="6266" marT="6266" marB="0" anchor="ctr"/>
                </a:tc>
              </a:tr>
              <a:tr h="1034478">
                <a:tc vMerge="1">
                  <a:txBody>
                    <a:bodyPr/>
                    <a:lstStyle/>
                    <a:p>
                      <a:endParaRPr lang="en-GB"/>
                    </a:p>
                  </a:txBody>
                  <a:tcPr/>
                </a:tc>
                <a:tc>
                  <a:txBody>
                    <a:bodyPr/>
                    <a:lstStyle/>
                    <a:p>
                      <a:pPr algn="ctr" fontAlgn="ctr"/>
                      <a:r>
                        <a:rPr lang="en-GB" sz="900" u="none" strike="noStrike" dirty="0">
                          <a:effectLst/>
                        </a:rPr>
                        <a:t>Earthwork excavation in open cutting </a:t>
                      </a:r>
                      <a:r>
                        <a:rPr lang="en-GB" sz="900" u="none" strike="noStrike" dirty="0" err="1">
                          <a:effectLst/>
                        </a:rPr>
                        <a:t>upto</a:t>
                      </a:r>
                      <a:r>
                        <a:rPr lang="en-GB" sz="900" u="none" strike="noStrike" dirty="0">
                          <a:effectLst/>
                        </a:rPr>
                        <a:t> 5'-0" (1.5 m) depth for storm water channels, drains, </a:t>
                      </a:r>
                      <a:r>
                        <a:rPr lang="en-GB" sz="900" u="none" strike="noStrike" dirty="0" err="1">
                          <a:effectLst/>
                        </a:rPr>
                        <a:t>sullage</a:t>
                      </a:r>
                      <a:r>
                        <a:rPr lang="en-GB" sz="900" u="none" strike="noStrike" dirty="0">
                          <a:effectLst/>
                        </a:rPr>
                        <a:t> drains in open areas, roads, streets, lanes, including under pinning of walls and shoring to protect existing works, shuttering and timbering the trenches, dressed to designed level and dimensions, trimming, removal of surface water from trenches, back filling and surplus excavated material disposed of and dressed within 50 ft. (15 m) lead:-</a:t>
                      </a:r>
                      <a:br>
                        <a:rPr lang="en-GB" sz="900" u="none" strike="noStrike" dirty="0">
                          <a:effectLst/>
                        </a:rPr>
                      </a:br>
                      <a:r>
                        <a:rPr lang="en-GB" sz="900" u="none" strike="noStrike" dirty="0" err="1">
                          <a:effectLst/>
                        </a:rPr>
                        <a:t>i</a:t>
                      </a:r>
                      <a:r>
                        <a:rPr lang="en-GB" sz="900" u="none" strike="noStrike" dirty="0">
                          <a:effectLst/>
                        </a:rPr>
                        <a:t>) ordinary</a:t>
                      </a:r>
                      <a:endParaRPr lang="en-GB" sz="900" b="0" i="0" u="none" strike="noStrike" dirty="0">
                        <a:solidFill>
                          <a:srgbClr val="000000"/>
                        </a:solidFill>
                        <a:effectLst/>
                        <a:latin typeface="Arial" panose="020B0604020202020204" pitchFamily="34" charset="0"/>
                      </a:endParaRPr>
                    </a:p>
                  </a:txBody>
                  <a:tcPr marL="6266" marR="6266" marT="6266" marB="0" anchor="ctr"/>
                </a:tc>
                <a:tc vMerge="1">
                  <a:txBody>
                    <a:bodyPr/>
                    <a:lstStyle/>
                    <a:p>
                      <a:endParaRPr lang="en-GB"/>
                    </a:p>
                  </a:txBody>
                  <a:tcPr/>
                </a:tc>
                <a:tc vMerge="1">
                  <a:txBody>
                    <a:bodyPr/>
                    <a:lstStyle/>
                    <a:p>
                      <a:endParaRPr lang="en-GB"/>
                    </a:p>
                  </a:txBody>
                  <a:tcPr/>
                </a:tc>
                <a:tc vMerge="1">
                  <a:txBody>
                    <a:bodyPr/>
                    <a:lstStyle/>
                    <a:p>
                      <a:endParaRPr lang="en-GB"/>
                    </a:p>
                  </a:txBody>
                  <a:tcPr/>
                </a:tc>
                <a:tc vMerge="1">
                  <a:txBody>
                    <a:bodyPr/>
                    <a:lstStyle/>
                    <a:p>
                      <a:endParaRPr lang="en-GB"/>
                    </a:p>
                  </a:txBody>
                  <a:tcPr/>
                </a:tc>
              </a:tr>
            </a:tbl>
          </a:graphicData>
        </a:graphic>
      </p:graphicFrame>
    </p:spTree>
    <p:extLst>
      <p:ext uri="{BB962C8B-B14F-4D97-AF65-F5344CB8AC3E}">
        <p14:creationId xmlns:p14="http://schemas.microsoft.com/office/powerpoint/2010/main" val="999786821"/>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0280AEF-F341-4391-A1E7-46572FABB135}"/>
              </a:ext>
            </a:extLst>
          </p:cNvPr>
          <p:cNvSpPr>
            <a:spLocks noGrp="1"/>
          </p:cNvSpPr>
          <p:nvPr>
            <p:ph type="title"/>
          </p:nvPr>
        </p:nvSpPr>
        <p:spPr>
          <a:xfrm>
            <a:off x="-207099" y="508642"/>
            <a:ext cx="7886700" cy="994173"/>
          </a:xfrm>
          <a:prstGeom prst="ellipse">
            <a:avLst/>
          </a:prstGeom>
        </p:spPr>
        <p:txBody>
          <a:bodyPr vert="horz" lIns="91440" tIns="45720" rIns="91440" bIns="45720" rtlCol="0">
            <a:normAutofit/>
          </a:bodyPr>
          <a:lstStyle/>
          <a:p>
            <a:r>
              <a:rPr lang="en-US" kern="1200" dirty="0">
                <a:latin typeface="+mj-lt"/>
                <a:ea typeface="+mj-ea"/>
                <a:cs typeface="+mj-cs"/>
              </a:rPr>
              <a:t>BOQ </a:t>
            </a:r>
            <a:r>
              <a:rPr lang="en-US" dirty="0" smtClean="0"/>
              <a:t>CONTINUED</a:t>
            </a:r>
            <a:r>
              <a:rPr lang="en-US" kern="1200" dirty="0" smtClean="0">
                <a:latin typeface="+mj-lt"/>
                <a:ea typeface="+mj-ea"/>
                <a:cs typeface="+mj-cs"/>
              </a:rPr>
              <a:t>…</a:t>
            </a:r>
            <a:endParaRPr lang="en-US" kern="1200" dirty="0">
              <a:latin typeface="+mj-lt"/>
              <a:ea typeface="+mj-ea"/>
              <a:cs typeface="+mj-cs"/>
            </a:endParaRPr>
          </a:p>
        </p:txBody>
      </p:sp>
      <p:graphicFrame>
        <p:nvGraphicFramePr>
          <p:cNvPr id="5" name="Content Placeholder 4"/>
          <p:cNvGraphicFramePr>
            <a:graphicFrameLocks noGrp="1"/>
          </p:cNvGraphicFramePr>
          <p:nvPr>
            <p:ph idx="1"/>
            <p:extLst>
              <p:ext uri="{D42A27DB-BD31-4B8C-83A1-F6EECF244321}">
                <p14:modId xmlns:p14="http://schemas.microsoft.com/office/powerpoint/2010/main" val="2155791179"/>
              </p:ext>
            </p:extLst>
          </p:nvPr>
        </p:nvGraphicFramePr>
        <p:xfrm>
          <a:off x="143555" y="1502817"/>
          <a:ext cx="8551479" cy="3512213"/>
        </p:xfrm>
        <a:graphic>
          <a:graphicData uri="http://schemas.openxmlformats.org/drawingml/2006/table">
            <a:tbl>
              <a:tblPr>
                <a:tableStyleId>{5C22544A-7EE6-4342-B048-85BDC9FD1C3A}</a:tableStyleId>
              </a:tblPr>
              <a:tblGrid>
                <a:gridCol w="419127"/>
                <a:gridCol w="658629"/>
                <a:gridCol w="410574"/>
                <a:gridCol w="410574"/>
                <a:gridCol w="410574"/>
                <a:gridCol w="1680786"/>
                <a:gridCol w="660766"/>
                <a:gridCol w="821147"/>
                <a:gridCol w="1744938"/>
                <a:gridCol w="1334364"/>
              </a:tblGrid>
              <a:tr h="204401">
                <a:tc rowSpan="3">
                  <a:txBody>
                    <a:bodyPr/>
                    <a:lstStyle/>
                    <a:p>
                      <a:pPr algn="ctr" fontAlgn="ctr"/>
                      <a:r>
                        <a:rPr lang="en-GB" sz="900" u="none" strike="noStrike">
                          <a:effectLst/>
                        </a:rPr>
                        <a:t>4</a:t>
                      </a:r>
                      <a:endParaRPr lang="en-GB" sz="900" b="1" i="0" u="none" strike="noStrike">
                        <a:solidFill>
                          <a:srgbClr val="000000"/>
                        </a:solidFill>
                        <a:effectLst/>
                        <a:latin typeface="Arial" panose="020B0604020202020204" pitchFamily="34" charset="0"/>
                      </a:endParaRPr>
                    </a:p>
                  </a:txBody>
                  <a:tcPr marL="6266" marR="6266" marT="6266" marB="0" anchor="ctr"/>
                </a:tc>
                <a:tc gridSpan="5">
                  <a:txBody>
                    <a:bodyPr/>
                    <a:lstStyle/>
                    <a:p>
                      <a:pPr algn="ctr" fontAlgn="ctr"/>
                      <a:r>
                        <a:rPr lang="en-GB" sz="900" u="sng" strike="noStrike">
                          <a:effectLst/>
                        </a:rPr>
                        <a:t>Reinforced Cement Concrete  (1:2:4)</a:t>
                      </a:r>
                      <a:endParaRPr lang="en-GB" sz="900" b="1" i="0" u="sng" strike="noStrike">
                        <a:solidFill>
                          <a:srgbClr val="000000"/>
                        </a:solidFill>
                        <a:effectLst/>
                        <a:latin typeface="Arial" panose="020B0604020202020204" pitchFamily="34" charset="0"/>
                      </a:endParaRPr>
                    </a:p>
                  </a:txBody>
                  <a:tcPr marL="6266" marR="6266" marT="6266" marB="0" anchor="ct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rowSpan="3">
                  <a:txBody>
                    <a:bodyPr/>
                    <a:lstStyle/>
                    <a:p>
                      <a:pPr algn="ctr" fontAlgn="ctr"/>
                      <a:r>
                        <a:rPr lang="en-GB" sz="900" u="none" strike="noStrike">
                          <a:effectLst/>
                        </a:rPr>
                        <a:t>100 cft</a:t>
                      </a:r>
                      <a:endParaRPr lang="en-GB" sz="900" b="0" i="0" u="none" strike="noStrike">
                        <a:solidFill>
                          <a:srgbClr val="000000"/>
                        </a:solidFill>
                        <a:effectLst/>
                        <a:latin typeface="Arial" panose="020B0604020202020204" pitchFamily="34" charset="0"/>
                      </a:endParaRPr>
                    </a:p>
                  </a:txBody>
                  <a:tcPr marL="6266" marR="6266" marT="6266" marB="0" anchor="ctr"/>
                </a:tc>
                <a:tc rowSpan="3">
                  <a:txBody>
                    <a:bodyPr/>
                    <a:lstStyle/>
                    <a:p>
                      <a:pPr algn="ctr" fontAlgn="ctr"/>
                      <a:r>
                        <a:rPr lang="en-GB" sz="900" u="none" strike="noStrike">
                          <a:effectLst/>
                        </a:rPr>
                        <a:t>396.965</a:t>
                      </a:r>
                      <a:br>
                        <a:rPr lang="en-GB" sz="900" u="none" strike="noStrike">
                          <a:effectLst/>
                        </a:rPr>
                      </a:br>
                      <a:endParaRPr lang="en-GB" sz="900" b="0" i="0" u="none" strike="noStrike">
                        <a:solidFill>
                          <a:srgbClr val="000000"/>
                        </a:solidFill>
                        <a:effectLst/>
                        <a:latin typeface="Arial" panose="020B0604020202020204" pitchFamily="34" charset="0"/>
                      </a:endParaRPr>
                    </a:p>
                  </a:txBody>
                  <a:tcPr marL="6266" marR="6266" marT="6266" marB="0" anchor="ctr"/>
                </a:tc>
                <a:tc rowSpan="3">
                  <a:txBody>
                    <a:bodyPr/>
                    <a:lstStyle/>
                    <a:p>
                      <a:pPr algn="ctr" fontAlgn="ctr"/>
                      <a:r>
                        <a:rPr lang="en-GB" sz="900" u="none" strike="noStrike">
                          <a:effectLst/>
                        </a:rPr>
                        <a:t>22550.6</a:t>
                      </a:r>
                      <a:endParaRPr lang="en-GB" sz="900" b="0" i="0" u="none" strike="noStrike">
                        <a:solidFill>
                          <a:srgbClr val="000000"/>
                        </a:solidFill>
                        <a:effectLst/>
                        <a:latin typeface="Arial" panose="020B0604020202020204" pitchFamily="34" charset="0"/>
                      </a:endParaRPr>
                    </a:p>
                  </a:txBody>
                  <a:tcPr marL="6266" marR="6266" marT="6266" marB="0" anchor="ctr"/>
                </a:tc>
                <a:tc rowSpan="3">
                  <a:txBody>
                    <a:bodyPr/>
                    <a:lstStyle/>
                    <a:p>
                      <a:pPr algn="ctr" fontAlgn="ctr"/>
                      <a:r>
                        <a:rPr lang="en-GB" sz="900" u="none" strike="noStrike">
                          <a:effectLst/>
                        </a:rPr>
                        <a:t>89517.98</a:t>
                      </a:r>
                      <a:endParaRPr lang="en-GB" sz="900" b="0" i="0" u="none" strike="noStrike">
                        <a:solidFill>
                          <a:srgbClr val="000000"/>
                        </a:solidFill>
                        <a:effectLst/>
                        <a:latin typeface="Arial" panose="020B0604020202020204" pitchFamily="34" charset="0"/>
                      </a:endParaRPr>
                    </a:p>
                  </a:txBody>
                  <a:tcPr marL="6266" marR="6266" marT="6266" marB="0" anchor="ctr"/>
                </a:tc>
              </a:tr>
              <a:tr h="671337">
                <a:tc vMerge="1">
                  <a:txBody>
                    <a:bodyPr/>
                    <a:lstStyle/>
                    <a:p>
                      <a:endParaRPr lang="en-GB"/>
                    </a:p>
                  </a:txBody>
                  <a:tcPr/>
                </a:tc>
                <a:tc gridSpan="5">
                  <a:txBody>
                    <a:bodyPr/>
                    <a:lstStyle/>
                    <a:p>
                      <a:pPr algn="ctr" fontAlgn="ctr"/>
                      <a:r>
                        <a:rPr lang="en-GB" sz="900" u="none" strike="noStrike" dirty="0">
                          <a:effectLst/>
                        </a:rPr>
                        <a:t> Reinforced cement concrete in roof slab, beams, columns lintels, girders and other structural members laid in situ or precast laid in position, or </a:t>
                      </a:r>
                      <a:r>
                        <a:rPr lang="en-GB" sz="900" u="none" strike="noStrike" dirty="0" err="1">
                          <a:effectLst/>
                        </a:rPr>
                        <a:t>prestressed</a:t>
                      </a:r>
                      <a:r>
                        <a:rPr lang="en-GB" sz="900" u="none" strike="noStrike" dirty="0">
                          <a:effectLst/>
                        </a:rPr>
                        <a:t> members cast in situ, complete in all respects,  Type C (nominal mix 1:2:4) </a:t>
                      </a:r>
                      <a:endParaRPr lang="en-GB" sz="900" b="0" i="0" u="none" strike="noStrike" dirty="0">
                        <a:solidFill>
                          <a:srgbClr val="000000"/>
                        </a:solidFill>
                        <a:effectLst/>
                        <a:latin typeface="Arial" panose="020B0604020202020204" pitchFamily="34" charset="0"/>
                      </a:endParaRPr>
                    </a:p>
                  </a:txBody>
                  <a:tcPr marL="6266" marR="6266" marT="6266" marB="0" anchor="ct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vMerge="1">
                  <a:txBody>
                    <a:bodyPr/>
                    <a:lstStyle/>
                    <a:p>
                      <a:endParaRPr lang="en-GB"/>
                    </a:p>
                  </a:txBody>
                  <a:tcPr/>
                </a:tc>
                <a:tc vMerge="1">
                  <a:txBody>
                    <a:bodyPr/>
                    <a:lstStyle/>
                    <a:p>
                      <a:endParaRPr lang="en-GB"/>
                    </a:p>
                  </a:txBody>
                  <a:tcPr/>
                </a:tc>
                <a:tc vMerge="1">
                  <a:txBody>
                    <a:bodyPr/>
                    <a:lstStyle/>
                    <a:p>
                      <a:endParaRPr lang="en-GB"/>
                    </a:p>
                  </a:txBody>
                  <a:tcPr/>
                </a:tc>
                <a:tc vMerge="1">
                  <a:txBody>
                    <a:bodyPr/>
                    <a:lstStyle/>
                    <a:p>
                      <a:endParaRPr lang="en-GB"/>
                    </a:p>
                  </a:txBody>
                  <a:tcPr/>
                </a:tc>
              </a:tr>
              <a:tr h="178851">
                <a:tc vMerge="1">
                  <a:txBody>
                    <a:bodyPr/>
                    <a:lstStyle/>
                    <a:p>
                      <a:endParaRPr lang="en-GB"/>
                    </a:p>
                  </a:txBody>
                  <a:tcPr/>
                </a:tc>
                <a:tc>
                  <a:txBody>
                    <a:bodyPr/>
                    <a:lstStyle/>
                    <a:p>
                      <a:pPr algn="l" fontAlgn="ctr"/>
                      <a:r>
                        <a:rPr lang="en-GB" sz="900" u="none" strike="noStrike">
                          <a:effectLst/>
                        </a:rPr>
                        <a:t> </a:t>
                      </a:r>
                      <a:endParaRPr lang="en-GB" sz="900" b="0" i="0" u="none" strike="noStrike">
                        <a:solidFill>
                          <a:srgbClr val="000000"/>
                        </a:solidFill>
                        <a:effectLst/>
                        <a:latin typeface="Arial" panose="020B0604020202020204" pitchFamily="34" charset="0"/>
                      </a:endParaRPr>
                    </a:p>
                  </a:txBody>
                  <a:tcPr marL="6266" marR="6266" marT="6266" marB="0" anchor="ctr"/>
                </a:tc>
                <a:tc>
                  <a:txBody>
                    <a:bodyPr/>
                    <a:lstStyle/>
                    <a:p>
                      <a:pPr algn="l" fontAlgn="ctr"/>
                      <a:r>
                        <a:rPr lang="en-GB" sz="900" u="none" strike="noStrike">
                          <a:effectLst/>
                        </a:rPr>
                        <a:t> </a:t>
                      </a:r>
                      <a:endParaRPr lang="en-GB" sz="900" b="0" i="0" u="none" strike="noStrike">
                        <a:solidFill>
                          <a:srgbClr val="000000"/>
                        </a:solidFill>
                        <a:effectLst/>
                        <a:latin typeface="Arial" panose="020B0604020202020204" pitchFamily="34" charset="0"/>
                      </a:endParaRPr>
                    </a:p>
                  </a:txBody>
                  <a:tcPr marL="6266" marR="6266" marT="6266" marB="0" anchor="ctr"/>
                </a:tc>
                <a:tc>
                  <a:txBody>
                    <a:bodyPr/>
                    <a:lstStyle/>
                    <a:p>
                      <a:pPr algn="l" fontAlgn="ctr"/>
                      <a:r>
                        <a:rPr lang="en-GB" sz="900" u="none" strike="noStrike">
                          <a:effectLst/>
                        </a:rPr>
                        <a:t> </a:t>
                      </a:r>
                      <a:endParaRPr lang="en-GB" sz="900" b="0" i="0" u="none" strike="noStrike">
                        <a:solidFill>
                          <a:srgbClr val="000000"/>
                        </a:solidFill>
                        <a:effectLst/>
                        <a:latin typeface="Arial" panose="020B0604020202020204" pitchFamily="34" charset="0"/>
                      </a:endParaRPr>
                    </a:p>
                  </a:txBody>
                  <a:tcPr marL="6266" marR="6266" marT="6266" marB="0" anchor="ctr"/>
                </a:tc>
                <a:tc>
                  <a:txBody>
                    <a:bodyPr/>
                    <a:lstStyle/>
                    <a:p>
                      <a:pPr algn="l" fontAlgn="ctr"/>
                      <a:r>
                        <a:rPr lang="en-GB" sz="900" u="none" strike="noStrike">
                          <a:effectLst/>
                        </a:rPr>
                        <a:t> </a:t>
                      </a:r>
                      <a:endParaRPr lang="en-GB" sz="900" b="0" i="0" u="none" strike="noStrike">
                        <a:solidFill>
                          <a:srgbClr val="000000"/>
                        </a:solidFill>
                        <a:effectLst/>
                        <a:latin typeface="Arial" panose="020B0604020202020204" pitchFamily="34" charset="0"/>
                      </a:endParaRPr>
                    </a:p>
                  </a:txBody>
                  <a:tcPr marL="6266" marR="6266" marT="6266" marB="0" anchor="ctr"/>
                </a:tc>
                <a:tc>
                  <a:txBody>
                    <a:bodyPr/>
                    <a:lstStyle/>
                    <a:p>
                      <a:pPr algn="l" fontAlgn="ctr"/>
                      <a:r>
                        <a:rPr lang="en-GB" sz="900" u="none" strike="noStrike">
                          <a:effectLst/>
                        </a:rPr>
                        <a:t> </a:t>
                      </a:r>
                      <a:endParaRPr lang="en-GB" sz="900" b="0" i="0" u="none" strike="noStrike">
                        <a:solidFill>
                          <a:srgbClr val="000000"/>
                        </a:solidFill>
                        <a:effectLst/>
                        <a:latin typeface="Arial" panose="020B0604020202020204" pitchFamily="34" charset="0"/>
                      </a:endParaRPr>
                    </a:p>
                  </a:txBody>
                  <a:tcPr marL="6266" marR="6266" marT="6266" marB="0" anchor="ctr"/>
                </a:tc>
                <a:tc vMerge="1">
                  <a:txBody>
                    <a:bodyPr/>
                    <a:lstStyle/>
                    <a:p>
                      <a:endParaRPr lang="en-GB"/>
                    </a:p>
                  </a:txBody>
                  <a:tcPr/>
                </a:tc>
                <a:tc vMerge="1">
                  <a:txBody>
                    <a:bodyPr/>
                    <a:lstStyle/>
                    <a:p>
                      <a:endParaRPr lang="en-GB"/>
                    </a:p>
                  </a:txBody>
                  <a:tcPr/>
                </a:tc>
                <a:tc vMerge="1">
                  <a:txBody>
                    <a:bodyPr/>
                    <a:lstStyle/>
                    <a:p>
                      <a:endParaRPr lang="en-GB"/>
                    </a:p>
                  </a:txBody>
                  <a:tcPr/>
                </a:tc>
                <a:tc vMerge="1">
                  <a:txBody>
                    <a:bodyPr/>
                    <a:lstStyle/>
                    <a:p>
                      <a:endParaRPr lang="en-GB"/>
                    </a:p>
                  </a:txBody>
                  <a:tcPr/>
                </a:tc>
              </a:tr>
              <a:tr h="187369">
                <a:tc rowSpan="3">
                  <a:txBody>
                    <a:bodyPr/>
                    <a:lstStyle/>
                    <a:p>
                      <a:pPr algn="ctr" fontAlgn="ctr"/>
                      <a:r>
                        <a:rPr lang="en-GB" sz="900" u="none" strike="noStrike">
                          <a:effectLst/>
                        </a:rPr>
                        <a:t>5</a:t>
                      </a:r>
                      <a:endParaRPr lang="en-GB" sz="900" b="1" i="0" u="none" strike="noStrike">
                        <a:solidFill>
                          <a:srgbClr val="000000"/>
                        </a:solidFill>
                        <a:effectLst/>
                        <a:latin typeface="Arial" panose="020B0604020202020204" pitchFamily="34" charset="0"/>
                      </a:endParaRPr>
                    </a:p>
                  </a:txBody>
                  <a:tcPr marL="6266" marR="6266" marT="6266" marB="0" anchor="ctr"/>
                </a:tc>
                <a:tc gridSpan="5">
                  <a:txBody>
                    <a:bodyPr/>
                    <a:lstStyle/>
                    <a:p>
                      <a:pPr algn="ctr" fontAlgn="ctr"/>
                      <a:r>
                        <a:rPr lang="en-GB" sz="900" u="sng" strike="noStrike">
                          <a:effectLst/>
                        </a:rPr>
                        <a:t>Brickwork</a:t>
                      </a:r>
                      <a:endParaRPr lang="en-GB" sz="900" b="1" i="0" u="sng" strike="noStrike">
                        <a:solidFill>
                          <a:srgbClr val="000000"/>
                        </a:solidFill>
                        <a:effectLst/>
                        <a:latin typeface="Arial" panose="020B0604020202020204" pitchFamily="34" charset="0"/>
                      </a:endParaRPr>
                    </a:p>
                  </a:txBody>
                  <a:tcPr marL="6266" marR="6266" marT="6266" marB="0" anchor="ct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rowSpan="2">
                  <a:txBody>
                    <a:bodyPr/>
                    <a:lstStyle/>
                    <a:p>
                      <a:pPr algn="ctr" fontAlgn="ctr"/>
                      <a:r>
                        <a:rPr lang="en-GB" sz="900" u="none" strike="noStrike">
                          <a:effectLst/>
                        </a:rPr>
                        <a:t>100cft</a:t>
                      </a:r>
                      <a:endParaRPr lang="en-GB" sz="900" b="0" i="0" u="none" strike="noStrike">
                        <a:solidFill>
                          <a:srgbClr val="000000"/>
                        </a:solidFill>
                        <a:effectLst/>
                        <a:latin typeface="Arial" panose="020B0604020202020204" pitchFamily="34" charset="0"/>
                      </a:endParaRPr>
                    </a:p>
                  </a:txBody>
                  <a:tcPr marL="6266" marR="6266" marT="6266" marB="0" anchor="ctr"/>
                </a:tc>
                <a:tc rowSpan="2">
                  <a:txBody>
                    <a:bodyPr/>
                    <a:lstStyle/>
                    <a:p>
                      <a:pPr algn="ctr" fontAlgn="ctr"/>
                      <a:r>
                        <a:rPr lang="en-GB" sz="900" u="none" strike="noStrike">
                          <a:effectLst/>
                        </a:rPr>
                        <a:t>1789.782</a:t>
                      </a:r>
                      <a:endParaRPr lang="en-GB" sz="900" b="0" i="0" u="none" strike="noStrike">
                        <a:solidFill>
                          <a:srgbClr val="000000"/>
                        </a:solidFill>
                        <a:effectLst/>
                        <a:latin typeface="Arial" panose="020B0604020202020204" pitchFamily="34" charset="0"/>
                      </a:endParaRPr>
                    </a:p>
                  </a:txBody>
                  <a:tcPr marL="6266" marR="6266" marT="6266" marB="0" anchor="ctr"/>
                </a:tc>
                <a:tc rowSpan="2">
                  <a:txBody>
                    <a:bodyPr/>
                    <a:lstStyle/>
                    <a:p>
                      <a:pPr algn="ctr" fontAlgn="ctr"/>
                      <a:r>
                        <a:rPr lang="en-GB" sz="900" u="none" strike="noStrike">
                          <a:effectLst/>
                        </a:rPr>
                        <a:t>19615.2</a:t>
                      </a:r>
                      <a:endParaRPr lang="en-GB" sz="900" b="0" i="0" u="none" strike="noStrike">
                        <a:solidFill>
                          <a:srgbClr val="000000"/>
                        </a:solidFill>
                        <a:effectLst/>
                        <a:latin typeface="Arial" panose="020B0604020202020204" pitchFamily="34" charset="0"/>
                      </a:endParaRPr>
                    </a:p>
                  </a:txBody>
                  <a:tcPr marL="6266" marR="6266" marT="6266" marB="0" anchor="ctr"/>
                </a:tc>
                <a:tc rowSpan="2">
                  <a:txBody>
                    <a:bodyPr/>
                    <a:lstStyle/>
                    <a:p>
                      <a:pPr algn="ctr" fontAlgn="ctr"/>
                      <a:r>
                        <a:rPr lang="en-GB" sz="900" u="none" strike="noStrike">
                          <a:effectLst/>
                        </a:rPr>
                        <a:t>351069.32</a:t>
                      </a:r>
                      <a:endParaRPr lang="en-GB" sz="900" b="0" i="0" u="none" strike="noStrike">
                        <a:solidFill>
                          <a:srgbClr val="000000"/>
                        </a:solidFill>
                        <a:effectLst/>
                        <a:latin typeface="Arial" panose="020B0604020202020204" pitchFamily="34" charset="0"/>
                      </a:endParaRPr>
                    </a:p>
                  </a:txBody>
                  <a:tcPr marL="6266" marR="6266" marT="6266" marB="0" anchor="ctr"/>
                </a:tc>
              </a:tr>
              <a:tr h="505632">
                <a:tc vMerge="1">
                  <a:txBody>
                    <a:bodyPr/>
                    <a:lstStyle/>
                    <a:p>
                      <a:endParaRPr lang="en-GB"/>
                    </a:p>
                  </a:txBody>
                  <a:tcPr/>
                </a:tc>
                <a:tc gridSpan="5">
                  <a:txBody>
                    <a:bodyPr/>
                    <a:lstStyle/>
                    <a:p>
                      <a:pPr algn="ctr" fontAlgn="ctr"/>
                      <a:r>
                        <a:rPr lang="en-GB" sz="900" u="none" strike="noStrike">
                          <a:effectLst/>
                        </a:rPr>
                        <a:t>Pacca brick work in foundation and plinth in:</a:t>
                      </a:r>
                      <a:br>
                        <a:rPr lang="en-GB" sz="900" u="none" strike="noStrike">
                          <a:effectLst/>
                        </a:rPr>
                      </a:br>
                      <a:r>
                        <a:rPr lang="en-GB" sz="900" u="none" strike="noStrike">
                          <a:effectLst/>
                        </a:rPr>
                        <a:t>         (i)cement, sand mortar ratio 1:6</a:t>
                      </a:r>
                      <a:br>
                        <a:rPr lang="en-GB" sz="900" u="none" strike="noStrike">
                          <a:effectLst/>
                        </a:rPr>
                      </a:br>
                      <a:endParaRPr lang="en-GB" sz="900" b="0" i="0" u="none" strike="noStrike">
                        <a:solidFill>
                          <a:srgbClr val="000000"/>
                        </a:solidFill>
                        <a:effectLst/>
                        <a:latin typeface="Arial" panose="020B0604020202020204" pitchFamily="34" charset="0"/>
                      </a:endParaRPr>
                    </a:p>
                  </a:txBody>
                  <a:tcPr marL="6266" marR="6266" marT="6266" marB="0" anchor="ct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vMerge="1">
                  <a:txBody>
                    <a:bodyPr/>
                    <a:lstStyle/>
                    <a:p>
                      <a:endParaRPr lang="en-GB"/>
                    </a:p>
                  </a:txBody>
                  <a:tcPr/>
                </a:tc>
                <a:tc vMerge="1">
                  <a:txBody>
                    <a:bodyPr/>
                    <a:lstStyle/>
                    <a:p>
                      <a:endParaRPr lang="en-GB"/>
                    </a:p>
                  </a:txBody>
                  <a:tcPr/>
                </a:tc>
                <a:tc vMerge="1">
                  <a:txBody>
                    <a:bodyPr/>
                    <a:lstStyle/>
                    <a:p>
                      <a:endParaRPr lang="en-GB"/>
                    </a:p>
                  </a:txBody>
                  <a:tcPr/>
                </a:tc>
                <a:tc vMerge="1">
                  <a:txBody>
                    <a:bodyPr/>
                    <a:lstStyle/>
                    <a:p>
                      <a:endParaRPr lang="en-GB"/>
                    </a:p>
                  </a:txBody>
                  <a:tcPr/>
                </a:tc>
              </a:tr>
              <a:tr h="174221">
                <a:tc vMerge="1">
                  <a:txBody>
                    <a:bodyPr/>
                    <a:lstStyle/>
                    <a:p>
                      <a:endParaRPr lang="en-GB"/>
                    </a:p>
                  </a:txBody>
                  <a:tcPr/>
                </a:tc>
                <a:tc gridSpan="5">
                  <a:txBody>
                    <a:bodyPr/>
                    <a:lstStyle/>
                    <a:p>
                      <a:pPr algn="ctr" fontAlgn="ctr"/>
                      <a:r>
                        <a:rPr lang="en-GB" sz="900" u="none" strike="noStrike">
                          <a:effectLst/>
                        </a:rPr>
                        <a:t>Pacca brick work in ground floor: cement, sand mortar 1:4</a:t>
                      </a:r>
                      <a:endParaRPr lang="en-GB" sz="900" b="0" i="0" u="none" strike="noStrike">
                        <a:solidFill>
                          <a:srgbClr val="000000"/>
                        </a:solidFill>
                        <a:effectLst/>
                        <a:latin typeface="Arial" panose="020B0604020202020204" pitchFamily="34" charset="0"/>
                      </a:endParaRPr>
                    </a:p>
                  </a:txBody>
                  <a:tcPr marL="6266" marR="6266" marT="6266" marB="0" anchor="ct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a:txBody>
                    <a:bodyPr/>
                    <a:lstStyle/>
                    <a:p>
                      <a:pPr algn="ctr" fontAlgn="ctr"/>
                      <a:r>
                        <a:rPr lang="en-GB" sz="900" u="none" strike="noStrike">
                          <a:effectLst/>
                        </a:rPr>
                        <a:t>100cft</a:t>
                      </a:r>
                      <a:endParaRPr lang="en-GB" sz="900" b="0" i="0" u="none" strike="noStrike">
                        <a:solidFill>
                          <a:srgbClr val="000000"/>
                        </a:solidFill>
                        <a:effectLst/>
                        <a:latin typeface="Arial" panose="020B0604020202020204" pitchFamily="34" charset="0"/>
                      </a:endParaRPr>
                    </a:p>
                  </a:txBody>
                  <a:tcPr marL="6266" marR="6266" marT="6266" marB="0" anchor="ctr"/>
                </a:tc>
                <a:tc>
                  <a:txBody>
                    <a:bodyPr/>
                    <a:lstStyle/>
                    <a:p>
                      <a:pPr algn="ctr" fontAlgn="ctr"/>
                      <a:r>
                        <a:rPr lang="en-GB" sz="900" u="none" strike="noStrike">
                          <a:effectLst/>
                        </a:rPr>
                        <a:t>1767.41</a:t>
                      </a:r>
                      <a:endParaRPr lang="en-GB" sz="900" b="0" i="0" u="none" strike="noStrike">
                        <a:solidFill>
                          <a:srgbClr val="000000"/>
                        </a:solidFill>
                        <a:effectLst/>
                        <a:latin typeface="Arial" panose="020B0604020202020204" pitchFamily="34" charset="0"/>
                      </a:endParaRPr>
                    </a:p>
                  </a:txBody>
                  <a:tcPr marL="6266" marR="6266" marT="6266" marB="0" anchor="ctr"/>
                </a:tc>
                <a:tc>
                  <a:txBody>
                    <a:bodyPr/>
                    <a:lstStyle/>
                    <a:p>
                      <a:pPr algn="ctr" fontAlgn="ctr"/>
                      <a:r>
                        <a:rPr lang="en-GB" sz="900" u="none" strike="noStrike">
                          <a:effectLst/>
                        </a:rPr>
                        <a:t>21827.25</a:t>
                      </a:r>
                      <a:endParaRPr lang="en-GB" sz="900" b="0" i="0" u="none" strike="noStrike">
                        <a:solidFill>
                          <a:srgbClr val="000000"/>
                        </a:solidFill>
                        <a:effectLst/>
                        <a:latin typeface="Arial" panose="020B0604020202020204" pitchFamily="34" charset="0"/>
                      </a:endParaRPr>
                    </a:p>
                  </a:txBody>
                  <a:tcPr marL="6266" marR="6266" marT="6266" marB="0" anchor="ctr"/>
                </a:tc>
                <a:tc>
                  <a:txBody>
                    <a:bodyPr/>
                    <a:lstStyle/>
                    <a:p>
                      <a:pPr algn="ctr" fontAlgn="ctr"/>
                      <a:r>
                        <a:rPr lang="en-GB" sz="900" u="none" strike="noStrike">
                          <a:effectLst/>
                        </a:rPr>
                        <a:t>385776.99</a:t>
                      </a:r>
                      <a:endParaRPr lang="en-GB" sz="900" b="0" i="0" u="none" strike="noStrike">
                        <a:solidFill>
                          <a:srgbClr val="000000"/>
                        </a:solidFill>
                        <a:effectLst/>
                        <a:latin typeface="Arial" panose="020B0604020202020204" pitchFamily="34" charset="0"/>
                      </a:endParaRPr>
                    </a:p>
                  </a:txBody>
                  <a:tcPr marL="6266" marR="6266" marT="6266" marB="0" anchor="ctr"/>
                </a:tc>
              </a:tr>
              <a:tr h="332153">
                <a:tc rowSpan="2">
                  <a:txBody>
                    <a:bodyPr/>
                    <a:lstStyle/>
                    <a:p>
                      <a:pPr algn="ctr" fontAlgn="ctr"/>
                      <a:r>
                        <a:rPr lang="en-GB" sz="900" u="none" strike="noStrike">
                          <a:effectLst/>
                        </a:rPr>
                        <a:t>6</a:t>
                      </a:r>
                      <a:endParaRPr lang="en-GB" sz="900" b="1" i="0" u="none" strike="noStrike">
                        <a:solidFill>
                          <a:srgbClr val="000000"/>
                        </a:solidFill>
                        <a:effectLst/>
                        <a:latin typeface="Arial" panose="020B0604020202020204" pitchFamily="34" charset="0"/>
                      </a:endParaRPr>
                    </a:p>
                  </a:txBody>
                  <a:tcPr marL="6266" marR="6266" marT="6266" marB="0" anchor="ctr"/>
                </a:tc>
                <a:tc gridSpan="5">
                  <a:txBody>
                    <a:bodyPr/>
                    <a:lstStyle/>
                    <a:p>
                      <a:pPr algn="ctr" fontAlgn="ctr"/>
                      <a:r>
                        <a:rPr lang="en-GB" sz="900" u="sng" strike="noStrike">
                          <a:effectLst/>
                        </a:rPr>
                        <a:t>Plastering on all walls</a:t>
                      </a:r>
                      <a:endParaRPr lang="en-GB" sz="900" b="1" i="0" u="sng" strike="noStrike">
                        <a:solidFill>
                          <a:srgbClr val="000000"/>
                        </a:solidFill>
                        <a:effectLst/>
                        <a:latin typeface="Arial" panose="020B0604020202020204" pitchFamily="34" charset="0"/>
                      </a:endParaRPr>
                    </a:p>
                  </a:txBody>
                  <a:tcPr marL="6266" marR="6266" marT="6266" marB="0" anchor="ct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rowSpan="2">
                  <a:txBody>
                    <a:bodyPr/>
                    <a:lstStyle/>
                    <a:p>
                      <a:pPr algn="ctr" fontAlgn="ctr"/>
                      <a:r>
                        <a:rPr lang="en-GB" sz="900" u="none" strike="noStrike">
                          <a:effectLst/>
                        </a:rPr>
                        <a:t>100sft</a:t>
                      </a:r>
                      <a:endParaRPr lang="en-GB" sz="900" b="0" i="0" u="none" strike="noStrike">
                        <a:solidFill>
                          <a:srgbClr val="000000"/>
                        </a:solidFill>
                        <a:effectLst/>
                        <a:latin typeface="Arial" panose="020B0604020202020204" pitchFamily="34" charset="0"/>
                      </a:endParaRPr>
                    </a:p>
                  </a:txBody>
                  <a:tcPr marL="6266" marR="6266" marT="6266" marB="0" anchor="ctr"/>
                </a:tc>
                <a:tc rowSpan="2">
                  <a:txBody>
                    <a:bodyPr/>
                    <a:lstStyle/>
                    <a:p>
                      <a:pPr algn="ctr" fontAlgn="ctr"/>
                      <a:r>
                        <a:rPr lang="en-GB" sz="900" u="none" strike="noStrike">
                          <a:effectLst/>
                        </a:rPr>
                        <a:t>9496.97</a:t>
                      </a:r>
                      <a:endParaRPr lang="en-GB" sz="900" b="0" i="0" u="none" strike="noStrike">
                        <a:solidFill>
                          <a:srgbClr val="000000"/>
                        </a:solidFill>
                        <a:effectLst/>
                        <a:latin typeface="Arial" panose="020B0604020202020204" pitchFamily="34" charset="0"/>
                      </a:endParaRPr>
                    </a:p>
                  </a:txBody>
                  <a:tcPr marL="6266" marR="6266" marT="6266" marB="0" anchor="ctr"/>
                </a:tc>
                <a:tc rowSpan="2">
                  <a:txBody>
                    <a:bodyPr/>
                    <a:lstStyle/>
                    <a:p>
                      <a:pPr algn="ctr" fontAlgn="ctr"/>
                      <a:r>
                        <a:rPr lang="en-GB" sz="900" u="none" strike="noStrike">
                          <a:effectLst/>
                        </a:rPr>
                        <a:t>2094.25</a:t>
                      </a:r>
                      <a:endParaRPr lang="en-GB" sz="900" b="0" i="0" u="none" strike="noStrike">
                        <a:solidFill>
                          <a:srgbClr val="000000"/>
                        </a:solidFill>
                        <a:effectLst/>
                        <a:latin typeface="Arial" panose="020B0604020202020204" pitchFamily="34" charset="0"/>
                      </a:endParaRPr>
                    </a:p>
                  </a:txBody>
                  <a:tcPr marL="6266" marR="6266" marT="6266" marB="0" anchor="ctr"/>
                </a:tc>
                <a:tc rowSpan="2">
                  <a:txBody>
                    <a:bodyPr/>
                    <a:lstStyle/>
                    <a:p>
                      <a:pPr algn="ctr" fontAlgn="ctr"/>
                      <a:r>
                        <a:rPr lang="en-GB" sz="900" u="none" strike="noStrike">
                          <a:effectLst/>
                        </a:rPr>
                        <a:t>198890.29</a:t>
                      </a:r>
                      <a:endParaRPr lang="en-GB" sz="900" b="0" i="0" u="none" strike="noStrike">
                        <a:solidFill>
                          <a:srgbClr val="000000"/>
                        </a:solidFill>
                        <a:effectLst/>
                        <a:latin typeface="Arial" panose="020B0604020202020204" pitchFamily="34" charset="0"/>
                      </a:endParaRPr>
                    </a:p>
                  </a:txBody>
                  <a:tcPr marL="6266" marR="6266" marT="6266" marB="0" anchor="ctr"/>
                </a:tc>
              </a:tr>
              <a:tr h="505632">
                <a:tc vMerge="1">
                  <a:txBody>
                    <a:bodyPr/>
                    <a:lstStyle/>
                    <a:p>
                      <a:endParaRPr lang="en-GB"/>
                    </a:p>
                  </a:txBody>
                  <a:tcPr/>
                </a:tc>
                <a:tc gridSpan="5">
                  <a:txBody>
                    <a:bodyPr/>
                    <a:lstStyle/>
                    <a:p>
                      <a:pPr algn="ctr" fontAlgn="ctr"/>
                      <a:r>
                        <a:rPr lang="en-GB" sz="900" u="none" strike="noStrike">
                          <a:effectLst/>
                        </a:rPr>
                        <a:t>Cement Neru plaster 1:2 (cement and sand) up to 20 ft height:</a:t>
                      </a:r>
                      <a:br>
                        <a:rPr lang="en-GB" sz="900" u="none" strike="noStrike">
                          <a:effectLst/>
                        </a:rPr>
                      </a:br>
                      <a:r>
                        <a:rPr lang="en-GB" sz="900" u="none" strike="noStrike">
                          <a:effectLst/>
                        </a:rPr>
                        <a:t>         (i) ½ inch thick</a:t>
                      </a:r>
                      <a:br>
                        <a:rPr lang="en-GB" sz="900" u="none" strike="noStrike">
                          <a:effectLst/>
                        </a:rPr>
                      </a:br>
                      <a:endParaRPr lang="en-GB" sz="900" b="0" i="0" u="none" strike="noStrike">
                        <a:solidFill>
                          <a:srgbClr val="000000"/>
                        </a:solidFill>
                        <a:effectLst/>
                        <a:latin typeface="Arial" panose="020B0604020202020204" pitchFamily="34" charset="0"/>
                      </a:endParaRPr>
                    </a:p>
                  </a:txBody>
                  <a:tcPr marL="6266" marR="6266" marT="6266" marB="0" anchor="ct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vMerge="1">
                  <a:txBody>
                    <a:bodyPr/>
                    <a:lstStyle/>
                    <a:p>
                      <a:endParaRPr lang="en-GB"/>
                    </a:p>
                  </a:txBody>
                  <a:tcPr/>
                </a:tc>
                <a:tc vMerge="1">
                  <a:txBody>
                    <a:bodyPr/>
                    <a:lstStyle/>
                    <a:p>
                      <a:endParaRPr lang="en-GB"/>
                    </a:p>
                  </a:txBody>
                  <a:tcPr/>
                </a:tc>
                <a:tc vMerge="1">
                  <a:txBody>
                    <a:bodyPr/>
                    <a:lstStyle/>
                    <a:p>
                      <a:endParaRPr lang="en-GB"/>
                    </a:p>
                  </a:txBody>
                  <a:tcPr/>
                </a:tc>
                <a:tc vMerge="1">
                  <a:txBody>
                    <a:bodyPr/>
                    <a:lstStyle/>
                    <a:p>
                      <a:endParaRPr lang="en-GB"/>
                    </a:p>
                  </a:txBody>
                  <a:tcPr/>
                </a:tc>
              </a:tr>
              <a:tr h="246985">
                <a:tc rowSpan="2">
                  <a:txBody>
                    <a:bodyPr/>
                    <a:lstStyle/>
                    <a:p>
                      <a:pPr algn="ctr" fontAlgn="ctr"/>
                      <a:r>
                        <a:rPr lang="en-GB" sz="900" u="none" strike="noStrike">
                          <a:effectLst/>
                        </a:rPr>
                        <a:t>7</a:t>
                      </a:r>
                      <a:endParaRPr lang="en-GB" sz="900" b="1" i="0" u="none" strike="noStrike">
                        <a:solidFill>
                          <a:srgbClr val="000000"/>
                        </a:solidFill>
                        <a:effectLst/>
                        <a:latin typeface="Arial" panose="020B0604020202020204" pitchFamily="34" charset="0"/>
                      </a:endParaRPr>
                    </a:p>
                  </a:txBody>
                  <a:tcPr marL="6266" marR="6266" marT="6266" marB="0" anchor="ctr"/>
                </a:tc>
                <a:tc gridSpan="5">
                  <a:txBody>
                    <a:bodyPr/>
                    <a:lstStyle/>
                    <a:p>
                      <a:pPr algn="ctr" fontAlgn="ctr"/>
                      <a:r>
                        <a:rPr lang="en-GB" sz="900" u="sng" strike="noStrike">
                          <a:effectLst/>
                        </a:rPr>
                        <a:t>Woodwork</a:t>
                      </a:r>
                      <a:endParaRPr lang="en-GB" sz="900" b="1" i="0" u="sng" strike="noStrike">
                        <a:solidFill>
                          <a:srgbClr val="000000"/>
                        </a:solidFill>
                        <a:effectLst/>
                        <a:latin typeface="Arial" panose="020B0604020202020204" pitchFamily="34" charset="0"/>
                      </a:endParaRPr>
                    </a:p>
                  </a:txBody>
                  <a:tcPr marL="6266" marR="6266" marT="6266" marB="0" anchor="ct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rowSpan="2">
                  <a:txBody>
                    <a:bodyPr/>
                    <a:lstStyle/>
                    <a:p>
                      <a:pPr algn="ctr" fontAlgn="ctr"/>
                      <a:r>
                        <a:rPr lang="en-GB" sz="900" u="none" strike="noStrike">
                          <a:effectLst/>
                        </a:rPr>
                        <a:t>sqft</a:t>
                      </a:r>
                      <a:endParaRPr lang="en-GB" sz="900" b="0" i="0" u="none" strike="noStrike">
                        <a:solidFill>
                          <a:srgbClr val="000000"/>
                        </a:solidFill>
                        <a:effectLst/>
                        <a:latin typeface="Arial" panose="020B0604020202020204" pitchFamily="34" charset="0"/>
                      </a:endParaRPr>
                    </a:p>
                  </a:txBody>
                  <a:tcPr marL="6266" marR="6266" marT="6266" marB="0" anchor="ctr"/>
                </a:tc>
                <a:tc rowSpan="2">
                  <a:txBody>
                    <a:bodyPr/>
                    <a:lstStyle/>
                    <a:p>
                      <a:pPr algn="ctr" fontAlgn="ctr"/>
                      <a:r>
                        <a:rPr lang="en-GB" sz="900" u="none" strike="noStrike">
                          <a:effectLst/>
                        </a:rPr>
                        <a:t>210</a:t>
                      </a:r>
                      <a:endParaRPr lang="en-GB" sz="900" b="0" i="0" u="none" strike="noStrike">
                        <a:solidFill>
                          <a:srgbClr val="000000"/>
                        </a:solidFill>
                        <a:effectLst/>
                        <a:latin typeface="Arial" panose="020B0604020202020204" pitchFamily="34" charset="0"/>
                      </a:endParaRPr>
                    </a:p>
                  </a:txBody>
                  <a:tcPr marL="6266" marR="6266" marT="6266" marB="0" anchor="ctr"/>
                </a:tc>
                <a:tc rowSpan="2">
                  <a:txBody>
                    <a:bodyPr/>
                    <a:lstStyle/>
                    <a:p>
                      <a:pPr algn="ctr" fontAlgn="ctr"/>
                      <a:r>
                        <a:rPr lang="en-GB" sz="900" u="none" strike="noStrike">
                          <a:effectLst/>
                        </a:rPr>
                        <a:t>777.45</a:t>
                      </a:r>
                      <a:endParaRPr lang="en-GB" sz="900" b="0" i="0" u="none" strike="noStrike">
                        <a:solidFill>
                          <a:srgbClr val="000000"/>
                        </a:solidFill>
                        <a:effectLst/>
                        <a:latin typeface="Arial" panose="020B0604020202020204" pitchFamily="34" charset="0"/>
                      </a:endParaRPr>
                    </a:p>
                  </a:txBody>
                  <a:tcPr marL="6266" marR="6266" marT="6266" marB="0" anchor="ctr"/>
                </a:tc>
                <a:tc rowSpan="2">
                  <a:txBody>
                    <a:bodyPr/>
                    <a:lstStyle/>
                    <a:p>
                      <a:pPr algn="ctr" fontAlgn="ctr"/>
                      <a:r>
                        <a:rPr lang="en-GB" sz="900" u="none" strike="noStrike">
                          <a:effectLst/>
                        </a:rPr>
                        <a:t>163264.5</a:t>
                      </a:r>
                      <a:endParaRPr lang="en-GB" sz="900" b="0" i="0" u="none" strike="noStrike">
                        <a:solidFill>
                          <a:srgbClr val="000000"/>
                        </a:solidFill>
                        <a:effectLst/>
                        <a:latin typeface="Arial" panose="020B0604020202020204" pitchFamily="34" charset="0"/>
                      </a:endParaRPr>
                    </a:p>
                  </a:txBody>
                  <a:tcPr marL="6266" marR="6266" marT="6266" marB="0" anchor="ctr"/>
                </a:tc>
              </a:tr>
              <a:tr h="505632">
                <a:tc vMerge="1">
                  <a:txBody>
                    <a:bodyPr/>
                    <a:lstStyle/>
                    <a:p>
                      <a:endParaRPr lang="en-GB"/>
                    </a:p>
                  </a:txBody>
                  <a:tcPr/>
                </a:tc>
                <a:tc gridSpan="5">
                  <a:txBody>
                    <a:bodyPr/>
                    <a:lstStyle/>
                    <a:p>
                      <a:pPr algn="ctr" fontAlgn="ctr"/>
                      <a:r>
                        <a:rPr lang="en-GB" sz="900" u="none" strike="noStrike" dirty="0">
                          <a:effectLst/>
                        </a:rPr>
                        <a:t>Deodar wood Framed , braced and battened doors, complete with iron fittings and fixed in position including </a:t>
                      </a:r>
                      <a:r>
                        <a:rPr lang="en-GB" sz="900" u="none" strike="noStrike" dirty="0" err="1">
                          <a:effectLst/>
                        </a:rPr>
                        <a:t>chowkats</a:t>
                      </a:r>
                      <a:r>
                        <a:rPr lang="en-GB" sz="900" u="none" strike="noStrike" dirty="0">
                          <a:effectLst/>
                        </a:rPr>
                        <a:t>:          (</a:t>
                      </a:r>
                      <a:r>
                        <a:rPr lang="en-GB" sz="900" u="none" strike="noStrike" dirty="0" err="1">
                          <a:effectLst/>
                        </a:rPr>
                        <a:t>i</a:t>
                      </a:r>
                      <a:r>
                        <a:rPr lang="en-GB" sz="900" u="none" strike="noStrike" dirty="0">
                          <a:effectLst/>
                        </a:rPr>
                        <a:t>)2 ¼ inch thick with 1 ¼ inch battens and 1 inch planks</a:t>
                      </a:r>
                      <a:endParaRPr lang="en-GB" sz="900" b="0" i="0" u="none" strike="noStrike" dirty="0">
                        <a:solidFill>
                          <a:srgbClr val="000000"/>
                        </a:solidFill>
                        <a:effectLst/>
                        <a:latin typeface="Arial" panose="020B0604020202020204" pitchFamily="34" charset="0"/>
                      </a:endParaRPr>
                    </a:p>
                  </a:txBody>
                  <a:tcPr marL="6266" marR="6266" marT="6266" marB="0" anchor="ct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vMerge="1">
                  <a:txBody>
                    <a:bodyPr/>
                    <a:lstStyle/>
                    <a:p>
                      <a:endParaRPr lang="en-GB"/>
                    </a:p>
                  </a:txBody>
                  <a:tcPr/>
                </a:tc>
                <a:tc vMerge="1">
                  <a:txBody>
                    <a:bodyPr/>
                    <a:lstStyle/>
                    <a:p>
                      <a:endParaRPr lang="en-GB"/>
                    </a:p>
                  </a:txBody>
                  <a:tcPr/>
                </a:tc>
                <a:tc vMerge="1">
                  <a:txBody>
                    <a:bodyPr/>
                    <a:lstStyle/>
                    <a:p>
                      <a:endParaRPr lang="en-GB"/>
                    </a:p>
                  </a:txBody>
                  <a:tcPr/>
                </a:tc>
                <a:tc vMerge="1">
                  <a:txBody>
                    <a:bodyPr/>
                    <a:lstStyle/>
                    <a:p>
                      <a:endParaRPr lang="en-GB"/>
                    </a:p>
                  </a:txBody>
                  <a:tcPr/>
                </a:tc>
              </a:tr>
            </a:tbl>
          </a:graphicData>
        </a:graphic>
      </p:graphicFrame>
    </p:spTree>
    <p:extLst>
      <p:ext uri="{BB962C8B-B14F-4D97-AF65-F5344CB8AC3E}">
        <p14:creationId xmlns:p14="http://schemas.microsoft.com/office/powerpoint/2010/main" val="4214101361"/>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D1CE9E3-6AE7-4AEE-B927-16CF1827DE94}"/>
              </a:ext>
            </a:extLst>
          </p:cNvPr>
          <p:cNvSpPr>
            <a:spLocks noGrp="1"/>
          </p:cNvSpPr>
          <p:nvPr>
            <p:ph type="title"/>
          </p:nvPr>
        </p:nvSpPr>
        <p:spPr>
          <a:xfrm>
            <a:off x="296260" y="586585"/>
            <a:ext cx="7682950" cy="702715"/>
          </a:xfrm>
        </p:spPr>
        <p:txBody>
          <a:bodyPr>
            <a:normAutofit/>
          </a:bodyPr>
          <a:lstStyle/>
          <a:p>
            <a:r>
              <a:rPr lang="en-US" sz="3000" dirty="0">
                <a:solidFill>
                  <a:srgbClr val="FFFFFF"/>
                </a:solidFill>
              </a:rPr>
              <a:t>Final Project Summary</a:t>
            </a:r>
          </a:p>
        </p:txBody>
      </p:sp>
      <p:graphicFrame>
        <p:nvGraphicFramePr>
          <p:cNvPr id="4" name="Content Placeholder 3">
            <a:extLst>
              <a:ext uri="{FF2B5EF4-FFF2-40B4-BE49-F238E27FC236}">
                <a16:creationId xmlns:a16="http://schemas.microsoft.com/office/drawing/2014/main" xmlns="" id="{CE2D4BF2-6B11-4D33-8BB5-D42B4C0B553C}"/>
              </a:ext>
            </a:extLst>
          </p:cNvPr>
          <p:cNvGraphicFramePr>
            <a:graphicFrameLocks noGrp="1"/>
          </p:cNvGraphicFramePr>
          <p:nvPr>
            <p:ph idx="1"/>
            <p:extLst>
              <p:ext uri="{D42A27DB-BD31-4B8C-83A1-F6EECF244321}">
                <p14:modId xmlns:p14="http://schemas.microsoft.com/office/powerpoint/2010/main" val="2739989651"/>
              </p:ext>
            </p:extLst>
          </p:nvPr>
        </p:nvGraphicFramePr>
        <p:xfrm>
          <a:off x="557619" y="1502815"/>
          <a:ext cx="7160232" cy="3478880"/>
        </p:xfrm>
        <a:graphic>
          <a:graphicData uri="http://schemas.openxmlformats.org/drawingml/2006/table">
            <a:tbl>
              <a:tblPr>
                <a:noFill/>
                <a:tableStyleId>{5C22544A-7EE6-4342-B048-85BDC9FD1C3A}</a:tableStyleId>
              </a:tblPr>
              <a:tblGrid>
                <a:gridCol w="3961515">
                  <a:extLst>
                    <a:ext uri="{9D8B030D-6E8A-4147-A177-3AD203B41FA5}">
                      <a16:colId xmlns:a16="http://schemas.microsoft.com/office/drawing/2014/main" xmlns="" val="3799826176"/>
                    </a:ext>
                  </a:extLst>
                </a:gridCol>
                <a:gridCol w="3198717">
                  <a:extLst>
                    <a:ext uri="{9D8B030D-6E8A-4147-A177-3AD203B41FA5}">
                      <a16:colId xmlns:a16="http://schemas.microsoft.com/office/drawing/2014/main" xmlns="" val="3531350172"/>
                    </a:ext>
                  </a:extLst>
                </a:gridCol>
              </a:tblGrid>
              <a:tr h="397821">
                <a:tc gridSpan="2">
                  <a:txBody>
                    <a:bodyPr/>
                    <a:lstStyle/>
                    <a:p>
                      <a:pPr algn="ctr" fontAlgn="ctr"/>
                      <a:r>
                        <a:rPr lang="en-US" sz="1600" b="1" u="none" strike="noStrike" dirty="0">
                          <a:solidFill>
                            <a:schemeClr val="tx1">
                              <a:lumMod val="75000"/>
                              <a:lumOff val="25000"/>
                            </a:schemeClr>
                          </a:solidFill>
                          <a:effectLst/>
                        </a:rPr>
                        <a:t>Project summary</a:t>
                      </a:r>
                      <a:endParaRPr lang="en-US" sz="1600" b="1" i="0" u="none" strike="noStrike" dirty="0">
                        <a:solidFill>
                          <a:schemeClr val="tx1">
                            <a:lumMod val="75000"/>
                            <a:lumOff val="25000"/>
                          </a:schemeClr>
                        </a:solidFill>
                        <a:effectLst/>
                        <a:latin typeface="Calibri" panose="020F0502020204030204" pitchFamily="34" charset="0"/>
                      </a:endParaRPr>
                    </a:p>
                  </a:txBody>
                  <a:tcPr marL="191020" marR="7959" marT="95510" marB="95510" anchor="ctr">
                    <a:lnL w="9525" cap="flat" cmpd="sng" algn="ctr">
                      <a:solidFill>
                        <a:srgbClr val="D8DEDC"/>
                      </a:solidFill>
                      <a:prstDash val="solid"/>
                    </a:lnL>
                    <a:lnR w="9525" cap="flat" cmpd="sng" algn="ctr">
                      <a:solidFill>
                        <a:srgbClr val="D8DEDC"/>
                      </a:solidFill>
                      <a:prstDash val="solid"/>
                    </a:lnR>
                    <a:lnT w="9525" cap="flat" cmpd="sng" algn="ctr">
                      <a:solidFill>
                        <a:srgbClr val="D8DEDC"/>
                      </a:solidFill>
                      <a:prstDash val="solid"/>
                    </a:lnT>
                    <a:lnB w="9525" cap="flat" cmpd="sng" algn="ctr">
                      <a:solidFill>
                        <a:srgbClr val="D8DEDC"/>
                      </a:solidFill>
                      <a:prstDash val="solid"/>
                    </a:lnB>
                    <a:noFill/>
                  </a:tcPr>
                </a:tc>
                <a:tc hMerge="1">
                  <a:txBody>
                    <a:bodyPr/>
                    <a:lstStyle/>
                    <a:p>
                      <a:endParaRPr lang="en-US"/>
                    </a:p>
                  </a:txBody>
                  <a:tcPr/>
                </a:tc>
                <a:extLst>
                  <a:ext uri="{0D108BD9-81ED-4DB2-BD59-A6C34878D82A}">
                    <a16:rowId xmlns:a16="http://schemas.microsoft.com/office/drawing/2014/main" xmlns="" val="1062777049"/>
                  </a:ext>
                </a:extLst>
              </a:tr>
              <a:tr h="397821">
                <a:tc gridSpan="2">
                  <a:txBody>
                    <a:bodyPr/>
                    <a:lstStyle/>
                    <a:p>
                      <a:pPr algn="ctr" fontAlgn="ctr"/>
                      <a:r>
                        <a:rPr lang="en-US" sz="1600" b="1" u="none" strike="noStrike" dirty="0">
                          <a:solidFill>
                            <a:schemeClr val="tx1">
                              <a:lumMod val="75000"/>
                              <a:lumOff val="25000"/>
                            </a:schemeClr>
                          </a:solidFill>
                          <a:effectLst/>
                        </a:rPr>
                        <a:t>Cost (Rs)</a:t>
                      </a:r>
                      <a:endParaRPr lang="en-US" sz="1600" b="1" i="0" u="none" strike="noStrike" dirty="0">
                        <a:solidFill>
                          <a:schemeClr val="tx1">
                            <a:lumMod val="75000"/>
                            <a:lumOff val="25000"/>
                          </a:schemeClr>
                        </a:solidFill>
                        <a:effectLst/>
                        <a:latin typeface="Calibri" panose="020F0502020204030204" pitchFamily="34" charset="0"/>
                      </a:endParaRPr>
                    </a:p>
                  </a:txBody>
                  <a:tcPr marL="191020" marR="7959" marT="95510" marB="95510" anchor="ctr">
                    <a:lnL w="9525" cap="flat" cmpd="sng" algn="ctr">
                      <a:solidFill>
                        <a:srgbClr val="D8DEDC"/>
                      </a:solidFill>
                      <a:prstDash val="solid"/>
                    </a:lnL>
                    <a:lnR w="9525" cap="flat" cmpd="sng" algn="ctr">
                      <a:solidFill>
                        <a:srgbClr val="D8DEDC"/>
                      </a:solidFill>
                      <a:prstDash val="solid"/>
                    </a:lnR>
                    <a:lnT w="9525" cap="flat" cmpd="sng" algn="ctr">
                      <a:solidFill>
                        <a:srgbClr val="D8DEDC"/>
                      </a:solidFill>
                      <a:prstDash val="solid"/>
                    </a:lnT>
                    <a:lnB w="9525" cap="flat" cmpd="sng" algn="ctr">
                      <a:solidFill>
                        <a:srgbClr val="D8DEDC"/>
                      </a:solidFill>
                      <a:prstDash val="solid"/>
                    </a:lnB>
                    <a:noFill/>
                  </a:tcPr>
                </a:tc>
                <a:tc hMerge="1">
                  <a:txBody>
                    <a:bodyPr/>
                    <a:lstStyle/>
                    <a:p>
                      <a:endParaRPr lang="en-US"/>
                    </a:p>
                  </a:txBody>
                  <a:tcPr/>
                </a:tc>
                <a:extLst>
                  <a:ext uri="{0D108BD9-81ED-4DB2-BD59-A6C34878D82A}">
                    <a16:rowId xmlns:a16="http://schemas.microsoft.com/office/drawing/2014/main" xmlns="" val="2549397732"/>
                  </a:ext>
                </a:extLst>
              </a:tr>
              <a:tr h="397821">
                <a:tc>
                  <a:txBody>
                    <a:bodyPr/>
                    <a:lstStyle/>
                    <a:p>
                      <a:pPr algn="ctr" fontAlgn="ctr"/>
                      <a:r>
                        <a:rPr lang="en-US" sz="1600" b="1" u="none" strike="noStrike" dirty="0">
                          <a:solidFill>
                            <a:schemeClr val="tx1">
                              <a:lumMod val="75000"/>
                              <a:lumOff val="25000"/>
                            </a:schemeClr>
                          </a:solidFill>
                          <a:effectLst/>
                        </a:rPr>
                        <a:t>BOQ items</a:t>
                      </a:r>
                      <a:endParaRPr lang="en-US" sz="1600" b="1" i="0" u="none" strike="noStrike" dirty="0">
                        <a:solidFill>
                          <a:schemeClr val="tx1">
                            <a:lumMod val="75000"/>
                            <a:lumOff val="25000"/>
                          </a:schemeClr>
                        </a:solidFill>
                        <a:effectLst/>
                        <a:latin typeface="Calibri" panose="020F0502020204030204" pitchFamily="34" charset="0"/>
                      </a:endParaRPr>
                    </a:p>
                  </a:txBody>
                  <a:tcPr marL="191020" marR="7959" marT="95510" marB="95510" anchor="ctr">
                    <a:lnL w="9525" cap="flat" cmpd="sng" algn="ctr">
                      <a:solidFill>
                        <a:srgbClr val="D8DEDC"/>
                      </a:solidFill>
                      <a:prstDash val="solid"/>
                    </a:lnL>
                    <a:lnR w="9525" cap="flat" cmpd="sng" algn="ctr">
                      <a:solidFill>
                        <a:srgbClr val="D8DEDC"/>
                      </a:solidFill>
                      <a:prstDash val="solid"/>
                    </a:lnR>
                    <a:lnT w="9525" cap="flat" cmpd="sng" algn="ctr">
                      <a:solidFill>
                        <a:srgbClr val="D8DEDC"/>
                      </a:solidFill>
                      <a:prstDash val="solid"/>
                    </a:lnT>
                    <a:lnB w="9525" cap="flat" cmpd="sng" algn="ctr">
                      <a:solidFill>
                        <a:srgbClr val="D8DEDC"/>
                      </a:solidFill>
                      <a:prstDash val="solid"/>
                    </a:lnB>
                    <a:noFill/>
                  </a:tcPr>
                </a:tc>
                <a:tc>
                  <a:txBody>
                    <a:bodyPr/>
                    <a:lstStyle/>
                    <a:p>
                      <a:pPr algn="ctr" fontAlgn="ctr"/>
                      <a:r>
                        <a:rPr lang="en-US" sz="1600" b="1" i="0" u="none" strike="noStrike" dirty="0" smtClean="0">
                          <a:solidFill>
                            <a:schemeClr val="tx1">
                              <a:lumMod val="75000"/>
                              <a:lumOff val="25000"/>
                            </a:schemeClr>
                          </a:solidFill>
                          <a:effectLst/>
                          <a:latin typeface="Calibri" panose="020F0502020204030204" pitchFamily="34" charset="0"/>
                        </a:rPr>
                        <a:t>5436530</a:t>
                      </a:r>
                      <a:endParaRPr lang="en-US" sz="1600" b="1" i="0" u="none" strike="noStrike" dirty="0" smtClean="0">
                        <a:solidFill>
                          <a:schemeClr val="tx1">
                            <a:lumMod val="75000"/>
                            <a:lumOff val="25000"/>
                          </a:schemeClr>
                        </a:solidFill>
                        <a:effectLst/>
                        <a:latin typeface="Calibri" panose="020F0502020204030204" pitchFamily="34" charset="0"/>
                      </a:endParaRPr>
                    </a:p>
                  </a:txBody>
                  <a:tcPr marL="191020" marR="7959" marT="95510" marB="95510" anchor="ctr">
                    <a:lnL w="9525" cap="flat" cmpd="sng" algn="ctr">
                      <a:solidFill>
                        <a:srgbClr val="D8DEDC"/>
                      </a:solidFill>
                      <a:prstDash val="solid"/>
                    </a:lnL>
                    <a:lnR w="9525" cap="flat" cmpd="sng" algn="ctr">
                      <a:solidFill>
                        <a:srgbClr val="D8DEDC"/>
                      </a:solidFill>
                      <a:prstDash val="solid"/>
                    </a:lnR>
                    <a:lnT w="9525" cap="flat" cmpd="sng" algn="ctr">
                      <a:solidFill>
                        <a:srgbClr val="D8DEDC"/>
                      </a:solidFill>
                      <a:prstDash val="solid"/>
                    </a:lnT>
                    <a:lnB w="9525" cap="flat" cmpd="sng" algn="ctr">
                      <a:solidFill>
                        <a:srgbClr val="D8DEDC"/>
                      </a:solidFill>
                      <a:prstDash val="solid"/>
                    </a:lnB>
                    <a:noFill/>
                  </a:tcPr>
                </a:tc>
                <a:extLst>
                  <a:ext uri="{0D108BD9-81ED-4DB2-BD59-A6C34878D82A}">
                    <a16:rowId xmlns:a16="http://schemas.microsoft.com/office/drawing/2014/main" xmlns="" val="4177341769"/>
                  </a:ext>
                </a:extLst>
              </a:tr>
              <a:tr h="397821">
                <a:tc>
                  <a:txBody>
                    <a:bodyPr/>
                    <a:lstStyle/>
                    <a:p>
                      <a:pPr algn="ctr" fontAlgn="ctr"/>
                      <a:r>
                        <a:rPr lang="en-US" sz="1600" u="none" strike="noStrike" dirty="0" smtClean="0">
                          <a:solidFill>
                            <a:schemeClr val="tx1">
                              <a:lumMod val="75000"/>
                              <a:lumOff val="25000"/>
                            </a:schemeClr>
                          </a:solidFill>
                          <a:effectLst/>
                        </a:rPr>
                        <a:t>Overheads (12%)</a:t>
                      </a:r>
                      <a:endParaRPr lang="en-US" sz="1600" b="0" i="0" u="none" strike="noStrike" dirty="0">
                        <a:solidFill>
                          <a:schemeClr val="tx1">
                            <a:lumMod val="75000"/>
                            <a:lumOff val="25000"/>
                          </a:schemeClr>
                        </a:solidFill>
                        <a:effectLst/>
                        <a:latin typeface="Calibri" panose="020F0502020204030204" pitchFamily="34" charset="0"/>
                      </a:endParaRPr>
                    </a:p>
                  </a:txBody>
                  <a:tcPr marL="191020" marR="7959" marT="95510" marB="95510" anchor="ctr">
                    <a:lnL w="9525" cap="flat" cmpd="sng" algn="ctr">
                      <a:solidFill>
                        <a:srgbClr val="D8DEDC"/>
                      </a:solidFill>
                      <a:prstDash val="solid"/>
                    </a:lnL>
                    <a:lnR w="9525" cap="flat" cmpd="sng" algn="ctr">
                      <a:solidFill>
                        <a:srgbClr val="D8DEDC"/>
                      </a:solidFill>
                      <a:prstDash val="solid"/>
                    </a:lnR>
                    <a:lnT w="9525" cap="flat" cmpd="sng" algn="ctr">
                      <a:solidFill>
                        <a:srgbClr val="D8DEDC"/>
                      </a:solidFill>
                      <a:prstDash val="solid"/>
                    </a:lnT>
                    <a:lnB w="9525" cap="flat" cmpd="sng" algn="ctr">
                      <a:solidFill>
                        <a:srgbClr val="D8DEDC"/>
                      </a:solidFill>
                      <a:prstDash val="solid"/>
                    </a:lnB>
                    <a:noFill/>
                  </a:tcPr>
                </a:tc>
                <a:tc>
                  <a:txBody>
                    <a:bodyPr/>
                    <a:lstStyle/>
                    <a:p>
                      <a:pPr algn="ctr" fontAlgn="b"/>
                      <a:r>
                        <a:rPr lang="en-US" sz="1600" b="0" i="0" u="none" strike="noStrike" dirty="0" smtClean="0">
                          <a:solidFill>
                            <a:schemeClr val="tx1">
                              <a:lumMod val="75000"/>
                              <a:lumOff val="25000"/>
                            </a:schemeClr>
                          </a:solidFill>
                          <a:effectLst/>
                          <a:latin typeface="Calibri" panose="020F0502020204030204" pitchFamily="34" charset="0"/>
                        </a:rPr>
                        <a:t>652380</a:t>
                      </a:r>
                      <a:endParaRPr lang="en-US" sz="1600" b="0" i="0" u="none" strike="noStrike" dirty="0">
                        <a:solidFill>
                          <a:schemeClr val="tx1">
                            <a:lumMod val="75000"/>
                            <a:lumOff val="25000"/>
                          </a:schemeClr>
                        </a:solidFill>
                        <a:effectLst/>
                        <a:latin typeface="Calibri" panose="020F0502020204030204" pitchFamily="34" charset="0"/>
                      </a:endParaRPr>
                    </a:p>
                  </a:txBody>
                  <a:tcPr marL="191020" marR="7959" marT="95510" marB="95510" anchor="b">
                    <a:lnL w="9525" cap="flat" cmpd="sng" algn="ctr">
                      <a:solidFill>
                        <a:srgbClr val="D8DEDC"/>
                      </a:solidFill>
                      <a:prstDash val="solid"/>
                    </a:lnL>
                    <a:lnR w="9525" cap="flat" cmpd="sng" algn="ctr">
                      <a:solidFill>
                        <a:srgbClr val="D8DEDC"/>
                      </a:solidFill>
                      <a:prstDash val="solid"/>
                    </a:lnR>
                    <a:lnT w="9525" cap="flat" cmpd="sng" algn="ctr">
                      <a:solidFill>
                        <a:srgbClr val="D8DEDC"/>
                      </a:solidFill>
                      <a:prstDash val="solid"/>
                    </a:lnT>
                    <a:lnB w="9525" cap="flat" cmpd="sng" algn="ctr">
                      <a:solidFill>
                        <a:srgbClr val="D8DEDC"/>
                      </a:solidFill>
                      <a:prstDash val="solid"/>
                    </a:lnB>
                    <a:noFill/>
                  </a:tcPr>
                </a:tc>
                <a:extLst>
                  <a:ext uri="{0D108BD9-81ED-4DB2-BD59-A6C34878D82A}">
                    <a16:rowId xmlns:a16="http://schemas.microsoft.com/office/drawing/2014/main" xmlns="" val="1440666083"/>
                  </a:ext>
                </a:extLst>
              </a:tr>
              <a:tr h="397821">
                <a:tc>
                  <a:txBody>
                    <a:bodyPr/>
                    <a:lstStyle/>
                    <a:p>
                      <a:pPr algn="ctr" fontAlgn="ctr"/>
                      <a:r>
                        <a:rPr lang="en-US" sz="1600" u="none" strike="noStrike" dirty="0" smtClean="0">
                          <a:solidFill>
                            <a:schemeClr val="tx1">
                              <a:lumMod val="75000"/>
                              <a:lumOff val="25000"/>
                            </a:schemeClr>
                          </a:solidFill>
                          <a:effectLst/>
                        </a:rPr>
                        <a:t>Contingencies (1.4%)</a:t>
                      </a:r>
                      <a:endParaRPr lang="en-US" sz="1600" b="0" i="0" u="none" strike="noStrike" dirty="0">
                        <a:solidFill>
                          <a:schemeClr val="tx1">
                            <a:lumMod val="75000"/>
                            <a:lumOff val="25000"/>
                          </a:schemeClr>
                        </a:solidFill>
                        <a:effectLst/>
                        <a:latin typeface="Calibri" panose="020F0502020204030204" pitchFamily="34" charset="0"/>
                      </a:endParaRPr>
                    </a:p>
                  </a:txBody>
                  <a:tcPr marL="191020" marR="7959" marT="95510" marB="95510" anchor="ctr">
                    <a:lnL w="9525" cap="flat" cmpd="sng" algn="ctr">
                      <a:solidFill>
                        <a:srgbClr val="D8DEDC"/>
                      </a:solidFill>
                      <a:prstDash val="solid"/>
                    </a:lnL>
                    <a:lnR w="9525" cap="flat" cmpd="sng" algn="ctr">
                      <a:solidFill>
                        <a:srgbClr val="D8DEDC"/>
                      </a:solidFill>
                      <a:prstDash val="solid"/>
                    </a:lnR>
                    <a:lnT w="9525" cap="flat" cmpd="sng" algn="ctr">
                      <a:solidFill>
                        <a:srgbClr val="D8DEDC"/>
                      </a:solidFill>
                      <a:prstDash val="solid"/>
                    </a:lnT>
                    <a:lnB w="9525" cap="flat" cmpd="sng" algn="ctr">
                      <a:solidFill>
                        <a:srgbClr val="D8DEDC"/>
                      </a:solidFill>
                      <a:prstDash val="solid"/>
                    </a:lnB>
                    <a:noFill/>
                  </a:tcPr>
                </a:tc>
                <a:tc>
                  <a:txBody>
                    <a:bodyPr/>
                    <a:lstStyle/>
                    <a:p>
                      <a:pPr algn="ctr" fontAlgn="b"/>
                      <a:r>
                        <a:rPr lang="en-US" sz="1600" b="0" i="0" u="none" strike="noStrike" dirty="0" smtClean="0">
                          <a:solidFill>
                            <a:schemeClr val="tx1">
                              <a:lumMod val="75000"/>
                              <a:lumOff val="25000"/>
                            </a:schemeClr>
                          </a:solidFill>
                          <a:effectLst/>
                          <a:latin typeface="Calibri" panose="020F0502020204030204" pitchFamily="34" charset="0"/>
                        </a:rPr>
                        <a:t>76110</a:t>
                      </a:r>
                      <a:endParaRPr lang="en-US" sz="1600" b="0" i="0" u="none" strike="noStrike" dirty="0">
                        <a:solidFill>
                          <a:schemeClr val="tx1">
                            <a:lumMod val="75000"/>
                            <a:lumOff val="25000"/>
                          </a:schemeClr>
                        </a:solidFill>
                        <a:effectLst/>
                        <a:latin typeface="Calibri" panose="020F0502020204030204" pitchFamily="34" charset="0"/>
                      </a:endParaRPr>
                    </a:p>
                  </a:txBody>
                  <a:tcPr marL="191020" marR="7959" marT="95510" marB="95510" anchor="b">
                    <a:lnL w="9525" cap="flat" cmpd="sng" algn="ctr">
                      <a:solidFill>
                        <a:srgbClr val="D8DEDC"/>
                      </a:solidFill>
                      <a:prstDash val="solid"/>
                    </a:lnL>
                    <a:lnR w="9525" cap="flat" cmpd="sng" algn="ctr">
                      <a:solidFill>
                        <a:srgbClr val="D8DEDC"/>
                      </a:solidFill>
                      <a:prstDash val="solid"/>
                    </a:lnR>
                    <a:lnT w="9525" cap="flat" cmpd="sng" algn="ctr">
                      <a:solidFill>
                        <a:srgbClr val="D8DEDC"/>
                      </a:solidFill>
                      <a:prstDash val="solid"/>
                    </a:lnT>
                    <a:lnB w="9525" cap="flat" cmpd="sng" algn="ctr">
                      <a:solidFill>
                        <a:srgbClr val="D8DEDC"/>
                      </a:solidFill>
                      <a:prstDash val="solid"/>
                    </a:lnB>
                    <a:noFill/>
                  </a:tcPr>
                </a:tc>
                <a:extLst>
                  <a:ext uri="{0D108BD9-81ED-4DB2-BD59-A6C34878D82A}">
                    <a16:rowId xmlns:a16="http://schemas.microsoft.com/office/drawing/2014/main" xmlns="" val="4132371953"/>
                  </a:ext>
                </a:extLst>
              </a:tr>
              <a:tr h="397821">
                <a:tc>
                  <a:txBody>
                    <a:bodyPr/>
                    <a:lstStyle/>
                    <a:p>
                      <a:pPr algn="ctr" fontAlgn="ctr"/>
                      <a:r>
                        <a:rPr lang="en-US" sz="1600" u="none" strike="noStrike" dirty="0" smtClean="0">
                          <a:solidFill>
                            <a:schemeClr val="tx1">
                              <a:lumMod val="75000"/>
                              <a:lumOff val="25000"/>
                            </a:schemeClr>
                          </a:solidFill>
                          <a:effectLst/>
                        </a:rPr>
                        <a:t>Profits (2%)</a:t>
                      </a:r>
                      <a:endParaRPr lang="en-US" sz="1600" b="0" i="0" u="none" strike="noStrike" dirty="0">
                        <a:solidFill>
                          <a:schemeClr val="tx1">
                            <a:lumMod val="75000"/>
                            <a:lumOff val="25000"/>
                          </a:schemeClr>
                        </a:solidFill>
                        <a:effectLst/>
                        <a:latin typeface="Calibri" panose="020F0502020204030204" pitchFamily="34" charset="0"/>
                      </a:endParaRPr>
                    </a:p>
                  </a:txBody>
                  <a:tcPr marL="191020" marR="7959" marT="95510" marB="95510" anchor="ctr">
                    <a:lnL w="9525" cap="flat" cmpd="sng" algn="ctr">
                      <a:solidFill>
                        <a:srgbClr val="D8DEDC"/>
                      </a:solidFill>
                      <a:prstDash val="solid"/>
                    </a:lnL>
                    <a:lnR w="9525" cap="flat" cmpd="sng" algn="ctr">
                      <a:solidFill>
                        <a:srgbClr val="D8DEDC"/>
                      </a:solidFill>
                      <a:prstDash val="solid"/>
                    </a:lnR>
                    <a:lnT w="9525" cap="flat" cmpd="sng" algn="ctr">
                      <a:solidFill>
                        <a:srgbClr val="D8DEDC"/>
                      </a:solidFill>
                      <a:prstDash val="solid"/>
                    </a:lnT>
                    <a:lnB w="9525" cap="flat" cmpd="sng" algn="ctr">
                      <a:solidFill>
                        <a:srgbClr val="D8DEDC"/>
                      </a:solidFill>
                      <a:prstDash val="solid"/>
                    </a:lnB>
                    <a:noFill/>
                  </a:tcPr>
                </a:tc>
                <a:tc>
                  <a:txBody>
                    <a:bodyPr/>
                    <a:lstStyle/>
                    <a:p>
                      <a:pPr algn="ctr" fontAlgn="b"/>
                      <a:r>
                        <a:rPr lang="en-US" sz="1600" b="0" i="0" u="none" strike="noStrike" dirty="0" smtClean="0">
                          <a:solidFill>
                            <a:schemeClr val="tx1">
                              <a:lumMod val="75000"/>
                              <a:lumOff val="25000"/>
                            </a:schemeClr>
                          </a:solidFill>
                          <a:effectLst/>
                          <a:latin typeface="Calibri" panose="020F0502020204030204" pitchFamily="34" charset="0"/>
                        </a:rPr>
                        <a:t>108730</a:t>
                      </a:r>
                      <a:endParaRPr lang="en-US" sz="1600" b="0" i="0" u="none" strike="noStrike" dirty="0">
                        <a:solidFill>
                          <a:schemeClr val="tx1">
                            <a:lumMod val="75000"/>
                            <a:lumOff val="25000"/>
                          </a:schemeClr>
                        </a:solidFill>
                        <a:effectLst/>
                        <a:latin typeface="Calibri" panose="020F0502020204030204" pitchFamily="34" charset="0"/>
                      </a:endParaRPr>
                    </a:p>
                  </a:txBody>
                  <a:tcPr marL="191020" marR="7959" marT="95510" marB="95510" anchor="b">
                    <a:lnL w="9525" cap="flat" cmpd="sng" algn="ctr">
                      <a:solidFill>
                        <a:srgbClr val="D8DEDC"/>
                      </a:solidFill>
                      <a:prstDash val="solid"/>
                    </a:lnL>
                    <a:lnR w="9525" cap="flat" cmpd="sng" algn="ctr">
                      <a:solidFill>
                        <a:srgbClr val="D8DEDC"/>
                      </a:solidFill>
                      <a:prstDash val="solid"/>
                    </a:lnR>
                    <a:lnT w="9525" cap="flat" cmpd="sng" algn="ctr">
                      <a:solidFill>
                        <a:srgbClr val="D8DEDC"/>
                      </a:solidFill>
                      <a:prstDash val="solid"/>
                    </a:lnT>
                    <a:lnB w="9525" cap="flat" cmpd="sng" algn="ctr">
                      <a:solidFill>
                        <a:srgbClr val="D8DEDC"/>
                      </a:solidFill>
                      <a:prstDash val="solid"/>
                    </a:lnB>
                    <a:noFill/>
                  </a:tcPr>
                </a:tc>
                <a:extLst>
                  <a:ext uri="{0D108BD9-81ED-4DB2-BD59-A6C34878D82A}">
                    <a16:rowId xmlns:a16="http://schemas.microsoft.com/office/drawing/2014/main" xmlns="" val="3248394453"/>
                  </a:ext>
                </a:extLst>
              </a:tr>
              <a:tr h="397821">
                <a:tc>
                  <a:txBody>
                    <a:bodyPr/>
                    <a:lstStyle/>
                    <a:p>
                      <a:pPr algn="ctr" fontAlgn="ctr"/>
                      <a:r>
                        <a:rPr lang="en-US" sz="1600" u="none" strike="noStrike" dirty="0" smtClean="0">
                          <a:solidFill>
                            <a:schemeClr val="tx1">
                              <a:lumMod val="75000"/>
                              <a:lumOff val="25000"/>
                            </a:schemeClr>
                          </a:solidFill>
                          <a:effectLst/>
                        </a:rPr>
                        <a:t>Government Tax(14%)</a:t>
                      </a:r>
                      <a:endParaRPr lang="en-US" sz="1600" b="0" i="0" u="none" strike="noStrike" dirty="0">
                        <a:solidFill>
                          <a:schemeClr val="tx1">
                            <a:lumMod val="75000"/>
                            <a:lumOff val="25000"/>
                          </a:schemeClr>
                        </a:solidFill>
                        <a:effectLst/>
                        <a:latin typeface="Calibri" panose="020F0502020204030204" pitchFamily="34" charset="0"/>
                      </a:endParaRPr>
                    </a:p>
                  </a:txBody>
                  <a:tcPr marL="191020" marR="7959" marT="95510" marB="95510" anchor="ctr">
                    <a:lnL w="9525" cap="flat" cmpd="sng" algn="ctr">
                      <a:solidFill>
                        <a:srgbClr val="D8DEDC"/>
                      </a:solidFill>
                      <a:prstDash val="solid"/>
                    </a:lnL>
                    <a:lnR w="9525" cap="flat" cmpd="sng" algn="ctr">
                      <a:solidFill>
                        <a:srgbClr val="D8DEDC"/>
                      </a:solidFill>
                      <a:prstDash val="solid"/>
                    </a:lnR>
                    <a:lnT w="9525" cap="flat" cmpd="sng" algn="ctr">
                      <a:solidFill>
                        <a:srgbClr val="D8DEDC"/>
                      </a:solidFill>
                      <a:prstDash val="solid"/>
                    </a:lnT>
                    <a:lnB w="9525" cap="flat" cmpd="sng" algn="ctr">
                      <a:solidFill>
                        <a:srgbClr val="D8DEDC"/>
                      </a:solidFill>
                      <a:prstDash val="solid"/>
                    </a:lnB>
                    <a:noFill/>
                  </a:tcPr>
                </a:tc>
                <a:tc>
                  <a:txBody>
                    <a:bodyPr/>
                    <a:lstStyle/>
                    <a:p>
                      <a:pPr algn="ctr" fontAlgn="b"/>
                      <a:r>
                        <a:rPr lang="en-US" sz="1600" b="0" i="0" u="none" strike="noStrike" dirty="0" smtClean="0">
                          <a:solidFill>
                            <a:schemeClr val="tx1">
                              <a:lumMod val="75000"/>
                              <a:lumOff val="25000"/>
                            </a:schemeClr>
                          </a:solidFill>
                          <a:effectLst/>
                          <a:latin typeface="Calibri" panose="020F0502020204030204" pitchFamily="34" charset="0"/>
                        </a:rPr>
                        <a:t>761110</a:t>
                      </a:r>
                      <a:endParaRPr lang="en-US" sz="1600" b="0" i="0" u="none" strike="noStrike" dirty="0">
                        <a:solidFill>
                          <a:schemeClr val="tx1">
                            <a:lumMod val="75000"/>
                            <a:lumOff val="25000"/>
                          </a:schemeClr>
                        </a:solidFill>
                        <a:effectLst/>
                        <a:latin typeface="Calibri" panose="020F0502020204030204" pitchFamily="34" charset="0"/>
                      </a:endParaRPr>
                    </a:p>
                  </a:txBody>
                  <a:tcPr marL="191020" marR="7959" marT="95510" marB="95510" anchor="b">
                    <a:lnL w="9525" cap="flat" cmpd="sng" algn="ctr">
                      <a:solidFill>
                        <a:srgbClr val="D8DEDC"/>
                      </a:solidFill>
                      <a:prstDash val="solid"/>
                    </a:lnL>
                    <a:lnR w="9525" cap="flat" cmpd="sng" algn="ctr">
                      <a:solidFill>
                        <a:srgbClr val="D8DEDC"/>
                      </a:solidFill>
                      <a:prstDash val="solid"/>
                    </a:lnR>
                    <a:lnT w="9525" cap="flat" cmpd="sng" algn="ctr">
                      <a:solidFill>
                        <a:srgbClr val="D8DEDC"/>
                      </a:solidFill>
                      <a:prstDash val="solid"/>
                    </a:lnT>
                    <a:lnB w="9525" cap="flat" cmpd="sng" algn="ctr">
                      <a:solidFill>
                        <a:srgbClr val="D8DEDC"/>
                      </a:solidFill>
                      <a:prstDash val="solid"/>
                    </a:lnB>
                    <a:noFill/>
                  </a:tcPr>
                </a:tc>
                <a:extLst>
                  <a:ext uri="{0D108BD9-81ED-4DB2-BD59-A6C34878D82A}">
                    <a16:rowId xmlns:a16="http://schemas.microsoft.com/office/drawing/2014/main" xmlns="" val="259217512"/>
                  </a:ext>
                </a:extLst>
              </a:tr>
              <a:tr h="397821">
                <a:tc>
                  <a:txBody>
                    <a:bodyPr/>
                    <a:lstStyle/>
                    <a:p>
                      <a:pPr algn="ctr" fontAlgn="ctr"/>
                      <a:r>
                        <a:rPr lang="en-US" sz="1600" b="1" u="none" strike="noStrike" dirty="0">
                          <a:solidFill>
                            <a:schemeClr val="tx1">
                              <a:lumMod val="75000"/>
                              <a:lumOff val="25000"/>
                            </a:schemeClr>
                          </a:solidFill>
                          <a:effectLst/>
                        </a:rPr>
                        <a:t>Total</a:t>
                      </a:r>
                      <a:endParaRPr lang="en-US" sz="1600" b="1" i="0" u="none" strike="noStrike" dirty="0">
                        <a:solidFill>
                          <a:schemeClr val="tx1">
                            <a:lumMod val="75000"/>
                            <a:lumOff val="25000"/>
                          </a:schemeClr>
                        </a:solidFill>
                        <a:effectLst/>
                        <a:latin typeface="Calibri" panose="020F0502020204030204" pitchFamily="34" charset="0"/>
                      </a:endParaRPr>
                    </a:p>
                  </a:txBody>
                  <a:tcPr marL="191020" marR="7959" marT="95510" marB="95510" anchor="ctr">
                    <a:lnL w="9525" cap="flat" cmpd="sng" algn="ctr">
                      <a:solidFill>
                        <a:srgbClr val="D8DEDC"/>
                      </a:solidFill>
                      <a:prstDash val="solid"/>
                    </a:lnL>
                    <a:lnR w="9525" cap="flat" cmpd="sng" algn="ctr">
                      <a:solidFill>
                        <a:srgbClr val="D8DEDC"/>
                      </a:solidFill>
                      <a:prstDash val="solid"/>
                    </a:lnR>
                    <a:lnT w="9525" cap="flat" cmpd="sng" algn="ctr">
                      <a:solidFill>
                        <a:srgbClr val="D8DEDC"/>
                      </a:solidFill>
                      <a:prstDash val="solid"/>
                    </a:lnT>
                    <a:lnB w="9525" cap="flat" cmpd="sng" algn="ctr">
                      <a:solidFill>
                        <a:srgbClr val="D8DEDC"/>
                      </a:solidFill>
                      <a:prstDash val="solid"/>
                    </a:lnB>
                    <a:noFill/>
                  </a:tcPr>
                </a:tc>
                <a:tc>
                  <a:txBody>
                    <a:bodyPr/>
                    <a:lstStyle/>
                    <a:p>
                      <a:pPr algn="ctr" fontAlgn="b"/>
                      <a:r>
                        <a:rPr lang="en-US" sz="1600" b="1" i="0" u="none" strike="noStrike" dirty="0" smtClean="0">
                          <a:solidFill>
                            <a:schemeClr val="tx1">
                              <a:lumMod val="75000"/>
                              <a:lumOff val="25000"/>
                            </a:schemeClr>
                          </a:solidFill>
                          <a:effectLst/>
                          <a:latin typeface="Calibri" panose="020F0502020204030204" pitchFamily="34" charset="0"/>
                        </a:rPr>
                        <a:t>7034860</a:t>
                      </a:r>
                      <a:endParaRPr lang="en-US" sz="1600" b="1" i="0" u="none" strike="noStrike" dirty="0">
                        <a:solidFill>
                          <a:schemeClr val="tx1">
                            <a:lumMod val="75000"/>
                            <a:lumOff val="25000"/>
                          </a:schemeClr>
                        </a:solidFill>
                        <a:effectLst/>
                        <a:latin typeface="Calibri" panose="020F0502020204030204" pitchFamily="34" charset="0"/>
                      </a:endParaRPr>
                    </a:p>
                  </a:txBody>
                  <a:tcPr marL="191020" marR="7959" marT="95510" marB="95510" anchor="b">
                    <a:lnL w="9525" cap="flat" cmpd="sng" algn="ctr">
                      <a:solidFill>
                        <a:srgbClr val="D8DEDC"/>
                      </a:solidFill>
                      <a:prstDash val="solid"/>
                    </a:lnL>
                    <a:lnR w="9525" cap="flat" cmpd="sng" algn="ctr">
                      <a:solidFill>
                        <a:srgbClr val="D8DEDC"/>
                      </a:solidFill>
                      <a:prstDash val="solid"/>
                    </a:lnR>
                    <a:lnT w="9525" cap="flat" cmpd="sng" algn="ctr">
                      <a:solidFill>
                        <a:srgbClr val="D8DEDC"/>
                      </a:solidFill>
                      <a:prstDash val="solid"/>
                    </a:lnT>
                    <a:lnB w="9525" cap="flat" cmpd="sng" algn="ctr">
                      <a:solidFill>
                        <a:srgbClr val="D8DEDC"/>
                      </a:solidFill>
                      <a:prstDash val="solid"/>
                    </a:lnB>
                    <a:noFill/>
                  </a:tcPr>
                </a:tc>
                <a:extLst>
                  <a:ext uri="{0D108BD9-81ED-4DB2-BD59-A6C34878D82A}">
                    <a16:rowId xmlns:a16="http://schemas.microsoft.com/office/drawing/2014/main" xmlns="" val="871275517"/>
                  </a:ext>
                </a:extLst>
              </a:tr>
            </a:tbl>
          </a:graphicData>
        </a:graphic>
      </p:graphicFrame>
    </p:spTree>
    <p:extLst>
      <p:ext uri="{BB962C8B-B14F-4D97-AF65-F5344CB8AC3E}">
        <p14:creationId xmlns:p14="http://schemas.microsoft.com/office/powerpoint/2010/main" val="4042689986"/>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2F40F58-2CA4-4FE4-A376-E5D762B13597}"/>
              </a:ext>
            </a:extLst>
          </p:cNvPr>
          <p:cNvSpPr>
            <a:spLocks noGrp="1"/>
          </p:cNvSpPr>
          <p:nvPr>
            <p:ph type="title"/>
          </p:nvPr>
        </p:nvSpPr>
        <p:spPr/>
        <p:txBody>
          <a:bodyPr>
            <a:normAutofit/>
          </a:bodyPr>
          <a:lstStyle/>
          <a:p>
            <a:endParaRPr lang="en-US" dirty="0"/>
          </a:p>
        </p:txBody>
      </p:sp>
      <p:sp>
        <p:nvSpPr>
          <p:cNvPr id="3" name="Content Placeholder 2">
            <a:extLst>
              <a:ext uri="{FF2B5EF4-FFF2-40B4-BE49-F238E27FC236}">
                <a16:creationId xmlns:a16="http://schemas.microsoft.com/office/drawing/2014/main" xmlns="" id="{2EC2DB9C-8E4D-4F14-9BBA-86699F3ACE33}"/>
              </a:ext>
            </a:extLst>
          </p:cNvPr>
          <p:cNvSpPr>
            <a:spLocks noGrp="1"/>
          </p:cNvSpPr>
          <p:nvPr>
            <p:ph idx="1"/>
          </p:nvPr>
        </p:nvSpPr>
        <p:spPr/>
        <p:txBody>
          <a:bodyPr>
            <a:normAutofit/>
          </a:bodyPr>
          <a:lstStyle/>
          <a:p>
            <a:pPr marL="0" indent="0">
              <a:buNone/>
            </a:pPr>
            <a:r>
              <a:rPr lang="en-US" sz="4400" dirty="0" smtClean="0"/>
              <a:t>Thank you</a:t>
            </a:r>
          </a:p>
        </p:txBody>
      </p:sp>
    </p:spTree>
    <p:extLst>
      <p:ext uri="{BB962C8B-B14F-4D97-AF65-F5344CB8AC3E}">
        <p14:creationId xmlns:p14="http://schemas.microsoft.com/office/powerpoint/2010/main" val="258692773"/>
      </p:ext>
    </p:extLst>
  </p:cSld>
  <p:clrMapOvr>
    <a:masterClrMapping/>
  </p:clrMapOvr>
  <p:timing>
    <p:tnLst>
      <p:par>
        <p:cTn id="1" dur="indefinite" restart="never" nodeType="tmRoot"/>
      </p:par>
    </p:tnLst>
  </p:timing>
</p:sld>
</file>

<file path=ppt/theme/theme1.xml><?xml version="1.0" encoding="utf-8"?>
<a:theme xmlns:a="http://schemas.openxmlformats.org/drawingml/2006/main" name="Berlin">
  <a:themeElements>
    <a:clrScheme name="Berlin">
      <a:dk1>
        <a:sysClr val="windowText" lastClr="000000"/>
      </a:dk1>
      <a:lt1>
        <a:sysClr val="window" lastClr="FFFFFF"/>
      </a:lt1>
      <a:dk2>
        <a:srgbClr val="9D360E"/>
      </a:dk2>
      <a:lt2>
        <a:srgbClr val="E7E6E6"/>
      </a:lt2>
      <a:accent1>
        <a:srgbClr val="F09415"/>
      </a:accent1>
      <a:accent2>
        <a:srgbClr val="C1B56B"/>
      </a:accent2>
      <a:accent3>
        <a:srgbClr val="4BAF73"/>
      </a:accent3>
      <a:accent4>
        <a:srgbClr val="5AA6C0"/>
      </a:accent4>
      <a:accent5>
        <a:srgbClr val="D17DF9"/>
      </a:accent5>
      <a:accent6>
        <a:srgbClr val="FA7E5C"/>
      </a:accent6>
      <a:hlink>
        <a:srgbClr val="FFAE3E"/>
      </a:hlink>
      <a:folHlink>
        <a:srgbClr val="FCC77E"/>
      </a:folHlink>
    </a:clrScheme>
    <a:fontScheme name="Berlin">
      <a:majorFont>
        <a:latin typeface="Trebuchet MS" panose="020B0603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rebuchet MS" panose="020B0603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erlin">
      <a:fillStyleLst>
        <a:solidFill>
          <a:schemeClr val="phClr"/>
        </a:solidFill>
        <a:gradFill rotWithShape="1">
          <a:gsLst>
            <a:gs pos="0">
              <a:schemeClr val="phClr">
                <a:tint val="60000"/>
                <a:satMod val="100000"/>
                <a:lumMod val="110000"/>
              </a:schemeClr>
            </a:gs>
            <a:gs pos="100000">
              <a:schemeClr val="phClr">
                <a:tint val="70000"/>
                <a:satMod val="100000"/>
                <a:lumMod val="100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6000"/>
                <a:shade val="100000"/>
                <a:hueMod val="270000"/>
                <a:satMod val="200000"/>
                <a:lumMod val="128000"/>
              </a:schemeClr>
            </a:gs>
            <a:gs pos="50000">
              <a:schemeClr val="phClr">
                <a:shade val="100000"/>
                <a:hueMod val="100000"/>
                <a:satMod val="110000"/>
                <a:lumMod val="130000"/>
              </a:schemeClr>
            </a:gs>
            <a:gs pos="100000">
              <a:schemeClr val="phClr">
                <a:shade val="78000"/>
                <a:hueMod val="44000"/>
                <a:satMod val="200000"/>
                <a:lumMod val="69000"/>
              </a:schemeClr>
            </a:gs>
          </a:gsLst>
          <a:lin ang="2520000" scaled="0"/>
        </a:gradFill>
      </a:bgFillStyleLst>
    </a:fmtScheme>
  </a:themeElements>
  <a:objectDefaults/>
  <a:extraClrSchemeLst/>
  <a:extLst>
    <a:ext uri="{05A4C25C-085E-4340-85A3-A5531E510DB2}">
      <thm15:themeFamily xmlns:thm15="http://schemas.microsoft.com/office/thememl/2012/main" name="Berlin" id="{7B5DBA9E-B069-418E-9360-A61BDD0615A4}" vid="{C0CBE056-4EF4-4D92-969E-947779DA7AA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TM04033917[[fn=Berlin]]</Template>
  <TotalTime>0</TotalTime>
  <Words>1768</Words>
  <Application>Microsoft Office PowerPoint</Application>
  <PresentationFormat>On-screen Show (16:9)</PresentationFormat>
  <Paragraphs>495</Paragraphs>
  <Slides>37</Slides>
  <Notes>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37</vt:i4>
      </vt:variant>
    </vt:vector>
  </HeadingPairs>
  <TitlesOfParts>
    <vt:vector size="42" baseType="lpstr">
      <vt:lpstr>Arial</vt:lpstr>
      <vt:lpstr>Calibri</vt:lpstr>
      <vt:lpstr>Times New Roman</vt:lpstr>
      <vt:lpstr>Trebuchet MS</vt:lpstr>
      <vt:lpstr>Berlin</vt:lpstr>
      <vt:lpstr>Quantity Surveying &amp; Cost Estimation</vt:lpstr>
      <vt:lpstr>LASHARI CONSTRUCTION ESTIMATORS</vt:lpstr>
      <vt:lpstr>Objective</vt:lpstr>
      <vt:lpstr>Project Contents</vt:lpstr>
      <vt:lpstr>Plan view of the house to be built</vt:lpstr>
      <vt:lpstr>Project details</vt:lpstr>
      <vt:lpstr>Calculated items</vt:lpstr>
      <vt:lpstr>Assumptions</vt:lpstr>
      <vt:lpstr>Steel   </vt:lpstr>
      <vt:lpstr>Steel in Roof Slab</vt:lpstr>
      <vt:lpstr>Steel in Beams</vt:lpstr>
      <vt:lpstr>Steel in Lintels</vt:lpstr>
      <vt:lpstr>Steel in Columns </vt:lpstr>
      <vt:lpstr>Steel in Foundations</vt:lpstr>
      <vt:lpstr>Steel Schedule</vt:lpstr>
      <vt:lpstr>Excavation</vt:lpstr>
      <vt:lpstr>Raft Foundation  </vt:lpstr>
      <vt:lpstr>Interior Wall Foundation </vt:lpstr>
      <vt:lpstr>PowerPoint Presentation</vt:lpstr>
      <vt:lpstr>Masonry</vt:lpstr>
      <vt:lpstr>Summary of Brickwork</vt:lpstr>
      <vt:lpstr>Plaster</vt:lpstr>
      <vt:lpstr>Plastering - Summary Sheet</vt:lpstr>
      <vt:lpstr>Skirting</vt:lpstr>
      <vt:lpstr>Flooring</vt:lpstr>
      <vt:lpstr> Roofing </vt:lpstr>
      <vt:lpstr>Doors and Windows </vt:lpstr>
      <vt:lpstr>Concrete</vt:lpstr>
      <vt:lpstr>Damp proof course (DPC)</vt:lpstr>
      <vt:lpstr>Paint</vt:lpstr>
      <vt:lpstr>BOQ CONTINUED…</vt:lpstr>
      <vt:lpstr>BOQ CONTINUED…</vt:lpstr>
      <vt:lpstr>BOQ CONTINUED…</vt:lpstr>
      <vt:lpstr>Bill of Quantities</vt:lpstr>
      <vt:lpstr>BOQ CONTINUED…</vt:lpstr>
      <vt:lpstr>Final Project Summary</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2018-12-10T15:06:52Z</dcterms:created>
  <dcterms:modified xsi:type="dcterms:W3CDTF">2018-12-13T20:41:52Z</dcterms:modified>
</cp:coreProperties>
</file>